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药物对数量</c:v>
                </c:pt>
              </c:strCache>
            </c:strRef>
          </c:tx>
          <c:spPr>
            <a:solidFill>
              <a:srgbClr val="087E80"/>
            </a:solidFill>
            <a:effectLst/>
          </c:spPr>
          <c:invertIfNegative val="0"/>
          <c:dLbls>
            <c:numFmt formatCode="#,##0" sourceLinked="0"/>
            <c:txPr>
              <a:bodyPr/>
              <a:lstStyle/>
              <a:p>
                <a:pPr>
                  <a:defRPr b="0" i="0" strike="noStrike" sz="1200" u="none">
                    <a:solidFill>
                      <a:srgbClr val="203038"/>
                    </a:solidFill>
                    <a:latin typeface="Arial"/>
                  </a:defRPr>
                </a:pPr>
              </a:p>
            </c:txPr>
            <c:showLegendKey val="0"/>
            <c:showVal val="1"/>
            <c:showCatName val="0"/>
            <c:showSerName val="0"/>
            <c:showPercent val="0"/>
            <c:showBubbleSize val="0"/>
            <c:showLeaderLines val="0"/>
          </c:dLbls>
          <c:cat>
            <c:multiLvlStrRef>
              <c:f>Sheet1!$A$2:$A$5</c:f>
              <c:multiLvlStrCache>
                <c:ptCount val="4"/>
                <c:lvl>
                  <c:pt idx="0">
                    <c:v>Moderate</c:v>
                  </c:pt>
                  <c:pt idx="1">
                    <c:v>Major</c:v>
                  </c:pt>
                  <c:pt idx="2">
                    <c:v>Unknown</c:v>
                  </c:pt>
                  <c:pt idx="3">
                    <c:v>Minor</c:v>
                  </c:pt>
                </c:lvl>
              </c:multiLvlStrCache>
            </c:multiLvlStrRef>
          </c:cat>
          <c:val>
            <c:numRef>
              <c:f>Sheet1!$B$2:$B$5</c:f>
              <c:numCache>
                <c:formatCode>General</c:formatCode>
                <c:ptCount val="4"/>
                <c:pt idx="0">
                  <c:v>189439</c:v>
                </c:pt>
                <c:pt idx="1">
                  <c:v>50983</c:v>
                </c:pt>
                <c:pt idx="2">
                  <c:v>42415</c:v>
                </c:pt>
                <c:pt idx="3">
                  <c:v>12347</c:v>
                </c:pt>
              </c:numCache>
            </c:numRef>
          </c:val>
        </c:ser>
        <c:dLbls>
          <c:numFmt formatCode="#,##0" sourceLinked="0"/>
          <c:txPr>
            <a:bodyPr/>
            <a:lstStyle/>
            <a:p>
              <a:pPr>
                <a:defRPr b="0" i="0" strike="noStrike" sz="1200" u="none">
                  <a:solidFill>
                    <a:srgbClr val="20303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000000"/>
                </a:solidFill>
                <a:latin typeface="Microsoft YaHei"/>
              </a:defRPr>
            </a:pPr>
            <a:endParaRPr lang="en-US"/>
          </a:p>
        </c:txPr>
        <c:crossAx val="2094734552"/>
        <c:crosses val="autoZero"/>
        <c:auto val="1"/>
        <c:lblAlgn val="ctr"/>
        <c:noMultiLvlLbl val="1"/>
      </c:catAx>
      <c:valAx>
        <c:axId val="2094734552"/>
        <c:scaling>
          <c:orientation val="minMax"/>
          <c:max val="225000"/>
          <c:min val="0"/>
        </c:scaling>
        <c:delete val="0"/>
        <c:axPos val="b"/>
        <c:majorGridlines>
          <c:spPr>
            <a:ln w="12700" cap="flat">
              <a:solidFill>
                <a:srgbClr val="DDE5E8"/>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majorUnit val="10000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现用 source-group 检索策略</c:v>
                </c:pt>
              </c:strCache>
            </c:strRef>
          </c:tx>
          <c:spPr>
            <a:solidFill>
              <a:srgbClr val="A8B5BD"/>
            </a:solidFill>
            <a:effectLst/>
          </c:spPr>
          <c:invertIfNegative val="0"/>
          <c:dLbls>
            <c:numFmt formatCode="0.00&quot;%&quot;" sourceLinked="0"/>
            <c:txPr>
              <a:bodyPr/>
              <a:lstStyle/>
              <a:p>
                <a:pPr>
                  <a:defRPr b="0" i="0" strike="noStrike" sz="1200" u="none">
                    <a:solidFill>
                      <a:srgbClr val="203038"/>
                    </a:solidFill>
                    <a:latin typeface="Arial"/>
                  </a:defRPr>
                </a:pPr>
              </a:p>
            </c:txPr>
            <c:showLegendKey val="0"/>
            <c:showVal val="1"/>
            <c:showCatName val="0"/>
            <c:showSerName val="0"/>
            <c:showPercent val="0"/>
            <c:showBubbleSize val="0"/>
            <c:showLeaderLines val="0"/>
          </c:dLbls>
          <c:dPt>
            <c:idx val="0"/>
            <c:invertIfNegative val="0"/>
            <c:bubble3D val="0"/>
            <c:spPr>
              <a:solidFill>
                <a:srgbClr val="A8B5BD"/>
              </a:solidFill>
              <a:effectLst/>
            </c:spPr>
          </c:dPt>
          <c:dPt>
            <c:idx val="1"/>
            <c:invertIfNegative val="0"/>
            <c:bubble3D val="0"/>
            <c:spPr>
              <a:solidFill>
                <a:srgbClr val="087E80"/>
              </a:solidFill>
              <a:effectLst/>
            </c:spPr>
          </c:dPt>
          <c:dPt>
            <c:idx val="2"/>
            <c:invertIfNegative val="0"/>
            <c:bubble3D val="0"/>
            <c:spPr>
              <a:solidFill>
                <a:srgbClr val="A8B5BD"/>
              </a:solidFill>
              <a:effectLst/>
            </c:spPr>
          </c:dPt>
          <c:cat>
            <c:multiLvlStrRef>
              <c:f>Sheet1!$A$2:$A$4</c:f>
              <c:multiLvlStrCache>
                <c:ptCount val="3"/>
                <c:lvl>
                  <c:pt idx="0">
                    <c:v>Recall@8</c:v>
                  </c:pt>
                  <c:pt idx="1">
                    <c:v>MRR@8</c:v>
                  </c:pt>
                  <c:pt idx="2">
                    <c:v>nDCG@8</c:v>
                  </c:pt>
                </c:lvl>
              </c:multiLvlStrCache>
            </c:multiLvlStrRef>
          </c:cat>
          <c:val>
            <c:numRef>
              <c:f>Sheet1!$B$2:$B$4</c:f>
              <c:numCache>
                <c:formatCode>General</c:formatCode>
                <c:ptCount val="3"/>
                <c:pt idx="0">
                  <c:v>98.28</c:v>
                </c:pt>
                <c:pt idx="1">
                  <c:v>95.69</c:v>
                </c:pt>
                <c:pt idx="2">
                  <c:v>91.45</c:v>
                </c:pt>
              </c:numCache>
            </c:numRef>
          </c:val>
        </c:ser>
        <c:dLbls>
          <c:numFmt formatCode="0.00&quot;%&quot;" sourceLinked="0"/>
          <c:txPr>
            <a:bodyPr/>
            <a:lstStyle/>
            <a:p>
              <a:pPr>
                <a:defRPr b="0" i="0" strike="noStrike" sz="1200" u="none">
                  <a:solidFill>
                    <a:srgbClr val="20303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12700" cap="flat">
              <a:solidFill>
                <a:srgbClr val="DDE5E8"/>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000000"/>
                </a:solidFill>
                <a:latin typeface="Arial"/>
              </a:defRPr>
            </a:pPr>
            <a:endParaRPr lang="en-US"/>
          </a:p>
        </c:txPr>
        <c:crossAx val="2094734554"/>
        <c:crosses val="autoZero"/>
        <c:crossBetween val="between"/>
        <c:majorUnit val="25"/>
      </c:valAx>
      <c:spPr>
        <a:noFill/>
        <a:ln>
          <a:noFill/>
        </a:ln>
        <a:effectLst/>
      </c:spPr>
    </c:plotArea>
    <c:legend>
      <c:legendPos val="b"/>
      <c:overlay val="0"/>
      <c:txPr>
        <a:bodyPr/>
        <a:lstStyle/>
        <a:p>
          <a:pPr>
            <a:defRPr sz="1000">
              <a:latin typeface="Microsoft YaHei"/>
              <a:cs typeface="Microsoft YaHe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我的主要工作是临床 AI 助手、知识库检索与 DDInter 医嘱核查的后端和算法集成。四项工作流为病历草稿、问诊摘要、相似病历和医嘱核查，现有网页没有独立的知识库问答入口。本报告不把后台预留能力当作医生端已交付功能。2026-09-28本地验证记录：17份文档、848片段、1024维向量。295184为本地DDInter固定快照的唯一药物对数量，不是临床准确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架构上分离问诊文本生成、知识检索与药物安全判断。草稿和摘要使用符合准入条件的原始模拟问诊，不声称已接入指南增强生成。相似病历调用嵌入模型，并返回模拟病例和相关指南片段，没有调用聊天模型生成临床比较。医嘱核查使用结构化规则与DDInter，不通过大模型猜测相互作用。向量存于MariaDB，由应用层计算相似度，没有部署专用向量数据库。当前模型标识为doubao-seed-2-0-lite-260428与doubao-embedding-vision-251215。登录注册、患者管理和图文问诊业务界面为团队协作，不全部计为我的独立成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病历草稿和摘要仅针对三份逐项匹配服务器固定资料的模拟问诊开放模型生成。不能把任意浏览器提交的真实患者文本发送给模型。引用和数值校验失败或服务异常时，退回已有记录整理。草稿需要医生补充诊断与复核才能提交。相似病历仅检索标记为synthetic的Synthea记录，每个文档保留最高分的代表片段；它不是医院真实病例或临床推荐依据。接口见backend/src/routes/a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本页仅报告现有医生端的知识库检索，不将其称为完整的检索增强生成问答。Similar Records使用rankSimilarCases按余弦相似度排序，每份模拟病例保留最高分片段，最多5个病例；relatedGuidance先筛选中英文词项匹配的指南，再按余弦相似度排序并按文档去重，最多2条指南。查询向量调用嵌入服务，结果不经聊天模型生成。知识库2026-09-28本地统计：项目资料3份272片段、指南类资料6份497片段、模拟病例8份79片段，共17份848片段。五份新资料为国家卫健委2023高血压饮食指导、2023糖尿病饮食指导、2024慢阻肺健康服务规范、WHO2021高血压药物治疗指南和ICOPE第二版；CDC STEADI为原有资料。指南类资料并非全部都是完整诊疗指南，也不能补齐药学规则。新增PDF按物理页分块，保留短标题，单块上限3200字符；扫描件文本不足不入库。WHO资料限非商业许可，卫健委资料不宣称开放再分发授权。数据与来源见backend/docs/clinical-guidance-sources.md及dataset-catalog.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量来自当前本地DDInter索引统计，不是官网最新规模或自主标注：2283种药物、295184个唯一药物对、8234机制。风险等级数量为Moderate189439、Major50983、Unknown42415、Minor12347。标准化药名映射唯一ID，使用无方向药物对Map查询；A+B与B+A一致，歧义药名不猜测。当前只接入药物对与机制，不使用打包项目的疾病表和推断链。青霉素与阿莫西林是有限来源规则，不是全药物分类器。剂量规则接口已存在，但缺少经审核的中国产品规则，完整Beers没有实现。未发现记录不代表安全。DDInter使用条款https://ddinter.scbdd.com/terms/；来源打包项目https://github.com/pbiondich/openmrs-ddi-knowledge-base，非商业课程使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2026-09-28已记录的本地验证见backend/docs/clinical-guidance-sources.md。沿用30条旧题集，其中29条有相关来源标注；source-group Recall@8为98.275862%、MRR@8为95.689655%、nDCG@8为91.447512%，P50/P95为429/815毫秒，失败案例0、范围污染0。Recall衡量相关来源召回，MRR衡量首个相关结果名次，nDCG衡量排序质量。这是后台通用检索的评测，不是Similar Records页面全部效果的专门基准，也不是临床结果指标。题集主要覆盖项目要求、跌倒与模拟病例，不能推及全部新增指南主题。5/5新主题冒烟测试验证预期文档进入前五和Related Guidance命中，并非答案正确率。69项后端自动化测试为本次已完成记录。延迟只是一次本地观测，不保证部署后性能。本页取消跨语料对比图，不宣称新指南使临床准确率提高。个人成果为四项辅助工作流、知识入库与检索溯源、DDInter结构化风险查询；完整交叉过敏、肾功能产品剂量与Beers规则仍需补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87E80"/>
          </a:solidFill>
          <a:ln w="7620">
            <a:solidFill>
              <a:srgbClr val="087E80"/>
            </a:solidFill>
            <a:prstDash val="solid"/>
          </a:ln>
        </p:spPr>
      </p:sp>
      <p:sp>
        <p:nvSpPr>
          <p:cNvPr id="3" name="Text 1"/>
          <p:cNvSpPr/>
          <p:nvPr/>
        </p:nvSpPr>
        <p:spPr>
          <a:xfrm>
            <a:off x="502920" y="301752"/>
            <a:ext cx="11155680" cy="274320"/>
          </a:xfrm>
          <a:prstGeom prst="rect">
            <a:avLst/>
          </a:prstGeom>
          <a:noFill/>
          <a:ln/>
        </p:spPr>
        <p:txBody>
          <a:bodyPr wrap="square" lIns="0" tIns="0" rIns="0" bIns="0" rtlCol="0" anchor="ctr">
            <a:normAutofit/>
          </a:bodyPr>
          <a:lstStyle/>
          <a:p>
            <a:pPr indent="0" marL="0">
              <a:buNone/>
            </a:pPr>
            <a:r>
              <a:rPr lang="en-US" sz="1100" b="1" dirty="0">
                <a:solidFill>
                  <a:srgbClr val="087E80"/>
                </a:solidFill>
                <a:latin typeface="Microsoft YaHei" pitchFamily="34" charset="0"/>
                <a:ea typeface="Microsoft YaHei" pitchFamily="34" charset="-122"/>
                <a:cs typeface="Microsoft YaHei" pitchFamily="34" charset="-120"/>
              </a:rPr>
              <a:t>个人工作概览</a:t>
            </a:r>
            <a:endParaRPr lang="en-US" sz="1100" dirty="0"/>
          </a:p>
        </p:txBody>
      </p:sp>
      <p:sp>
        <p:nvSpPr>
          <p:cNvPr id="4" name="Shape 2"/>
          <p:cNvSpPr/>
          <p:nvPr/>
        </p:nvSpPr>
        <p:spPr>
          <a:xfrm>
            <a:off x="502920" y="6419088"/>
            <a:ext cx="11155680" cy="0"/>
          </a:xfrm>
          <a:prstGeom prst="line">
            <a:avLst/>
          </a:prstGeom>
          <a:noFill/>
          <a:ln w="12700">
            <a:solidFill>
              <a:srgbClr val="DDE5E8"/>
            </a:solidFill>
            <a:prstDash val="solid"/>
          </a:ln>
        </p:spPr>
      </p:sp>
      <p:sp>
        <p:nvSpPr>
          <p:cNvPr id="5" name="Text 3"/>
          <p:cNvSpPr/>
          <p:nvPr/>
        </p:nvSpPr>
        <p:spPr>
          <a:xfrm>
            <a:off x="502920" y="6510528"/>
            <a:ext cx="9875520" cy="182880"/>
          </a:xfrm>
          <a:prstGeom prst="rect">
            <a:avLst/>
          </a:prstGeom>
          <a:noFill/>
          <a:ln/>
        </p:spPr>
        <p:txBody>
          <a:bodyPr wrap="square" lIns="0" tIns="0" rIns="0" bIns="0" rtlCol="0" anchor="ctr">
            <a:normAutofit/>
          </a:bodyPr>
          <a:lstStyle/>
          <a:p>
            <a:pPr indent="0" marL="0">
              <a:buNone/>
            </a:pPr>
            <a:r>
              <a:rPr lang="en-US" sz="900" dirty="0">
                <a:solidFill>
                  <a:srgbClr val="62727A"/>
                </a:solidFill>
                <a:latin typeface="Microsoft YaHei" pitchFamily="34" charset="0"/>
                <a:ea typeface="Microsoft YaHei" pitchFamily="34" charset="-122"/>
                <a:cs typeface="Microsoft YaHei" pitchFamily="34" charset="-120"/>
              </a:rPr>
              <a:t>个人工作汇报  /  临床 AI 与知识工程  /  非商业课程设计</a:t>
            </a:r>
            <a:endParaRPr lang="en-US" sz="900" dirty="0"/>
          </a:p>
        </p:txBody>
      </p:sp>
      <p:sp>
        <p:nvSpPr>
          <p:cNvPr id="6" name="Text 4"/>
          <p:cNvSpPr/>
          <p:nvPr/>
        </p:nvSpPr>
        <p:spPr>
          <a:xfrm>
            <a:off x="10652760" y="6483096"/>
            <a:ext cx="1005840" cy="228600"/>
          </a:xfrm>
          <a:prstGeom prst="rect">
            <a:avLst/>
          </a:prstGeom>
          <a:noFill/>
          <a:ln/>
        </p:spPr>
        <p:txBody>
          <a:bodyPr wrap="square" lIns="0" tIns="0" rIns="0" bIns="0" rtlCol="0" anchor="ctr">
            <a:normAutofit/>
          </a:bodyPr>
          <a:lstStyle/>
          <a:p>
            <a:pPr algn="r" indent="0" marL="0">
              <a:buNone/>
            </a:pPr>
            <a:r>
              <a:rPr lang="en-US" sz="1000" dirty="0">
                <a:solidFill>
                  <a:srgbClr val="62727A"/>
                </a:solidFill>
                <a:latin typeface="Microsoft YaHei" pitchFamily="34" charset="0"/>
                <a:ea typeface="Microsoft YaHei" pitchFamily="34" charset="-122"/>
                <a:cs typeface="Microsoft YaHei" pitchFamily="34" charset="-120"/>
              </a:rPr>
              <a:t>01 / 06</a:t>
            </a:r>
            <a:endParaRPr lang="en-US" sz="1000" dirty="0"/>
          </a:p>
        </p:txBody>
      </p:sp>
      <p:sp>
        <p:nvSpPr>
          <p:cNvPr id="7" name="Text 5"/>
          <p:cNvSpPr/>
          <p:nvPr/>
        </p:nvSpPr>
        <p:spPr>
          <a:xfrm>
            <a:off x="594360" y="941832"/>
            <a:ext cx="10881360" cy="420624"/>
          </a:xfrm>
          <a:prstGeom prst="rect">
            <a:avLst/>
          </a:prstGeom>
          <a:noFill/>
          <a:ln/>
        </p:spPr>
        <p:txBody>
          <a:bodyPr wrap="square" lIns="0" tIns="0" rIns="0" bIns="0" rtlCol="0" anchor="ctr">
            <a:normAutofit/>
          </a:bodyPr>
          <a:lstStyle/>
          <a:p>
            <a:pPr indent="0" marL="0">
              <a:buNone/>
            </a:pPr>
            <a:r>
              <a:rPr lang="en-US" sz="1800" dirty="0">
                <a:solidFill>
                  <a:srgbClr val="62727A"/>
                </a:solidFill>
                <a:latin typeface="Microsoft YaHei" pitchFamily="34" charset="0"/>
                <a:ea typeface="Microsoft YaHei" pitchFamily="34" charset="-122"/>
                <a:cs typeface="Microsoft YaHei" pitchFamily="34" charset="-120"/>
              </a:rPr>
              <a:t>智慧医养大数据公共服务平台医生服务系统</a:t>
            </a:r>
            <a:endParaRPr lang="en-US" sz="1800" dirty="0"/>
          </a:p>
        </p:txBody>
      </p:sp>
      <p:sp>
        <p:nvSpPr>
          <p:cNvPr id="8" name="Text 6"/>
          <p:cNvSpPr/>
          <p:nvPr/>
        </p:nvSpPr>
        <p:spPr>
          <a:xfrm>
            <a:off x="594360" y="1746504"/>
            <a:ext cx="10881360" cy="1554480"/>
          </a:xfrm>
          <a:prstGeom prst="rect">
            <a:avLst/>
          </a:prstGeom>
          <a:noFill/>
          <a:ln/>
        </p:spPr>
        <p:txBody>
          <a:bodyPr wrap="square" lIns="0" tIns="0" rIns="0" bIns="0" rtlCol="0" anchor="ctr">
            <a:normAutofit/>
          </a:bodyPr>
          <a:lstStyle/>
          <a:p>
            <a:pPr indent="0" marL="0">
              <a:buNone/>
            </a:pPr>
            <a:r>
              <a:rPr lang="en-US" sz="3900" b="1" dirty="0">
                <a:solidFill>
                  <a:srgbClr val="203038"/>
                </a:solidFill>
                <a:latin typeface="Microsoft YaHei" pitchFamily="34" charset="0"/>
                <a:ea typeface="Microsoft YaHei" pitchFamily="34" charset="-122"/>
                <a:cs typeface="Microsoft YaHei" pitchFamily="34" charset="-120"/>
              </a:rPr>
              <a:t>临床 AI 助手</a:t>
            </a:r>
            <a:endParaRPr lang="en-US" sz="3900" dirty="0"/>
          </a:p>
          <a:p>
            <a:pPr indent="0" marL="0">
              <a:buNone/>
            </a:pPr>
            <a:r>
              <a:rPr lang="en-US" sz="3900" b="1" dirty="0">
                <a:solidFill>
                  <a:srgbClr val="203038"/>
                </a:solidFill>
                <a:latin typeface="Microsoft YaHei" pitchFamily="34" charset="0"/>
                <a:ea typeface="Microsoft YaHei" pitchFamily="34" charset="-122"/>
                <a:cs typeface="Microsoft YaHei" pitchFamily="34" charset="-120"/>
              </a:rPr>
              <a:t>个人工作汇报</a:t>
            </a:r>
            <a:endParaRPr lang="en-US" sz="3900" dirty="0"/>
          </a:p>
        </p:txBody>
      </p:sp>
      <p:sp>
        <p:nvSpPr>
          <p:cNvPr id="9" name="Text 7"/>
          <p:cNvSpPr/>
          <p:nvPr/>
        </p:nvSpPr>
        <p:spPr>
          <a:xfrm>
            <a:off x="621792" y="3575304"/>
            <a:ext cx="10789920" cy="402336"/>
          </a:xfrm>
          <a:prstGeom prst="rect">
            <a:avLst/>
          </a:prstGeom>
          <a:noFill/>
          <a:ln/>
        </p:spPr>
        <p:txBody>
          <a:bodyPr wrap="square" lIns="0" tIns="0" rIns="0" bIns="0" rtlCol="0" anchor="ctr">
            <a:normAutofit/>
          </a:bodyPr>
          <a:lstStyle/>
          <a:p>
            <a:pPr indent="0" marL="0">
              <a:buNone/>
            </a:pPr>
            <a:r>
              <a:rPr lang="en-US" sz="2000" dirty="0">
                <a:solidFill>
                  <a:srgbClr val="087E80"/>
                </a:solidFill>
                <a:latin typeface="Microsoft YaHei" pitchFamily="34" charset="0"/>
                <a:ea typeface="Microsoft YaHei" pitchFamily="34" charset="-122"/>
                <a:cs typeface="Microsoft YaHei" pitchFamily="34" charset="-120"/>
              </a:rPr>
              <a:t>知识库检索  /  DDInter 医嘱核查  /  后端与模型集成</a:t>
            </a:r>
            <a:endParaRPr lang="en-US" sz="2000" dirty="0"/>
          </a:p>
        </p:txBody>
      </p:sp>
      <p:sp>
        <p:nvSpPr>
          <p:cNvPr id="10" name="Shape 8"/>
          <p:cNvSpPr/>
          <p:nvPr/>
        </p:nvSpPr>
        <p:spPr>
          <a:xfrm>
            <a:off x="594360" y="4379976"/>
            <a:ext cx="10927080" cy="0"/>
          </a:xfrm>
          <a:prstGeom prst="line">
            <a:avLst/>
          </a:prstGeom>
          <a:noFill/>
          <a:ln w="12700">
            <a:solidFill>
              <a:srgbClr val="DDE5E8"/>
            </a:solidFill>
            <a:prstDash val="solid"/>
          </a:ln>
        </p:spPr>
      </p:sp>
      <p:sp>
        <p:nvSpPr>
          <p:cNvPr id="11" name="Text 9"/>
          <p:cNvSpPr/>
          <p:nvPr/>
        </p:nvSpPr>
        <p:spPr>
          <a:xfrm>
            <a:off x="621792" y="4672584"/>
            <a:ext cx="2651760" cy="566928"/>
          </a:xfrm>
          <a:prstGeom prst="rect">
            <a:avLst/>
          </a:prstGeom>
          <a:noFill/>
          <a:ln/>
        </p:spPr>
        <p:txBody>
          <a:bodyPr wrap="square" lIns="0" tIns="0" rIns="0" bIns="0" rtlCol="0" anchor="ctr">
            <a:normAutofit/>
          </a:bodyPr>
          <a:lstStyle/>
          <a:p>
            <a:pPr indent="0" marL="0">
              <a:buNone/>
            </a:pPr>
            <a:r>
              <a:rPr lang="en-US" sz="3300" b="1" dirty="0">
                <a:solidFill>
                  <a:srgbClr val="087E80"/>
                </a:solidFill>
                <a:latin typeface="Microsoft YaHei" pitchFamily="34" charset="0"/>
                <a:ea typeface="Microsoft YaHei" pitchFamily="34" charset="-122"/>
                <a:cs typeface="Microsoft YaHei" pitchFamily="34" charset="-120"/>
              </a:rPr>
              <a:t>4</a:t>
            </a:r>
            <a:endParaRPr lang="en-US" sz="3300" dirty="0"/>
          </a:p>
        </p:txBody>
      </p:sp>
      <p:sp>
        <p:nvSpPr>
          <p:cNvPr id="12" name="Text 10"/>
          <p:cNvSpPr/>
          <p:nvPr/>
        </p:nvSpPr>
        <p:spPr>
          <a:xfrm>
            <a:off x="621792" y="5312664"/>
            <a:ext cx="2651760" cy="384048"/>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临床 AI 工作流</a:t>
            </a:r>
            <a:endParaRPr lang="en-US" sz="1400" dirty="0"/>
          </a:p>
        </p:txBody>
      </p:sp>
      <p:sp>
        <p:nvSpPr>
          <p:cNvPr id="13" name="Text 11"/>
          <p:cNvSpPr/>
          <p:nvPr/>
        </p:nvSpPr>
        <p:spPr>
          <a:xfrm>
            <a:off x="3383280" y="4672584"/>
            <a:ext cx="2651760" cy="566928"/>
          </a:xfrm>
          <a:prstGeom prst="rect">
            <a:avLst/>
          </a:prstGeom>
          <a:noFill/>
          <a:ln/>
        </p:spPr>
        <p:txBody>
          <a:bodyPr wrap="square" lIns="0" tIns="0" rIns="0" bIns="0" rtlCol="0" anchor="ctr">
            <a:normAutofit/>
          </a:bodyPr>
          <a:lstStyle/>
          <a:p>
            <a:pPr indent="0" marL="0">
              <a:buNone/>
            </a:pPr>
            <a:r>
              <a:rPr lang="en-US" sz="3300" b="1" dirty="0">
                <a:solidFill>
                  <a:srgbClr val="487B9C"/>
                </a:solidFill>
                <a:latin typeface="Microsoft YaHei" pitchFamily="34" charset="0"/>
                <a:ea typeface="Microsoft YaHei" pitchFamily="34" charset="-122"/>
                <a:cs typeface="Microsoft YaHei" pitchFamily="34" charset="-120"/>
              </a:rPr>
              <a:t>17</a:t>
            </a:r>
            <a:endParaRPr lang="en-US" sz="3300" dirty="0"/>
          </a:p>
        </p:txBody>
      </p:sp>
      <p:sp>
        <p:nvSpPr>
          <p:cNvPr id="14" name="Text 12"/>
          <p:cNvSpPr/>
          <p:nvPr/>
        </p:nvSpPr>
        <p:spPr>
          <a:xfrm>
            <a:off x="3383280" y="5312664"/>
            <a:ext cx="2651760" cy="384048"/>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已入库知识文档</a:t>
            </a:r>
            <a:endParaRPr lang="en-US" sz="1400" dirty="0"/>
          </a:p>
        </p:txBody>
      </p:sp>
      <p:sp>
        <p:nvSpPr>
          <p:cNvPr id="15" name="Text 13"/>
          <p:cNvSpPr/>
          <p:nvPr/>
        </p:nvSpPr>
        <p:spPr>
          <a:xfrm>
            <a:off x="6153912" y="4672584"/>
            <a:ext cx="2651760" cy="566928"/>
          </a:xfrm>
          <a:prstGeom prst="rect">
            <a:avLst/>
          </a:prstGeom>
          <a:noFill/>
          <a:ln/>
        </p:spPr>
        <p:txBody>
          <a:bodyPr wrap="square" lIns="0" tIns="0" rIns="0" bIns="0" rtlCol="0" anchor="ctr">
            <a:normAutofit/>
          </a:bodyPr>
          <a:lstStyle/>
          <a:p>
            <a:pPr indent="0" marL="0">
              <a:buNone/>
            </a:pPr>
            <a:r>
              <a:rPr lang="en-US" sz="3300" b="1" dirty="0">
                <a:solidFill>
                  <a:srgbClr val="B17A12"/>
                </a:solidFill>
                <a:latin typeface="Microsoft YaHei" pitchFamily="34" charset="0"/>
                <a:ea typeface="Microsoft YaHei" pitchFamily="34" charset="-122"/>
                <a:cs typeface="Microsoft YaHei" pitchFamily="34" charset="-120"/>
              </a:rPr>
              <a:t>1024</a:t>
            </a:r>
            <a:endParaRPr lang="en-US" sz="3300" dirty="0"/>
          </a:p>
        </p:txBody>
      </p:sp>
      <p:sp>
        <p:nvSpPr>
          <p:cNvPr id="16" name="Text 14"/>
          <p:cNvSpPr/>
          <p:nvPr/>
        </p:nvSpPr>
        <p:spPr>
          <a:xfrm>
            <a:off x="6153912" y="5312664"/>
            <a:ext cx="2651760" cy="384048"/>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文本向量维度</a:t>
            </a:r>
            <a:endParaRPr lang="en-US" sz="1400" dirty="0"/>
          </a:p>
        </p:txBody>
      </p:sp>
      <p:sp>
        <p:nvSpPr>
          <p:cNvPr id="17" name="Text 15"/>
          <p:cNvSpPr/>
          <p:nvPr/>
        </p:nvSpPr>
        <p:spPr>
          <a:xfrm>
            <a:off x="8915400" y="4672584"/>
            <a:ext cx="2743200" cy="566928"/>
          </a:xfrm>
          <a:prstGeom prst="rect">
            <a:avLst/>
          </a:prstGeom>
          <a:noFill/>
          <a:ln/>
        </p:spPr>
        <p:txBody>
          <a:bodyPr wrap="square" lIns="0" tIns="0" rIns="0" bIns="0" rtlCol="0" anchor="ctr">
            <a:normAutofit/>
          </a:bodyPr>
          <a:lstStyle/>
          <a:p>
            <a:pPr indent="0" marL="0">
              <a:buNone/>
            </a:pPr>
            <a:r>
              <a:rPr lang="en-US" sz="3300" b="1" dirty="0">
                <a:solidFill>
                  <a:srgbClr val="087E80"/>
                </a:solidFill>
                <a:latin typeface="Microsoft YaHei" pitchFamily="34" charset="0"/>
                <a:ea typeface="Microsoft YaHei" pitchFamily="34" charset="-122"/>
                <a:cs typeface="Microsoft YaHei" pitchFamily="34" charset="-120"/>
              </a:rPr>
              <a:t>295,184</a:t>
            </a:r>
            <a:endParaRPr lang="en-US" sz="3300" dirty="0"/>
          </a:p>
        </p:txBody>
      </p:sp>
      <p:sp>
        <p:nvSpPr>
          <p:cNvPr id="18" name="Text 16"/>
          <p:cNvSpPr/>
          <p:nvPr/>
        </p:nvSpPr>
        <p:spPr>
          <a:xfrm>
            <a:off x="8915400" y="5312664"/>
            <a:ext cx="2743200" cy="384048"/>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DDInter 相互作用对</a:t>
            </a:r>
            <a:endParaRPr lang="en-US" sz="1400" dirty="0"/>
          </a:p>
        </p:txBody>
      </p:sp>
      <p:sp>
        <p:nvSpPr>
          <p:cNvPr id="19" name="Text 17"/>
          <p:cNvSpPr/>
          <p:nvPr/>
        </p:nvSpPr>
        <p:spPr>
          <a:xfrm>
            <a:off x="621792" y="5980176"/>
            <a:ext cx="10789920" cy="237744"/>
          </a:xfrm>
          <a:prstGeom prst="rect">
            <a:avLst/>
          </a:prstGeom>
          <a:noFill/>
          <a:ln/>
        </p:spPr>
        <p:txBody>
          <a:bodyPr wrap="square" lIns="0" tIns="0" rIns="0" bIns="0" rtlCol="0" anchor="ctr">
            <a:normAutofit/>
          </a:bodyPr>
          <a:lstStyle/>
          <a:p>
            <a:pPr indent="0" marL="0">
              <a:buNone/>
            </a:pPr>
            <a:r>
              <a:rPr lang="en-US" sz="1200" dirty="0">
                <a:solidFill>
                  <a:srgbClr val="62727A"/>
                </a:solidFill>
                <a:latin typeface="Microsoft YaHei" pitchFamily="34" charset="0"/>
                <a:ea typeface="Microsoft YaHei" pitchFamily="34" charset="-122"/>
                <a:cs typeface="Microsoft YaHei" pitchFamily="34" charset="-120"/>
              </a:rPr>
              <a:t>2026.09.28  |  仅统计个人负责范围，不将组员业务模块列为独立成果</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87E80"/>
          </a:solidFill>
          <a:ln w="7620">
            <a:solidFill>
              <a:srgbClr val="087E80"/>
            </a:solidFill>
            <a:prstDash val="solid"/>
          </a:ln>
        </p:spPr>
      </p:sp>
      <p:sp>
        <p:nvSpPr>
          <p:cNvPr id="3" name="Text 1"/>
          <p:cNvSpPr/>
          <p:nvPr/>
        </p:nvSpPr>
        <p:spPr>
          <a:xfrm>
            <a:off x="502920" y="301752"/>
            <a:ext cx="11155680" cy="274320"/>
          </a:xfrm>
          <a:prstGeom prst="rect">
            <a:avLst/>
          </a:prstGeom>
          <a:noFill/>
          <a:ln/>
        </p:spPr>
        <p:txBody>
          <a:bodyPr wrap="square" lIns="0" tIns="0" rIns="0" bIns="0" rtlCol="0" anchor="ctr">
            <a:normAutofit/>
          </a:bodyPr>
          <a:lstStyle/>
          <a:p>
            <a:pPr indent="0" marL="0">
              <a:buNone/>
            </a:pPr>
            <a:r>
              <a:rPr lang="en-US" sz="1100" b="1" dirty="0">
                <a:solidFill>
                  <a:srgbClr val="087E80"/>
                </a:solidFill>
                <a:latin typeface="Microsoft YaHei" pitchFamily="34" charset="0"/>
                <a:ea typeface="Microsoft YaHei" pitchFamily="34" charset="-122"/>
                <a:cs typeface="Microsoft YaHei" pitchFamily="34" charset="-120"/>
              </a:rPr>
              <a:t>01 / 职责与架构</a:t>
            </a:r>
            <a:endParaRPr lang="en-US" sz="1100" dirty="0"/>
          </a:p>
        </p:txBody>
      </p:sp>
      <p:sp>
        <p:nvSpPr>
          <p:cNvPr id="4" name="Text 2"/>
          <p:cNvSpPr/>
          <p:nvPr/>
        </p:nvSpPr>
        <p:spPr>
          <a:xfrm>
            <a:off x="502920" y="777240"/>
            <a:ext cx="11155680" cy="548640"/>
          </a:xfrm>
          <a:prstGeom prst="rect">
            <a:avLst/>
          </a:prstGeom>
          <a:noFill/>
          <a:ln/>
        </p:spPr>
        <p:txBody>
          <a:bodyPr wrap="square" lIns="0" tIns="0" rIns="0" bIns="0" rtlCol="0" anchor="ctr">
            <a:normAutofit/>
          </a:bodyPr>
          <a:lstStyle/>
          <a:p>
            <a:pPr indent="0" marL="0">
              <a:buNone/>
            </a:pPr>
            <a:r>
              <a:rPr lang="en-US" sz="2900" b="1" dirty="0">
                <a:solidFill>
                  <a:srgbClr val="203038"/>
                </a:solidFill>
                <a:latin typeface="Microsoft YaHei" pitchFamily="34" charset="0"/>
                <a:ea typeface="Microsoft YaHei" pitchFamily="34" charset="-122"/>
                <a:cs typeface="Microsoft YaHei" pitchFamily="34" charset="-120"/>
              </a:rPr>
              <a:t>个人职责：把模型与知识接入医生工作流</a:t>
            </a:r>
            <a:endParaRPr lang="en-US" sz="2900" dirty="0"/>
          </a:p>
        </p:txBody>
      </p:sp>
      <p:sp>
        <p:nvSpPr>
          <p:cNvPr id="5" name="Text 3"/>
          <p:cNvSpPr/>
          <p:nvPr/>
        </p:nvSpPr>
        <p:spPr>
          <a:xfrm>
            <a:off x="512064" y="1408176"/>
            <a:ext cx="11064240" cy="365760"/>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负责临床 AI 服务、知识数据、检索算法与接口衔接；复用团队身份和患者管理模块。</a:t>
            </a:r>
            <a:endParaRPr lang="en-US" sz="1400" dirty="0"/>
          </a:p>
        </p:txBody>
      </p:sp>
      <p:sp>
        <p:nvSpPr>
          <p:cNvPr id="6" name="Shape 4"/>
          <p:cNvSpPr/>
          <p:nvPr/>
        </p:nvSpPr>
        <p:spPr>
          <a:xfrm>
            <a:off x="502920" y="6419088"/>
            <a:ext cx="11155680" cy="0"/>
          </a:xfrm>
          <a:prstGeom prst="line">
            <a:avLst/>
          </a:prstGeom>
          <a:noFill/>
          <a:ln w="12700">
            <a:solidFill>
              <a:srgbClr val="DDE5E8"/>
            </a:solidFill>
            <a:prstDash val="solid"/>
          </a:ln>
        </p:spPr>
      </p:sp>
      <p:sp>
        <p:nvSpPr>
          <p:cNvPr id="7" name="Text 5"/>
          <p:cNvSpPr/>
          <p:nvPr/>
        </p:nvSpPr>
        <p:spPr>
          <a:xfrm>
            <a:off x="502920" y="6510528"/>
            <a:ext cx="9875520" cy="182880"/>
          </a:xfrm>
          <a:prstGeom prst="rect">
            <a:avLst/>
          </a:prstGeom>
          <a:noFill/>
          <a:ln/>
        </p:spPr>
        <p:txBody>
          <a:bodyPr wrap="square" lIns="0" tIns="0" rIns="0" bIns="0" rtlCol="0" anchor="ctr">
            <a:normAutofit/>
          </a:bodyPr>
          <a:lstStyle/>
          <a:p>
            <a:pPr indent="0" marL="0">
              <a:buNone/>
            </a:pPr>
            <a:r>
              <a:rPr lang="en-US" sz="900" dirty="0">
                <a:solidFill>
                  <a:srgbClr val="62727A"/>
                </a:solidFill>
                <a:latin typeface="Microsoft YaHei" pitchFamily="34" charset="0"/>
                <a:ea typeface="Microsoft YaHei" pitchFamily="34" charset="-122"/>
                <a:cs typeface="Microsoft YaHei" pitchFamily="34" charset="-120"/>
              </a:rPr>
              <a:t>个人工作汇报  /  临床 AI 与知识工程  /  非商业课程设计</a:t>
            </a:r>
            <a:endParaRPr lang="en-US" sz="900" dirty="0"/>
          </a:p>
        </p:txBody>
      </p:sp>
      <p:sp>
        <p:nvSpPr>
          <p:cNvPr id="8" name="Text 6"/>
          <p:cNvSpPr/>
          <p:nvPr/>
        </p:nvSpPr>
        <p:spPr>
          <a:xfrm>
            <a:off x="10652760" y="6483096"/>
            <a:ext cx="1005840" cy="228600"/>
          </a:xfrm>
          <a:prstGeom prst="rect">
            <a:avLst/>
          </a:prstGeom>
          <a:noFill/>
          <a:ln/>
        </p:spPr>
        <p:txBody>
          <a:bodyPr wrap="square" lIns="0" tIns="0" rIns="0" bIns="0" rtlCol="0" anchor="ctr">
            <a:normAutofit/>
          </a:bodyPr>
          <a:lstStyle/>
          <a:p>
            <a:pPr algn="r" indent="0" marL="0">
              <a:buNone/>
            </a:pPr>
            <a:r>
              <a:rPr lang="en-US" sz="1000" dirty="0">
                <a:solidFill>
                  <a:srgbClr val="62727A"/>
                </a:solidFill>
                <a:latin typeface="Microsoft YaHei" pitchFamily="34" charset="0"/>
                <a:ea typeface="Microsoft YaHei" pitchFamily="34" charset="-122"/>
                <a:cs typeface="Microsoft YaHei" pitchFamily="34" charset="-120"/>
              </a:rPr>
              <a:t>02 / 06</a:t>
            </a:r>
            <a:endParaRPr lang="en-US" sz="1000" dirty="0"/>
          </a:p>
        </p:txBody>
      </p:sp>
      <p:sp>
        <p:nvSpPr>
          <p:cNvPr id="9" name="Shape 7"/>
          <p:cNvSpPr/>
          <p:nvPr/>
        </p:nvSpPr>
        <p:spPr>
          <a:xfrm>
            <a:off x="502920" y="1938528"/>
            <a:ext cx="3685032" cy="2267712"/>
          </a:xfrm>
          <a:prstGeom prst="rect">
            <a:avLst/>
          </a:prstGeom>
          <a:solidFill>
            <a:srgbClr val="FFFFFF"/>
          </a:solidFill>
          <a:ln w="7620">
            <a:solidFill>
              <a:srgbClr val="DDE5E8"/>
            </a:solidFill>
            <a:prstDash val="solid"/>
          </a:ln>
        </p:spPr>
      </p:sp>
      <p:sp>
        <p:nvSpPr>
          <p:cNvPr id="10" name="Shape 8"/>
          <p:cNvSpPr/>
          <p:nvPr/>
        </p:nvSpPr>
        <p:spPr>
          <a:xfrm>
            <a:off x="502920" y="1938528"/>
            <a:ext cx="45720" cy="2267712"/>
          </a:xfrm>
          <a:prstGeom prst="rect">
            <a:avLst/>
          </a:prstGeom>
          <a:solidFill>
            <a:srgbClr val="087E80"/>
          </a:solidFill>
          <a:ln w="7620">
            <a:solidFill>
              <a:srgbClr val="087E80"/>
            </a:solidFill>
            <a:prstDash val="solid"/>
          </a:ln>
        </p:spPr>
      </p:sp>
      <p:sp>
        <p:nvSpPr>
          <p:cNvPr id="11" name="Text 9"/>
          <p:cNvSpPr/>
          <p:nvPr/>
        </p:nvSpPr>
        <p:spPr>
          <a:xfrm>
            <a:off x="704088" y="2103120"/>
            <a:ext cx="3282696" cy="365760"/>
          </a:xfrm>
          <a:prstGeom prst="rect">
            <a:avLst/>
          </a:prstGeom>
          <a:noFill/>
          <a:ln/>
        </p:spPr>
        <p:txBody>
          <a:bodyPr wrap="square" lIns="0" tIns="0" rIns="0" bIns="0" rtlCol="0" anchor="ctr">
            <a:normAutofit/>
          </a:bodyPr>
          <a:lstStyle/>
          <a:p>
            <a:pPr indent="0" marL="0">
              <a:buNone/>
            </a:pPr>
            <a:r>
              <a:rPr lang="en-US" sz="1900" b="1" dirty="0">
                <a:solidFill>
                  <a:srgbClr val="087E80"/>
                </a:solidFill>
                <a:latin typeface="Microsoft YaHei" pitchFamily="34" charset="0"/>
                <a:ea typeface="Microsoft YaHei" pitchFamily="34" charset="-122"/>
                <a:cs typeface="Microsoft YaHei" pitchFamily="34" charset="-120"/>
              </a:rPr>
              <a:t>我的工作范围</a:t>
            </a:r>
            <a:endParaRPr lang="en-US" sz="1900" dirty="0"/>
          </a:p>
        </p:txBody>
      </p:sp>
      <p:sp>
        <p:nvSpPr>
          <p:cNvPr id="12" name="Text 10"/>
          <p:cNvSpPr/>
          <p:nvPr/>
        </p:nvSpPr>
        <p:spPr>
          <a:xfrm>
            <a:off x="704088" y="2651760"/>
            <a:ext cx="3282696" cy="1389888"/>
          </a:xfrm>
          <a:prstGeom prst="rect">
            <a:avLst/>
          </a:prstGeom>
          <a:noFill/>
          <a:ln/>
        </p:spPr>
        <p:txBody>
          <a:bodyPr wrap="square" lIns="0" tIns="0" rIns="0" bIns="0" rtlCol="0" anchor="t">
            <a:normAutofit/>
          </a:bodyPr>
          <a:lstStyle/>
          <a:p>
            <a:pPr indent="0" marL="0">
              <a:buNone/>
            </a:pPr>
            <a:r>
              <a:rPr lang="en-US" sz="1600" dirty="0">
                <a:solidFill>
                  <a:srgbClr val="203038"/>
                </a:solidFill>
                <a:latin typeface="Microsoft YaHei" pitchFamily="34" charset="0"/>
                <a:ea typeface="Microsoft YaHei" pitchFamily="34" charset="-122"/>
                <a:cs typeface="Microsoft YaHei" pitchFamily="34" charset="-120"/>
              </a:rPr>
              <a:t>临床 AI 四项业务接口</a:t>
            </a:r>
            <a:endParaRPr lang="en-US" sz="1600" dirty="0"/>
          </a:p>
          <a:p>
            <a:pPr indent="0" marL="0">
              <a:buNone/>
            </a:pPr>
            <a:r>
              <a:rPr lang="en-US" sz="1600" dirty="0">
                <a:solidFill>
                  <a:srgbClr val="203038"/>
                </a:solidFill>
                <a:latin typeface="Microsoft YaHei" pitchFamily="34" charset="0"/>
                <a:ea typeface="Microsoft YaHei" pitchFamily="34" charset="-122"/>
                <a:cs typeface="Microsoft YaHei" pitchFamily="34" charset="-120"/>
              </a:rPr>
              <a:t>知识文档导入、检索与溯源</a:t>
            </a:r>
            <a:endParaRPr lang="en-US" sz="1600" dirty="0"/>
          </a:p>
          <a:p>
            <a:pPr indent="0" marL="0">
              <a:buNone/>
            </a:pPr>
            <a:r>
              <a:rPr lang="en-US" sz="1600" dirty="0">
                <a:solidFill>
                  <a:srgbClr val="203038"/>
                </a:solidFill>
                <a:latin typeface="Microsoft YaHei" pitchFamily="34" charset="0"/>
                <a:ea typeface="Microsoft YaHei" pitchFamily="34" charset="-122"/>
                <a:cs typeface="Microsoft YaHei" pitchFamily="34" charset="-120"/>
              </a:rPr>
              <a:t>DDInter 数据解析与索引</a:t>
            </a:r>
            <a:endParaRPr lang="en-US" sz="1600" dirty="0"/>
          </a:p>
          <a:p>
            <a:pPr indent="0" marL="0">
              <a:buNone/>
            </a:pPr>
            <a:r>
              <a:rPr lang="en-US" sz="1600" dirty="0">
                <a:solidFill>
                  <a:srgbClr val="203038"/>
                </a:solidFill>
                <a:latin typeface="Microsoft YaHei" pitchFamily="34" charset="0"/>
                <a:ea typeface="Microsoft YaHei" pitchFamily="34" charset="-122"/>
                <a:cs typeface="Microsoft YaHei" pitchFamily="34" charset="-120"/>
              </a:rPr>
              <a:t>医生工作台接口适配与联调</a:t>
            </a:r>
            <a:endParaRPr lang="en-US" sz="1600" dirty="0"/>
          </a:p>
        </p:txBody>
      </p:sp>
      <p:sp>
        <p:nvSpPr>
          <p:cNvPr id="13" name="Shape 11"/>
          <p:cNvSpPr/>
          <p:nvPr/>
        </p:nvSpPr>
        <p:spPr>
          <a:xfrm>
            <a:off x="4407408" y="1938528"/>
            <a:ext cx="7251192" cy="2267712"/>
          </a:xfrm>
          <a:prstGeom prst="rect">
            <a:avLst/>
          </a:prstGeom>
          <a:solidFill>
            <a:srgbClr val="FFFFFF"/>
          </a:solidFill>
          <a:ln w="7620">
            <a:solidFill>
              <a:srgbClr val="DDE5E8"/>
            </a:solidFill>
            <a:prstDash val="solid"/>
          </a:ln>
        </p:spPr>
      </p:sp>
      <p:sp>
        <p:nvSpPr>
          <p:cNvPr id="14" name="Shape 12"/>
          <p:cNvSpPr/>
          <p:nvPr/>
        </p:nvSpPr>
        <p:spPr>
          <a:xfrm>
            <a:off x="4407408" y="1938528"/>
            <a:ext cx="45720" cy="2267712"/>
          </a:xfrm>
          <a:prstGeom prst="rect">
            <a:avLst/>
          </a:prstGeom>
          <a:solidFill>
            <a:srgbClr val="487B9C"/>
          </a:solidFill>
          <a:ln w="7620">
            <a:solidFill>
              <a:srgbClr val="487B9C"/>
            </a:solidFill>
            <a:prstDash val="solid"/>
          </a:ln>
        </p:spPr>
      </p:sp>
      <p:sp>
        <p:nvSpPr>
          <p:cNvPr id="15" name="Text 13"/>
          <p:cNvSpPr/>
          <p:nvPr/>
        </p:nvSpPr>
        <p:spPr>
          <a:xfrm>
            <a:off x="4608576" y="2103120"/>
            <a:ext cx="6848856" cy="365760"/>
          </a:xfrm>
          <a:prstGeom prst="rect">
            <a:avLst/>
          </a:prstGeom>
          <a:noFill/>
          <a:ln/>
        </p:spPr>
        <p:txBody>
          <a:bodyPr wrap="square" lIns="0" tIns="0" rIns="0" bIns="0" rtlCol="0" anchor="ctr">
            <a:normAutofit/>
          </a:bodyPr>
          <a:lstStyle/>
          <a:p>
            <a:pPr indent="0" marL="0">
              <a:buNone/>
            </a:pPr>
            <a:r>
              <a:rPr lang="en-US" sz="1900" b="1" dirty="0">
                <a:solidFill>
                  <a:srgbClr val="487B9C"/>
                </a:solidFill>
                <a:latin typeface="Microsoft YaHei" pitchFamily="34" charset="0"/>
                <a:ea typeface="Microsoft YaHei" pitchFamily="34" charset="-122"/>
                <a:cs typeface="Microsoft YaHei" pitchFamily="34" charset="-120"/>
              </a:rPr>
              <a:t>核心技术栈</a:t>
            </a:r>
            <a:endParaRPr lang="en-US" sz="1900" dirty="0"/>
          </a:p>
        </p:txBody>
      </p:sp>
      <p:sp>
        <p:nvSpPr>
          <p:cNvPr id="16" name="Text 14"/>
          <p:cNvSpPr/>
          <p:nvPr/>
        </p:nvSpPr>
        <p:spPr>
          <a:xfrm>
            <a:off x="4608576" y="2651760"/>
            <a:ext cx="6848856" cy="1389888"/>
          </a:xfrm>
          <a:prstGeom prst="rect">
            <a:avLst/>
          </a:prstGeom>
          <a:noFill/>
          <a:ln/>
        </p:spPr>
        <p:txBody>
          <a:bodyPr wrap="square" lIns="0" tIns="0" rIns="0" bIns="0" rtlCol="0" anchor="t">
            <a:normAutofit/>
          </a:bodyPr>
          <a:lstStyle/>
          <a:p>
            <a:pPr indent="0" marL="0">
              <a:buNone/>
            </a:pPr>
            <a:r>
              <a:rPr lang="en-US" sz="1700" dirty="0">
                <a:solidFill>
                  <a:srgbClr val="203038"/>
                </a:solidFill>
                <a:latin typeface="Microsoft YaHei" pitchFamily="34" charset="0"/>
                <a:ea typeface="Microsoft YaHei" pitchFamily="34" charset="-122"/>
                <a:cs typeface="Microsoft YaHei" pitchFamily="34" charset="-120"/>
              </a:rPr>
              <a:t>Node.js + TypeScript + Express 5</a:t>
            </a:r>
            <a:endParaRPr lang="en-US" sz="1700" dirty="0"/>
          </a:p>
          <a:p>
            <a:pPr indent="0" marL="0">
              <a:buNone/>
            </a:pPr>
            <a:r>
              <a:rPr lang="en-US" sz="1700" dirty="0">
                <a:solidFill>
                  <a:srgbClr val="203038"/>
                </a:solidFill>
                <a:latin typeface="Microsoft YaHei" pitchFamily="34" charset="0"/>
                <a:ea typeface="Microsoft YaHei" pitchFamily="34" charset="-122"/>
                <a:cs typeface="Microsoft YaHei" pitchFamily="34" charset="-120"/>
              </a:rPr>
              <a:t>MySQL / MariaDB + mysql2</a:t>
            </a:r>
            <a:endParaRPr lang="en-US" sz="1700" dirty="0"/>
          </a:p>
          <a:p>
            <a:pPr indent="0" marL="0">
              <a:buNone/>
            </a:pPr>
            <a:r>
              <a:rPr lang="en-US" sz="1700" dirty="0">
                <a:solidFill>
                  <a:srgbClr val="203038"/>
                </a:solidFill>
                <a:latin typeface="Microsoft YaHei" pitchFamily="34" charset="0"/>
                <a:ea typeface="Microsoft YaHei" pitchFamily="34" charset="-122"/>
                <a:cs typeface="Microsoft YaHei" pitchFamily="34" charset="-120"/>
              </a:rPr>
              <a:t>火山方舟：Seed 2.0 Lite + Embedding</a:t>
            </a:r>
            <a:endParaRPr lang="en-US" sz="1700" dirty="0"/>
          </a:p>
          <a:p>
            <a:pPr indent="0" marL="0">
              <a:buNone/>
            </a:pPr>
            <a:r>
              <a:rPr lang="en-US" sz="1700" dirty="0">
                <a:solidFill>
                  <a:srgbClr val="203038"/>
                </a:solidFill>
                <a:latin typeface="Microsoft YaHei" pitchFamily="34" charset="0"/>
                <a:ea typeface="Microsoft YaHei" pitchFamily="34" charset="-122"/>
                <a:cs typeface="Microsoft YaHei" pitchFamily="34" charset="-120"/>
              </a:rPr>
              <a:t>Vue 3 / Element Plus 接口适配</a:t>
            </a:r>
            <a:endParaRPr lang="en-US" sz="1700" dirty="0"/>
          </a:p>
        </p:txBody>
      </p:sp>
      <p:sp>
        <p:nvSpPr>
          <p:cNvPr id="17" name="Shape 15"/>
          <p:cNvSpPr/>
          <p:nvPr/>
        </p:nvSpPr>
        <p:spPr>
          <a:xfrm>
            <a:off x="502920" y="4489704"/>
            <a:ext cx="11155680" cy="594360"/>
          </a:xfrm>
          <a:prstGeom prst="rect">
            <a:avLst/>
          </a:prstGeom>
          <a:solidFill>
            <a:srgbClr val="203038"/>
          </a:solidFill>
          <a:ln w="7620">
            <a:solidFill>
              <a:srgbClr val="203038"/>
            </a:solidFill>
            <a:prstDash val="solid"/>
          </a:ln>
        </p:spPr>
      </p:sp>
      <p:sp>
        <p:nvSpPr>
          <p:cNvPr id="18" name="Text 16"/>
          <p:cNvSpPr/>
          <p:nvPr/>
        </p:nvSpPr>
        <p:spPr>
          <a:xfrm>
            <a:off x="694944" y="4489704"/>
            <a:ext cx="10771632" cy="594360"/>
          </a:xfrm>
          <a:prstGeom prst="rect">
            <a:avLst/>
          </a:prstGeom>
          <a:noFill/>
          <a:ln/>
        </p:spPr>
        <p:txBody>
          <a:bodyPr wrap="square" lIns="0" tIns="0" rIns="0" bIns="0" rtlCol="0" anchor="ctr">
            <a:normAutofit/>
          </a:bodyPr>
          <a:lstStyle/>
          <a:p>
            <a:pPr algn="ctr" indent="0" marL="0">
              <a:buNone/>
            </a:pPr>
            <a:r>
              <a:rPr lang="en-US" sz="2000" b="1" dirty="0">
                <a:solidFill>
                  <a:srgbClr val="FFFFFF"/>
                </a:solidFill>
                <a:latin typeface="Microsoft YaHei" pitchFamily="34" charset="0"/>
                <a:ea typeface="Microsoft YaHei" pitchFamily="34" charset="-122"/>
                <a:cs typeface="Microsoft YaHei" pitchFamily="34" charset="-120"/>
              </a:rPr>
              <a:t>医生工作台  →  身份与角色校验  →  临床 AI 服务  →  来源展示与医生复核</a:t>
            </a:r>
            <a:endParaRPr lang="en-US" sz="2000" dirty="0"/>
          </a:p>
        </p:txBody>
      </p:sp>
      <p:sp>
        <p:nvSpPr>
          <p:cNvPr id="19" name="Text 17"/>
          <p:cNvSpPr/>
          <p:nvPr/>
        </p:nvSpPr>
        <p:spPr>
          <a:xfrm>
            <a:off x="612648" y="5440680"/>
            <a:ext cx="1828800" cy="301752"/>
          </a:xfrm>
          <a:prstGeom prst="rect">
            <a:avLst/>
          </a:prstGeom>
          <a:noFill/>
          <a:ln/>
        </p:spPr>
        <p:txBody>
          <a:bodyPr wrap="square" lIns="0" tIns="0" rIns="0" bIns="0" rtlCol="0" anchor="ctr">
            <a:normAutofit/>
          </a:bodyPr>
          <a:lstStyle/>
          <a:p>
            <a:pPr indent="0" marL="0">
              <a:buNone/>
            </a:pPr>
            <a:r>
              <a:rPr lang="en-US" sz="1700" b="1" dirty="0">
                <a:solidFill>
                  <a:srgbClr val="087E80"/>
                </a:solidFill>
                <a:latin typeface="Microsoft YaHei" pitchFamily="34" charset="0"/>
                <a:ea typeface="Microsoft YaHei" pitchFamily="34" charset="-122"/>
                <a:cs typeface="Microsoft YaHei" pitchFamily="34" charset="-120"/>
              </a:rPr>
              <a:t>生成式路径</a:t>
            </a:r>
            <a:endParaRPr lang="en-US" sz="1700" dirty="0"/>
          </a:p>
        </p:txBody>
      </p:sp>
      <p:sp>
        <p:nvSpPr>
          <p:cNvPr id="20" name="Text 18"/>
          <p:cNvSpPr/>
          <p:nvPr/>
        </p:nvSpPr>
        <p:spPr>
          <a:xfrm>
            <a:off x="2560320" y="5367528"/>
            <a:ext cx="8823960" cy="457200"/>
          </a:xfrm>
          <a:prstGeom prst="rect">
            <a:avLst/>
          </a:prstGeom>
          <a:noFill/>
          <a:ln/>
        </p:spPr>
        <p:txBody>
          <a:bodyPr wrap="square" lIns="0" tIns="0" rIns="0" bIns="0" rtlCol="0" anchor="ctr">
            <a:normAutofit/>
          </a:bodyPr>
          <a:lstStyle/>
          <a:p>
            <a:pPr indent="0" marL="0">
              <a:buNone/>
            </a:pPr>
            <a:r>
              <a:rPr lang="en-US" sz="1800" dirty="0">
                <a:solidFill>
                  <a:srgbClr val="203038"/>
                </a:solidFill>
                <a:latin typeface="Microsoft YaHei" pitchFamily="34" charset="0"/>
                <a:ea typeface="Microsoft YaHei" pitchFamily="34" charset="-122"/>
                <a:cs typeface="Microsoft YaHei" pitchFamily="34" charset="-120"/>
              </a:rPr>
              <a:t>模拟问诊原始记录 → 模型整理 → 来源与数值校验</a:t>
            </a:r>
            <a:endParaRPr lang="en-US" sz="1800" dirty="0"/>
          </a:p>
        </p:txBody>
      </p:sp>
      <p:sp>
        <p:nvSpPr>
          <p:cNvPr id="21" name="Text 19"/>
          <p:cNvSpPr/>
          <p:nvPr/>
        </p:nvSpPr>
        <p:spPr>
          <a:xfrm>
            <a:off x="612648" y="5925312"/>
            <a:ext cx="1828800" cy="301752"/>
          </a:xfrm>
          <a:prstGeom prst="rect">
            <a:avLst/>
          </a:prstGeom>
          <a:noFill/>
          <a:ln/>
        </p:spPr>
        <p:txBody>
          <a:bodyPr wrap="square" lIns="0" tIns="0" rIns="0" bIns="0" rtlCol="0" anchor="ctr">
            <a:normAutofit/>
          </a:bodyPr>
          <a:lstStyle/>
          <a:p>
            <a:pPr indent="0" marL="0">
              <a:buNone/>
            </a:pPr>
            <a:r>
              <a:rPr lang="en-US" sz="1700" b="1" dirty="0">
                <a:solidFill>
                  <a:srgbClr val="B17A12"/>
                </a:solidFill>
                <a:latin typeface="Microsoft YaHei" pitchFamily="34" charset="0"/>
                <a:ea typeface="Microsoft YaHei" pitchFamily="34" charset="-122"/>
                <a:cs typeface="Microsoft YaHei" pitchFamily="34" charset="-120"/>
              </a:rPr>
              <a:t>确定性路径</a:t>
            </a:r>
            <a:endParaRPr lang="en-US" sz="1700" dirty="0"/>
          </a:p>
        </p:txBody>
      </p:sp>
      <p:sp>
        <p:nvSpPr>
          <p:cNvPr id="22" name="Text 20"/>
          <p:cNvSpPr/>
          <p:nvPr/>
        </p:nvSpPr>
        <p:spPr>
          <a:xfrm>
            <a:off x="2560320" y="5852160"/>
            <a:ext cx="8823960" cy="457200"/>
          </a:xfrm>
          <a:prstGeom prst="rect">
            <a:avLst/>
          </a:prstGeom>
          <a:noFill/>
          <a:ln/>
        </p:spPr>
        <p:txBody>
          <a:bodyPr wrap="square" lIns="0" tIns="0" rIns="0" bIns="0" rtlCol="0" anchor="ctr">
            <a:normAutofit/>
          </a:bodyPr>
          <a:lstStyle/>
          <a:p>
            <a:pPr indent="0" marL="0">
              <a:buNone/>
            </a:pPr>
            <a:r>
              <a:rPr lang="en-US" sz="1800" dirty="0">
                <a:solidFill>
                  <a:srgbClr val="203038"/>
                </a:solidFill>
                <a:latin typeface="Microsoft YaHei" pitchFamily="34" charset="0"/>
                <a:ea typeface="Microsoft YaHei" pitchFamily="34" charset="-122"/>
                <a:cs typeface="Microsoft YaHei" pitchFamily="34" charset="-120"/>
              </a:rPr>
              <a:t>药品解析 / 过敏规则 / DDInter → 结构化风险提示</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87E80"/>
          </a:solidFill>
          <a:ln w="7620">
            <a:solidFill>
              <a:srgbClr val="087E80"/>
            </a:solidFill>
            <a:prstDash val="solid"/>
          </a:ln>
        </p:spPr>
      </p:sp>
      <p:sp>
        <p:nvSpPr>
          <p:cNvPr id="3" name="Text 1"/>
          <p:cNvSpPr/>
          <p:nvPr/>
        </p:nvSpPr>
        <p:spPr>
          <a:xfrm>
            <a:off x="502920" y="301752"/>
            <a:ext cx="11155680" cy="274320"/>
          </a:xfrm>
          <a:prstGeom prst="rect">
            <a:avLst/>
          </a:prstGeom>
          <a:noFill/>
          <a:ln/>
        </p:spPr>
        <p:txBody>
          <a:bodyPr wrap="square" lIns="0" tIns="0" rIns="0" bIns="0" rtlCol="0" anchor="ctr">
            <a:normAutofit/>
          </a:bodyPr>
          <a:lstStyle/>
          <a:p>
            <a:pPr indent="0" marL="0">
              <a:buNone/>
            </a:pPr>
            <a:r>
              <a:rPr lang="en-US" sz="1100" b="1" dirty="0">
                <a:solidFill>
                  <a:srgbClr val="087E80"/>
                </a:solidFill>
                <a:latin typeface="Microsoft YaHei" pitchFamily="34" charset="0"/>
                <a:ea typeface="Microsoft YaHei" pitchFamily="34" charset="-122"/>
                <a:cs typeface="Microsoft YaHei" pitchFamily="34" charset="-120"/>
              </a:rPr>
              <a:t>02 / 临床 AI 功能</a:t>
            </a:r>
            <a:endParaRPr lang="en-US" sz="1100" dirty="0"/>
          </a:p>
        </p:txBody>
      </p:sp>
      <p:sp>
        <p:nvSpPr>
          <p:cNvPr id="4" name="Text 2"/>
          <p:cNvSpPr/>
          <p:nvPr/>
        </p:nvSpPr>
        <p:spPr>
          <a:xfrm>
            <a:off x="502920" y="777240"/>
            <a:ext cx="11155680" cy="548640"/>
          </a:xfrm>
          <a:prstGeom prst="rect">
            <a:avLst/>
          </a:prstGeom>
          <a:noFill/>
          <a:ln/>
        </p:spPr>
        <p:txBody>
          <a:bodyPr wrap="square" lIns="0" tIns="0" rIns="0" bIns="0" rtlCol="0" anchor="ctr">
            <a:normAutofit/>
          </a:bodyPr>
          <a:lstStyle/>
          <a:p>
            <a:pPr indent="0" marL="0">
              <a:buNone/>
            </a:pPr>
            <a:r>
              <a:rPr lang="en-US" sz="2900" b="1" dirty="0">
                <a:solidFill>
                  <a:srgbClr val="203038"/>
                </a:solidFill>
                <a:latin typeface="Microsoft YaHei" pitchFamily="34" charset="0"/>
                <a:ea typeface="Microsoft YaHei" pitchFamily="34" charset="-122"/>
                <a:cs typeface="Microsoft YaHei" pitchFamily="34" charset="-120"/>
              </a:rPr>
              <a:t>四项工作流：减少整理与查找，保留医生决策</a:t>
            </a:r>
            <a:endParaRPr lang="en-US" sz="2900" dirty="0"/>
          </a:p>
        </p:txBody>
      </p:sp>
      <p:sp>
        <p:nvSpPr>
          <p:cNvPr id="5" name="Text 3"/>
          <p:cNvSpPr/>
          <p:nvPr/>
        </p:nvSpPr>
        <p:spPr>
          <a:xfrm>
            <a:off x="512064" y="1408176"/>
            <a:ext cx="11064240" cy="365760"/>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对应 4 个 POST 接口；输出辅助结果，不自动形成诊断或处方。</a:t>
            </a:r>
            <a:endParaRPr lang="en-US" sz="1400" dirty="0"/>
          </a:p>
        </p:txBody>
      </p:sp>
      <p:sp>
        <p:nvSpPr>
          <p:cNvPr id="6" name="Shape 4"/>
          <p:cNvSpPr/>
          <p:nvPr/>
        </p:nvSpPr>
        <p:spPr>
          <a:xfrm>
            <a:off x="502920" y="6419088"/>
            <a:ext cx="11155680" cy="0"/>
          </a:xfrm>
          <a:prstGeom prst="line">
            <a:avLst/>
          </a:prstGeom>
          <a:noFill/>
          <a:ln w="12700">
            <a:solidFill>
              <a:srgbClr val="DDE5E8"/>
            </a:solidFill>
            <a:prstDash val="solid"/>
          </a:ln>
        </p:spPr>
      </p:sp>
      <p:sp>
        <p:nvSpPr>
          <p:cNvPr id="7" name="Text 5"/>
          <p:cNvSpPr/>
          <p:nvPr/>
        </p:nvSpPr>
        <p:spPr>
          <a:xfrm>
            <a:off x="502920" y="6510528"/>
            <a:ext cx="9875520" cy="182880"/>
          </a:xfrm>
          <a:prstGeom prst="rect">
            <a:avLst/>
          </a:prstGeom>
          <a:noFill/>
          <a:ln/>
        </p:spPr>
        <p:txBody>
          <a:bodyPr wrap="square" lIns="0" tIns="0" rIns="0" bIns="0" rtlCol="0" anchor="ctr">
            <a:normAutofit/>
          </a:bodyPr>
          <a:lstStyle/>
          <a:p>
            <a:pPr indent="0" marL="0">
              <a:buNone/>
            </a:pPr>
            <a:r>
              <a:rPr lang="en-US" sz="900" dirty="0">
                <a:solidFill>
                  <a:srgbClr val="62727A"/>
                </a:solidFill>
                <a:latin typeface="Microsoft YaHei" pitchFamily="34" charset="0"/>
                <a:ea typeface="Microsoft YaHei" pitchFamily="34" charset="-122"/>
                <a:cs typeface="Microsoft YaHei" pitchFamily="34" charset="-120"/>
              </a:rPr>
              <a:t>个人工作汇报  /  临床 AI 与知识工程  /  非商业课程设计</a:t>
            </a:r>
            <a:endParaRPr lang="en-US" sz="900" dirty="0"/>
          </a:p>
        </p:txBody>
      </p:sp>
      <p:sp>
        <p:nvSpPr>
          <p:cNvPr id="8" name="Text 6"/>
          <p:cNvSpPr/>
          <p:nvPr/>
        </p:nvSpPr>
        <p:spPr>
          <a:xfrm>
            <a:off x="10652760" y="6483096"/>
            <a:ext cx="1005840" cy="228600"/>
          </a:xfrm>
          <a:prstGeom prst="rect">
            <a:avLst/>
          </a:prstGeom>
          <a:noFill/>
          <a:ln/>
        </p:spPr>
        <p:txBody>
          <a:bodyPr wrap="square" lIns="0" tIns="0" rIns="0" bIns="0" rtlCol="0" anchor="ctr">
            <a:normAutofit/>
          </a:bodyPr>
          <a:lstStyle/>
          <a:p>
            <a:pPr algn="r" indent="0" marL="0">
              <a:buNone/>
            </a:pPr>
            <a:r>
              <a:rPr lang="en-US" sz="1000" dirty="0">
                <a:solidFill>
                  <a:srgbClr val="62727A"/>
                </a:solidFill>
                <a:latin typeface="Microsoft YaHei" pitchFamily="34" charset="0"/>
                <a:ea typeface="Microsoft YaHei" pitchFamily="34" charset="-122"/>
                <a:cs typeface="Microsoft YaHei" pitchFamily="34" charset="-120"/>
              </a:rPr>
              <a:t>03 / 06</a:t>
            </a:r>
            <a:endParaRPr lang="en-US" sz="1000" dirty="0"/>
          </a:p>
        </p:txBody>
      </p:sp>
      <p:sp>
        <p:nvSpPr>
          <p:cNvPr id="9" name="Shape 7"/>
          <p:cNvSpPr/>
          <p:nvPr/>
        </p:nvSpPr>
        <p:spPr>
          <a:xfrm>
            <a:off x="502920" y="1938528"/>
            <a:ext cx="5458968" cy="1719072"/>
          </a:xfrm>
          <a:prstGeom prst="rect">
            <a:avLst/>
          </a:prstGeom>
          <a:solidFill>
            <a:srgbClr val="FFFFFF"/>
          </a:solidFill>
          <a:ln w="7620">
            <a:solidFill>
              <a:srgbClr val="DDE5E8"/>
            </a:solidFill>
            <a:prstDash val="solid"/>
          </a:ln>
        </p:spPr>
      </p:sp>
      <p:sp>
        <p:nvSpPr>
          <p:cNvPr id="10" name="Shape 8"/>
          <p:cNvSpPr/>
          <p:nvPr/>
        </p:nvSpPr>
        <p:spPr>
          <a:xfrm>
            <a:off x="502920" y="1938528"/>
            <a:ext cx="45720" cy="1719072"/>
          </a:xfrm>
          <a:prstGeom prst="rect">
            <a:avLst/>
          </a:prstGeom>
          <a:solidFill>
            <a:srgbClr val="087E80"/>
          </a:solidFill>
          <a:ln w="7620">
            <a:solidFill>
              <a:srgbClr val="087E80"/>
            </a:solidFill>
            <a:prstDash val="solid"/>
          </a:ln>
        </p:spPr>
      </p:sp>
      <p:sp>
        <p:nvSpPr>
          <p:cNvPr id="11" name="Text 9"/>
          <p:cNvSpPr/>
          <p:nvPr/>
        </p:nvSpPr>
        <p:spPr>
          <a:xfrm>
            <a:off x="704088" y="2103120"/>
            <a:ext cx="5056632" cy="365760"/>
          </a:xfrm>
          <a:prstGeom prst="rect">
            <a:avLst/>
          </a:prstGeom>
          <a:noFill/>
          <a:ln/>
        </p:spPr>
        <p:txBody>
          <a:bodyPr wrap="square" lIns="0" tIns="0" rIns="0" bIns="0" rtlCol="0" anchor="ctr">
            <a:normAutofit/>
          </a:bodyPr>
          <a:lstStyle/>
          <a:p>
            <a:pPr indent="0" marL="0">
              <a:buNone/>
            </a:pPr>
            <a:r>
              <a:rPr lang="en-US" sz="1900" b="1" dirty="0">
                <a:solidFill>
                  <a:srgbClr val="087E80"/>
                </a:solidFill>
                <a:latin typeface="Microsoft YaHei" pitchFamily="34" charset="0"/>
                <a:ea typeface="Microsoft YaHei" pitchFamily="34" charset="-122"/>
                <a:cs typeface="Microsoft YaHei" pitchFamily="34" charset="-120"/>
              </a:rPr>
              <a:t>01  病历草稿</a:t>
            </a:r>
            <a:endParaRPr lang="en-US" sz="1900" dirty="0"/>
          </a:p>
        </p:txBody>
      </p:sp>
      <p:sp>
        <p:nvSpPr>
          <p:cNvPr id="12" name="Text 10"/>
          <p:cNvSpPr/>
          <p:nvPr/>
        </p:nvSpPr>
        <p:spPr>
          <a:xfrm>
            <a:off x="704088" y="2651760"/>
            <a:ext cx="5056632" cy="841248"/>
          </a:xfrm>
          <a:prstGeom prst="rect">
            <a:avLst/>
          </a:prstGeom>
          <a:noFill/>
          <a:ln/>
        </p:spPr>
        <p:txBody>
          <a:bodyPr wrap="square" lIns="0" tIns="0" rIns="0" bIns="0" rtlCol="0" anchor="t">
            <a:normAutofit/>
          </a:bodyPr>
          <a:lstStyle/>
          <a:p>
            <a:pPr indent="0" marL="0">
              <a:buNone/>
            </a:pPr>
            <a:r>
              <a:rPr lang="en-US" sz="1600" dirty="0">
                <a:solidFill>
                  <a:srgbClr val="203038"/>
                </a:solidFill>
                <a:latin typeface="Microsoft YaHei" pitchFamily="34" charset="0"/>
                <a:ea typeface="Microsoft YaHei" pitchFamily="34" charset="-122"/>
                <a:cs typeface="Microsoft YaHei" pitchFamily="34" charset="-120"/>
              </a:rPr>
              <a:t>将已有问诊整理为可编辑草稿</a:t>
            </a:r>
            <a:endParaRPr lang="en-US" sz="1600" dirty="0"/>
          </a:p>
          <a:p>
            <a:pPr indent="0" marL="0">
              <a:buNone/>
            </a:pPr>
            <a:r>
              <a:rPr lang="en-US" sz="1600" dirty="0">
                <a:solidFill>
                  <a:srgbClr val="203038"/>
                </a:solidFill>
                <a:latin typeface="Microsoft YaHei" pitchFamily="34" charset="0"/>
                <a:ea typeface="Microsoft YaHei" pitchFamily="34" charset="-122"/>
                <a:cs typeface="Microsoft YaHei" pitchFamily="34" charset="-120"/>
              </a:rPr>
              <a:t>保留来源，待医生诊断与复核</a:t>
            </a:r>
            <a:endParaRPr lang="en-US" sz="1600" dirty="0"/>
          </a:p>
        </p:txBody>
      </p:sp>
      <p:sp>
        <p:nvSpPr>
          <p:cNvPr id="13" name="Text 11"/>
          <p:cNvSpPr/>
          <p:nvPr/>
        </p:nvSpPr>
        <p:spPr>
          <a:xfrm>
            <a:off x="704088" y="3346704"/>
            <a:ext cx="5047488" cy="219456"/>
          </a:xfrm>
          <a:prstGeom prst="rect">
            <a:avLst/>
          </a:prstGeom>
          <a:noFill/>
          <a:ln/>
        </p:spPr>
        <p:txBody>
          <a:bodyPr wrap="square" lIns="0" tIns="0" rIns="0" bIns="0" rtlCol="0" anchor="ctr">
            <a:normAutofit/>
          </a:bodyPr>
          <a:lstStyle/>
          <a:p>
            <a:pPr indent="0" marL="0">
              <a:buNone/>
            </a:pPr>
            <a:r>
              <a:rPr lang="en-US" sz="1100" dirty="0">
                <a:solidFill>
                  <a:srgbClr val="62727A"/>
                </a:solidFill>
                <a:latin typeface="Microsoft YaHei" pitchFamily="34" charset="0"/>
                <a:ea typeface="Microsoft YaHei" pitchFamily="34" charset="-122"/>
                <a:cs typeface="Microsoft YaHei" pitchFamily="34" charset="-120"/>
              </a:rPr>
              <a:t>POST /api/ai/record-draft</a:t>
            </a:r>
            <a:endParaRPr lang="en-US" sz="1100" dirty="0"/>
          </a:p>
        </p:txBody>
      </p:sp>
      <p:sp>
        <p:nvSpPr>
          <p:cNvPr id="14" name="Shape 12"/>
          <p:cNvSpPr/>
          <p:nvPr/>
        </p:nvSpPr>
        <p:spPr>
          <a:xfrm>
            <a:off x="6199632" y="1938528"/>
            <a:ext cx="5458968" cy="1719072"/>
          </a:xfrm>
          <a:prstGeom prst="rect">
            <a:avLst/>
          </a:prstGeom>
          <a:solidFill>
            <a:srgbClr val="FFFFFF"/>
          </a:solidFill>
          <a:ln w="7620">
            <a:solidFill>
              <a:srgbClr val="DDE5E8"/>
            </a:solidFill>
            <a:prstDash val="solid"/>
          </a:ln>
        </p:spPr>
      </p:sp>
      <p:sp>
        <p:nvSpPr>
          <p:cNvPr id="15" name="Shape 13"/>
          <p:cNvSpPr/>
          <p:nvPr/>
        </p:nvSpPr>
        <p:spPr>
          <a:xfrm>
            <a:off x="6199632" y="1938528"/>
            <a:ext cx="45720" cy="1719072"/>
          </a:xfrm>
          <a:prstGeom prst="rect">
            <a:avLst/>
          </a:prstGeom>
          <a:solidFill>
            <a:srgbClr val="487B9C"/>
          </a:solidFill>
          <a:ln w="7620">
            <a:solidFill>
              <a:srgbClr val="487B9C"/>
            </a:solidFill>
            <a:prstDash val="solid"/>
          </a:ln>
        </p:spPr>
      </p:sp>
      <p:sp>
        <p:nvSpPr>
          <p:cNvPr id="16" name="Text 14"/>
          <p:cNvSpPr/>
          <p:nvPr/>
        </p:nvSpPr>
        <p:spPr>
          <a:xfrm>
            <a:off x="6400800" y="2103120"/>
            <a:ext cx="5056632" cy="365760"/>
          </a:xfrm>
          <a:prstGeom prst="rect">
            <a:avLst/>
          </a:prstGeom>
          <a:noFill/>
          <a:ln/>
        </p:spPr>
        <p:txBody>
          <a:bodyPr wrap="square" lIns="0" tIns="0" rIns="0" bIns="0" rtlCol="0" anchor="ctr">
            <a:normAutofit/>
          </a:bodyPr>
          <a:lstStyle/>
          <a:p>
            <a:pPr indent="0" marL="0">
              <a:buNone/>
            </a:pPr>
            <a:r>
              <a:rPr lang="en-US" sz="1900" b="1" dirty="0">
                <a:solidFill>
                  <a:srgbClr val="487B9C"/>
                </a:solidFill>
                <a:latin typeface="Microsoft YaHei" pitchFamily="34" charset="0"/>
                <a:ea typeface="Microsoft YaHei" pitchFamily="34" charset="-122"/>
                <a:cs typeface="Microsoft YaHei" pitchFamily="34" charset="-120"/>
              </a:rPr>
              <a:t>02  问诊摘要</a:t>
            </a:r>
            <a:endParaRPr lang="en-US" sz="1900" dirty="0"/>
          </a:p>
        </p:txBody>
      </p:sp>
      <p:sp>
        <p:nvSpPr>
          <p:cNvPr id="17" name="Text 15"/>
          <p:cNvSpPr/>
          <p:nvPr/>
        </p:nvSpPr>
        <p:spPr>
          <a:xfrm>
            <a:off x="6400800" y="2651760"/>
            <a:ext cx="5056632" cy="841248"/>
          </a:xfrm>
          <a:prstGeom prst="rect">
            <a:avLst/>
          </a:prstGeom>
          <a:noFill/>
          <a:ln/>
        </p:spPr>
        <p:txBody>
          <a:bodyPr wrap="square" lIns="0" tIns="0" rIns="0" bIns="0" rtlCol="0" anchor="t">
            <a:normAutofit/>
          </a:bodyPr>
          <a:lstStyle/>
          <a:p>
            <a:pPr indent="0" marL="0">
              <a:buNone/>
            </a:pPr>
            <a:r>
              <a:rPr lang="en-US" sz="1600" dirty="0">
                <a:solidFill>
                  <a:srgbClr val="203038"/>
                </a:solidFill>
                <a:latin typeface="Microsoft YaHei" pitchFamily="34" charset="0"/>
                <a:ea typeface="Microsoft YaHei" pitchFamily="34" charset="-122"/>
                <a:cs typeface="Microsoft YaHei" pitchFamily="34" charset="-120"/>
              </a:rPr>
              <a:t>归纳记录与后续重点事项</a:t>
            </a:r>
            <a:endParaRPr lang="en-US" sz="1600" dirty="0"/>
          </a:p>
          <a:p>
            <a:pPr indent="0" marL="0">
              <a:buNone/>
            </a:pPr>
            <a:r>
              <a:rPr lang="en-US" sz="1600" dirty="0">
                <a:solidFill>
                  <a:srgbClr val="203038"/>
                </a:solidFill>
                <a:latin typeface="Microsoft YaHei" pitchFamily="34" charset="0"/>
                <a:ea typeface="Microsoft YaHei" pitchFamily="34" charset="-122"/>
                <a:cs typeface="Microsoft YaHei" pitchFamily="34" charset="-120"/>
              </a:rPr>
              <a:t>区分患者陈述和诊断结论</a:t>
            </a:r>
            <a:endParaRPr lang="en-US" sz="1600" dirty="0"/>
          </a:p>
        </p:txBody>
      </p:sp>
      <p:sp>
        <p:nvSpPr>
          <p:cNvPr id="18" name="Text 16"/>
          <p:cNvSpPr/>
          <p:nvPr/>
        </p:nvSpPr>
        <p:spPr>
          <a:xfrm>
            <a:off x="6400800" y="3346704"/>
            <a:ext cx="5047488" cy="219456"/>
          </a:xfrm>
          <a:prstGeom prst="rect">
            <a:avLst/>
          </a:prstGeom>
          <a:noFill/>
          <a:ln/>
        </p:spPr>
        <p:txBody>
          <a:bodyPr wrap="square" lIns="0" tIns="0" rIns="0" bIns="0" rtlCol="0" anchor="ctr">
            <a:normAutofit/>
          </a:bodyPr>
          <a:lstStyle/>
          <a:p>
            <a:pPr indent="0" marL="0">
              <a:buNone/>
            </a:pPr>
            <a:r>
              <a:rPr lang="en-US" sz="1100" dirty="0">
                <a:solidFill>
                  <a:srgbClr val="62727A"/>
                </a:solidFill>
                <a:latin typeface="Microsoft YaHei" pitchFamily="34" charset="0"/>
                <a:ea typeface="Microsoft YaHei" pitchFamily="34" charset="-122"/>
                <a:cs typeface="Microsoft YaHei" pitchFamily="34" charset="-120"/>
              </a:rPr>
              <a:t>POST /api/ai/consultation-summary</a:t>
            </a:r>
            <a:endParaRPr lang="en-US" sz="1100" dirty="0"/>
          </a:p>
        </p:txBody>
      </p:sp>
      <p:sp>
        <p:nvSpPr>
          <p:cNvPr id="19" name="Shape 17"/>
          <p:cNvSpPr/>
          <p:nvPr/>
        </p:nvSpPr>
        <p:spPr>
          <a:xfrm>
            <a:off x="502920" y="3822192"/>
            <a:ext cx="5458968" cy="1719072"/>
          </a:xfrm>
          <a:prstGeom prst="rect">
            <a:avLst/>
          </a:prstGeom>
          <a:solidFill>
            <a:srgbClr val="FFFFFF"/>
          </a:solidFill>
          <a:ln w="7620">
            <a:solidFill>
              <a:srgbClr val="DDE5E8"/>
            </a:solidFill>
            <a:prstDash val="solid"/>
          </a:ln>
        </p:spPr>
      </p:sp>
      <p:sp>
        <p:nvSpPr>
          <p:cNvPr id="20" name="Shape 18"/>
          <p:cNvSpPr/>
          <p:nvPr/>
        </p:nvSpPr>
        <p:spPr>
          <a:xfrm>
            <a:off x="502920" y="3822192"/>
            <a:ext cx="45720" cy="1719072"/>
          </a:xfrm>
          <a:prstGeom prst="rect">
            <a:avLst/>
          </a:prstGeom>
          <a:solidFill>
            <a:srgbClr val="487B9C"/>
          </a:solidFill>
          <a:ln w="7620">
            <a:solidFill>
              <a:srgbClr val="487B9C"/>
            </a:solidFill>
            <a:prstDash val="solid"/>
          </a:ln>
        </p:spPr>
      </p:sp>
      <p:sp>
        <p:nvSpPr>
          <p:cNvPr id="21" name="Text 19"/>
          <p:cNvSpPr/>
          <p:nvPr/>
        </p:nvSpPr>
        <p:spPr>
          <a:xfrm>
            <a:off x="704088" y="3986784"/>
            <a:ext cx="5056632" cy="365760"/>
          </a:xfrm>
          <a:prstGeom prst="rect">
            <a:avLst/>
          </a:prstGeom>
          <a:noFill/>
          <a:ln/>
        </p:spPr>
        <p:txBody>
          <a:bodyPr wrap="square" lIns="0" tIns="0" rIns="0" bIns="0" rtlCol="0" anchor="ctr">
            <a:normAutofit/>
          </a:bodyPr>
          <a:lstStyle/>
          <a:p>
            <a:pPr indent="0" marL="0">
              <a:buNone/>
            </a:pPr>
            <a:r>
              <a:rPr lang="en-US" sz="1900" b="1" dirty="0">
                <a:solidFill>
                  <a:srgbClr val="487B9C"/>
                </a:solidFill>
                <a:latin typeface="Microsoft YaHei" pitchFamily="34" charset="0"/>
                <a:ea typeface="Microsoft YaHei" pitchFamily="34" charset="-122"/>
                <a:cs typeface="Microsoft YaHei" pitchFamily="34" charset="-120"/>
              </a:rPr>
              <a:t>03  相似病历</a:t>
            </a:r>
            <a:endParaRPr lang="en-US" sz="1900" dirty="0"/>
          </a:p>
        </p:txBody>
      </p:sp>
      <p:sp>
        <p:nvSpPr>
          <p:cNvPr id="22" name="Text 20"/>
          <p:cNvSpPr/>
          <p:nvPr/>
        </p:nvSpPr>
        <p:spPr>
          <a:xfrm>
            <a:off x="704088" y="4535424"/>
            <a:ext cx="5056632" cy="841248"/>
          </a:xfrm>
          <a:prstGeom prst="rect">
            <a:avLst/>
          </a:prstGeom>
          <a:noFill/>
          <a:ln/>
        </p:spPr>
        <p:txBody>
          <a:bodyPr wrap="square" lIns="0" tIns="0" rIns="0" bIns="0" rtlCol="0" anchor="t">
            <a:normAutofit/>
          </a:bodyPr>
          <a:lstStyle/>
          <a:p>
            <a:pPr indent="0" marL="0">
              <a:buNone/>
            </a:pPr>
            <a:r>
              <a:rPr lang="en-US" sz="1600" dirty="0">
                <a:solidFill>
                  <a:srgbClr val="203038"/>
                </a:solidFill>
                <a:latin typeface="Microsoft YaHei" pitchFamily="34" charset="0"/>
                <a:ea typeface="Microsoft YaHei" pitchFamily="34" charset="-122"/>
                <a:cs typeface="Microsoft YaHei" pitchFamily="34" charset="-120"/>
              </a:rPr>
              <a:t>最多 5 个模拟病例 + 2 条相关指南</a:t>
            </a:r>
            <a:endParaRPr lang="en-US" sz="1600" dirty="0"/>
          </a:p>
          <a:p>
            <a:pPr indent="0" marL="0">
              <a:buNone/>
            </a:pPr>
            <a:r>
              <a:rPr lang="en-US" sz="1600" dirty="0">
                <a:solidFill>
                  <a:srgbClr val="203038"/>
                </a:solidFill>
                <a:latin typeface="Microsoft YaHei" pitchFamily="34" charset="0"/>
                <a:ea typeface="Microsoft YaHei" pitchFamily="34" charset="-122"/>
                <a:cs typeface="Microsoft YaHei" pitchFamily="34" charset="-120"/>
              </a:rPr>
              <a:t>相似度仅用于排序，不是诊断概率</a:t>
            </a:r>
            <a:endParaRPr lang="en-US" sz="1600" dirty="0"/>
          </a:p>
        </p:txBody>
      </p:sp>
      <p:sp>
        <p:nvSpPr>
          <p:cNvPr id="23" name="Text 21"/>
          <p:cNvSpPr/>
          <p:nvPr/>
        </p:nvSpPr>
        <p:spPr>
          <a:xfrm>
            <a:off x="704088" y="5230368"/>
            <a:ext cx="5047488" cy="219456"/>
          </a:xfrm>
          <a:prstGeom prst="rect">
            <a:avLst/>
          </a:prstGeom>
          <a:noFill/>
          <a:ln/>
        </p:spPr>
        <p:txBody>
          <a:bodyPr wrap="square" lIns="0" tIns="0" rIns="0" bIns="0" rtlCol="0" anchor="ctr">
            <a:normAutofit/>
          </a:bodyPr>
          <a:lstStyle/>
          <a:p>
            <a:pPr indent="0" marL="0">
              <a:buNone/>
            </a:pPr>
            <a:r>
              <a:rPr lang="en-US" sz="1100" dirty="0">
                <a:solidFill>
                  <a:srgbClr val="62727A"/>
                </a:solidFill>
                <a:latin typeface="Microsoft YaHei" pitchFamily="34" charset="0"/>
                <a:ea typeface="Microsoft YaHei" pitchFamily="34" charset="-122"/>
                <a:cs typeface="Microsoft YaHei" pitchFamily="34" charset="-120"/>
              </a:rPr>
              <a:t>POST /api/ai/similar-cases</a:t>
            </a:r>
            <a:endParaRPr lang="en-US" sz="1100" dirty="0"/>
          </a:p>
        </p:txBody>
      </p:sp>
      <p:sp>
        <p:nvSpPr>
          <p:cNvPr id="24" name="Shape 22"/>
          <p:cNvSpPr/>
          <p:nvPr/>
        </p:nvSpPr>
        <p:spPr>
          <a:xfrm>
            <a:off x="6199632" y="3822192"/>
            <a:ext cx="5458968" cy="1719072"/>
          </a:xfrm>
          <a:prstGeom prst="rect">
            <a:avLst/>
          </a:prstGeom>
          <a:solidFill>
            <a:srgbClr val="FFFFFF"/>
          </a:solidFill>
          <a:ln w="7620">
            <a:solidFill>
              <a:srgbClr val="DDE5E8"/>
            </a:solidFill>
            <a:prstDash val="solid"/>
          </a:ln>
        </p:spPr>
      </p:sp>
      <p:sp>
        <p:nvSpPr>
          <p:cNvPr id="25" name="Shape 23"/>
          <p:cNvSpPr/>
          <p:nvPr/>
        </p:nvSpPr>
        <p:spPr>
          <a:xfrm>
            <a:off x="6199632" y="3822192"/>
            <a:ext cx="45720" cy="1719072"/>
          </a:xfrm>
          <a:prstGeom prst="rect">
            <a:avLst/>
          </a:prstGeom>
          <a:solidFill>
            <a:srgbClr val="B17A12"/>
          </a:solidFill>
          <a:ln w="7620">
            <a:solidFill>
              <a:srgbClr val="B17A12"/>
            </a:solidFill>
            <a:prstDash val="solid"/>
          </a:ln>
        </p:spPr>
      </p:sp>
      <p:sp>
        <p:nvSpPr>
          <p:cNvPr id="26" name="Text 24"/>
          <p:cNvSpPr/>
          <p:nvPr/>
        </p:nvSpPr>
        <p:spPr>
          <a:xfrm>
            <a:off x="6400800" y="3986784"/>
            <a:ext cx="5056632" cy="365760"/>
          </a:xfrm>
          <a:prstGeom prst="rect">
            <a:avLst/>
          </a:prstGeom>
          <a:noFill/>
          <a:ln/>
        </p:spPr>
        <p:txBody>
          <a:bodyPr wrap="square" lIns="0" tIns="0" rIns="0" bIns="0" rtlCol="0" anchor="ctr">
            <a:normAutofit/>
          </a:bodyPr>
          <a:lstStyle/>
          <a:p>
            <a:pPr indent="0" marL="0">
              <a:buNone/>
            </a:pPr>
            <a:r>
              <a:rPr lang="en-US" sz="1900" b="1" dirty="0">
                <a:solidFill>
                  <a:srgbClr val="B17A12"/>
                </a:solidFill>
                <a:latin typeface="Microsoft YaHei" pitchFamily="34" charset="0"/>
                <a:ea typeface="Microsoft YaHei" pitchFamily="34" charset="-122"/>
                <a:cs typeface="Microsoft YaHei" pitchFamily="34" charset="-120"/>
              </a:rPr>
              <a:t>04  医嘱核查</a:t>
            </a:r>
            <a:endParaRPr lang="en-US" sz="1900" dirty="0"/>
          </a:p>
        </p:txBody>
      </p:sp>
      <p:sp>
        <p:nvSpPr>
          <p:cNvPr id="27" name="Text 25"/>
          <p:cNvSpPr/>
          <p:nvPr/>
        </p:nvSpPr>
        <p:spPr>
          <a:xfrm>
            <a:off x="6400800" y="4535424"/>
            <a:ext cx="5056632" cy="841248"/>
          </a:xfrm>
          <a:prstGeom prst="rect">
            <a:avLst/>
          </a:prstGeom>
          <a:noFill/>
          <a:ln/>
        </p:spPr>
        <p:txBody>
          <a:bodyPr wrap="square" lIns="0" tIns="0" rIns="0" bIns="0" rtlCol="0" anchor="t">
            <a:normAutofit/>
          </a:bodyPr>
          <a:lstStyle/>
          <a:p>
            <a:pPr indent="0" marL="0">
              <a:buNone/>
            </a:pPr>
            <a:r>
              <a:rPr lang="en-US" sz="1600" dirty="0">
                <a:solidFill>
                  <a:srgbClr val="203038"/>
                </a:solidFill>
                <a:latin typeface="Microsoft YaHei" pitchFamily="34" charset="0"/>
                <a:ea typeface="Microsoft YaHei" pitchFamily="34" charset="-122"/>
                <a:cs typeface="Microsoft YaHei" pitchFamily="34" charset="-120"/>
              </a:rPr>
              <a:t>过敏提示与药物相互作用查询</a:t>
            </a:r>
            <a:endParaRPr lang="en-US" sz="1600" dirty="0"/>
          </a:p>
          <a:p>
            <a:pPr indent="0" marL="0">
              <a:buNone/>
            </a:pPr>
            <a:r>
              <a:rPr lang="en-US" sz="1600" dirty="0">
                <a:solidFill>
                  <a:srgbClr val="203038"/>
                </a:solidFill>
                <a:latin typeface="Microsoft YaHei" pitchFamily="34" charset="0"/>
                <a:ea typeface="Microsoft YaHei" pitchFamily="34" charset="-122"/>
                <a:cs typeface="Microsoft YaHei" pitchFamily="34" charset="-120"/>
              </a:rPr>
              <a:t>显示已核查项及未完成项目</a:t>
            </a:r>
            <a:endParaRPr lang="en-US" sz="1600" dirty="0"/>
          </a:p>
        </p:txBody>
      </p:sp>
      <p:sp>
        <p:nvSpPr>
          <p:cNvPr id="28" name="Text 26"/>
          <p:cNvSpPr/>
          <p:nvPr/>
        </p:nvSpPr>
        <p:spPr>
          <a:xfrm>
            <a:off x="6400800" y="5230368"/>
            <a:ext cx="5047488" cy="219456"/>
          </a:xfrm>
          <a:prstGeom prst="rect">
            <a:avLst/>
          </a:prstGeom>
          <a:noFill/>
          <a:ln/>
        </p:spPr>
        <p:txBody>
          <a:bodyPr wrap="square" lIns="0" tIns="0" rIns="0" bIns="0" rtlCol="0" anchor="ctr">
            <a:normAutofit/>
          </a:bodyPr>
          <a:lstStyle/>
          <a:p>
            <a:pPr indent="0" marL="0">
              <a:buNone/>
            </a:pPr>
            <a:r>
              <a:rPr lang="en-US" sz="1100" dirty="0">
                <a:solidFill>
                  <a:srgbClr val="62727A"/>
                </a:solidFill>
                <a:latin typeface="Microsoft YaHei" pitchFamily="34" charset="0"/>
                <a:ea typeface="Microsoft YaHei" pitchFamily="34" charset="-122"/>
                <a:cs typeface="Microsoft YaHei" pitchFamily="34" charset="-120"/>
              </a:rPr>
              <a:t>POST /api/ai/order-check</a:t>
            </a:r>
            <a:endParaRPr lang="en-US" sz="1100" dirty="0"/>
          </a:p>
        </p:txBody>
      </p:sp>
      <p:sp>
        <p:nvSpPr>
          <p:cNvPr id="29" name="Text 27"/>
          <p:cNvSpPr/>
          <p:nvPr/>
        </p:nvSpPr>
        <p:spPr>
          <a:xfrm>
            <a:off x="521208" y="5852160"/>
            <a:ext cx="11109960" cy="329184"/>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模型准入：仅 3 份服务器模拟问诊；引用、数值或模型响应异常时回退原始记录整理。</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87E80"/>
          </a:solidFill>
          <a:ln w="7620">
            <a:solidFill>
              <a:srgbClr val="087E80"/>
            </a:solidFill>
            <a:prstDash val="solid"/>
          </a:ln>
        </p:spPr>
      </p:sp>
      <p:sp>
        <p:nvSpPr>
          <p:cNvPr id="3" name="Text 1"/>
          <p:cNvSpPr/>
          <p:nvPr/>
        </p:nvSpPr>
        <p:spPr>
          <a:xfrm>
            <a:off x="502920" y="301752"/>
            <a:ext cx="11155680" cy="274320"/>
          </a:xfrm>
          <a:prstGeom prst="rect">
            <a:avLst/>
          </a:prstGeom>
          <a:noFill/>
          <a:ln/>
        </p:spPr>
        <p:txBody>
          <a:bodyPr wrap="square" lIns="0" tIns="0" rIns="0" bIns="0" rtlCol="0" anchor="ctr">
            <a:normAutofit/>
          </a:bodyPr>
          <a:lstStyle/>
          <a:p>
            <a:pPr indent="0" marL="0">
              <a:buNone/>
            </a:pPr>
            <a:r>
              <a:rPr lang="en-US" sz="1100" b="1" dirty="0">
                <a:solidFill>
                  <a:srgbClr val="087E80"/>
                </a:solidFill>
                <a:latin typeface="Microsoft YaHei" pitchFamily="34" charset="0"/>
                <a:ea typeface="Microsoft YaHei" pitchFamily="34" charset="-122"/>
                <a:cs typeface="Microsoft YaHei" pitchFamily="34" charset="-120"/>
              </a:rPr>
              <a:t>03 / 知识库与检索</a:t>
            </a:r>
            <a:endParaRPr lang="en-US" sz="1100" dirty="0"/>
          </a:p>
        </p:txBody>
      </p:sp>
      <p:sp>
        <p:nvSpPr>
          <p:cNvPr id="4" name="Text 2"/>
          <p:cNvSpPr/>
          <p:nvPr/>
        </p:nvSpPr>
        <p:spPr>
          <a:xfrm>
            <a:off x="502920" y="777240"/>
            <a:ext cx="11155680" cy="548640"/>
          </a:xfrm>
          <a:prstGeom prst="rect">
            <a:avLst/>
          </a:prstGeom>
          <a:noFill/>
          <a:ln/>
        </p:spPr>
        <p:txBody>
          <a:bodyPr wrap="square" lIns="0" tIns="0" rIns="0" bIns="0" rtlCol="0" anchor="ctr">
            <a:normAutofit/>
          </a:bodyPr>
          <a:lstStyle/>
          <a:p>
            <a:pPr indent="0" marL="0">
              <a:buNone/>
            </a:pPr>
            <a:r>
              <a:rPr lang="en-US" sz="2900" b="1" dirty="0">
                <a:solidFill>
                  <a:srgbClr val="203038"/>
                </a:solidFill>
                <a:latin typeface="Microsoft YaHei" pitchFamily="34" charset="0"/>
                <a:ea typeface="Microsoft YaHei" pitchFamily="34" charset="-122"/>
                <a:cs typeface="Microsoft YaHei" pitchFamily="34" charset="-120"/>
              </a:rPr>
              <a:t>知识库用于相似病历与相关指南检索</a:t>
            </a:r>
            <a:endParaRPr lang="en-US" sz="2900" dirty="0"/>
          </a:p>
        </p:txBody>
      </p:sp>
      <p:sp>
        <p:nvSpPr>
          <p:cNvPr id="5" name="Text 3"/>
          <p:cNvSpPr/>
          <p:nvPr/>
        </p:nvSpPr>
        <p:spPr>
          <a:xfrm>
            <a:off x="512064" y="1408176"/>
            <a:ext cx="11064240" cy="365760"/>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已落地 RAG 的知识准备与检索环节；页面返回原文片段与来源，不生成知识库回答。</a:t>
            </a:r>
            <a:endParaRPr lang="en-US" sz="1400" dirty="0"/>
          </a:p>
        </p:txBody>
      </p:sp>
      <p:sp>
        <p:nvSpPr>
          <p:cNvPr id="6" name="Shape 4"/>
          <p:cNvSpPr/>
          <p:nvPr/>
        </p:nvSpPr>
        <p:spPr>
          <a:xfrm>
            <a:off x="502920" y="6419088"/>
            <a:ext cx="11155680" cy="0"/>
          </a:xfrm>
          <a:prstGeom prst="line">
            <a:avLst/>
          </a:prstGeom>
          <a:noFill/>
          <a:ln w="12700">
            <a:solidFill>
              <a:srgbClr val="DDE5E8"/>
            </a:solidFill>
            <a:prstDash val="solid"/>
          </a:ln>
        </p:spPr>
      </p:sp>
      <p:sp>
        <p:nvSpPr>
          <p:cNvPr id="7" name="Text 5"/>
          <p:cNvSpPr/>
          <p:nvPr/>
        </p:nvSpPr>
        <p:spPr>
          <a:xfrm>
            <a:off x="502920" y="6510528"/>
            <a:ext cx="9875520" cy="182880"/>
          </a:xfrm>
          <a:prstGeom prst="rect">
            <a:avLst/>
          </a:prstGeom>
          <a:noFill/>
          <a:ln/>
        </p:spPr>
        <p:txBody>
          <a:bodyPr wrap="square" lIns="0" tIns="0" rIns="0" bIns="0" rtlCol="0" anchor="ctr">
            <a:normAutofit/>
          </a:bodyPr>
          <a:lstStyle/>
          <a:p>
            <a:pPr indent="0" marL="0">
              <a:buNone/>
            </a:pPr>
            <a:r>
              <a:rPr lang="en-US" sz="900" dirty="0">
                <a:solidFill>
                  <a:srgbClr val="62727A"/>
                </a:solidFill>
                <a:latin typeface="Microsoft YaHei" pitchFamily="34" charset="0"/>
                <a:ea typeface="Microsoft YaHei" pitchFamily="34" charset="-122"/>
                <a:cs typeface="Microsoft YaHei" pitchFamily="34" charset="-120"/>
              </a:rPr>
              <a:t>个人工作汇报  /  临床 AI 与知识工程  /  非商业课程设计</a:t>
            </a:r>
            <a:endParaRPr lang="en-US" sz="900" dirty="0"/>
          </a:p>
        </p:txBody>
      </p:sp>
      <p:sp>
        <p:nvSpPr>
          <p:cNvPr id="8" name="Text 6"/>
          <p:cNvSpPr/>
          <p:nvPr/>
        </p:nvSpPr>
        <p:spPr>
          <a:xfrm>
            <a:off x="10652760" y="6483096"/>
            <a:ext cx="1005840" cy="228600"/>
          </a:xfrm>
          <a:prstGeom prst="rect">
            <a:avLst/>
          </a:prstGeom>
          <a:noFill/>
          <a:ln/>
        </p:spPr>
        <p:txBody>
          <a:bodyPr wrap="square" lIns="0" tIns="0" rIns="0" bIns="0" rtlCol="0" anchor="ctr">
            <a:normAutofit/>
          </a:bodyPr>
          <a:lstStyle/>
          <a:p>
            <a:pPr algn="r" indent="0" marL="0">
              <a:buNone/>
            </a:pPr>
            <a:r>
              <a:rPr lang="en-US" sz="1000" dirty="0">
                <a:solidFill>
                  <a:srgbClr val="62727A"/>
                </a:solidFill>
                <a:latin typeface="Microsoft YaHei" pitchFamily="34" charset="0"/>
                <a:ea typeface="Microsoft YaHei" pitchFamily="34" charset="-122"/>
                <a:cs typeface="Microsoft YaHei" pitchFamily="34" charset="-120"/>
              </a:rPr>
              <a:t>04 / 06</a:t>
            </a:r>
            <a:endParaRPr lang="en-US" sz="1000" dirty="0"/>
          </a:p>
        </p:txBody>
      </p:sp>
      <p:sp>
        <p:nvSpPr>
          <p:cNvPr id="9" name="Shape 7"/>
          <p:cNvSpPr/>
          <p:nvPr/>
        </p:nvSpPr>
        <p:spPr>
          <a:xfrm>
            <a:off x="502920" y="1938528"/>
            <a:ext cx="3557016" cy="1709928"/>
          </a:xfrm>
          <a:prstGeom prst="rect">
            <a:avLst/>
          </a:prstGeom>
          <a:solidFill>
            <a:srgbClr val="FFFFFF"/>
          </a:solidFill>
          <a:ln w="7620">
            <a:solidFill>
              <a:srgbClr val="DDE5E8"/>
            </a:solidFill>
            <a:prstDash val="solid"/>
          </a:ln>
        </p:spPr>
      </p:sp>
      <p:sp>
        <p:nvSpPr>
          <p:cNvPr id="10" name="Shape 8"/>
          <p:cNvSpPr/>
          <p:nvPr/>
        </p:nvSpPr>
        <p:spPr>
          <a:xfrm>
            <a:off x="502920" y="1938528"/>
            <a:ext cx="45720" cy="1709928"/>
          </a:xfrm>
          <a:prstGeom prst="rect">
            <a:avLst/>
          </a:prstGeom>
          <a:solidFill>
            <a:srgbClr val="087E80"/>
          </a:solidFill>
          <a:ln w="7620">
            <a:solidFill>
              <a:srgbClr val="087E80"/>
            </a:solidFill>
            <a:prstDash val="solid"/>
          </a:ln>
        </p:spPr>
      </p:sp>
      <p:sp>
        <p:nvSpPr>
          <p:cNvPr id="11" name="Text 9"/>
          <p:cNvSpPr/>
          <p:nvPr/>
        </p:nvSpPr>
        <p:spPr>
          <a:xfrm>
            <a:off x="704088" y="2103120"/>
            <a:ext cx="3154680" cy="365760"/>
          </a:xfrm>
          <a:prstGeom prst="rect">
            <a:avLst/>
          </a:prstGeom>
          <a:noFill/>
          <a:ln/>
        </p:spPr>
        <p:txBody>
          <a:bodyPr wrap="square" lIns="0" tIns="0" rIns="0" bIns="0" rtlCol="0" anchor="ctr">
            <a:normAutofit/>
          </a:bodyPr>
          <a:lstStyle/>
          <a:p>
            <a:pPr indent="0" marL="0">
              <a:buNone/>
            </a:pPr>
            <a:r>
              <a:rPr lang="en-US" sz="1900" b="1" dirty="0">
                <a:solidFill>
                  <a:srgbClr val="087E80"/>
                </a:solidFill>
                <a:latin typeface="Microsoft YaHei" pitchFamily="34" charset="0"/>
                <a:ea typeface="Microsoft YaHei" pitchFamily="34" charset="-122"/>
                <a:cs typeface="Microsoft YaHei" pitchFamily="34" charset="-120"/>
              </a:rPr>
              <a:t>01  解析与分块</a:t>
            </a:r>
            <a:endParaRPr lang="en-US" sz="1900" dirty="0"/>
          </a:p>
        </p:txBody>
      </p:sp>
      <p:sp>
        <p:nvSpPr>
          <p:cNvPr id="12" name="Text 10"/>
          <p:cNvSpPr/>
          <p:nvPr/>
        </p:nvSpPr>
        <p:spPr>
          <a:xfrm>
            <a:off x="704088" y="2651760"/>
            <a:ext cx="3154680" cy="832104"/>
          </a:xfrm>
          <a:prstGeom prst="rect">
            <a:avLst/>
          </a:prstGeom>
          <a:noFill/>
          <a:ln/>
        </p:spPr>
        <p:txBody>
          <a:bodyPr wrap="square" lIns="0" tIns="0" rIns="0" bIns="0" rtlCol="0" anchor="t">
            <a:normAutofit/>
          </a:bodyPr>
          <a:lstStyle/>
          <a:p>
            <a:pPr indent="0" marL="0">
              <a:buNone/>
            </a:pPr>
            <a:r>
              <a:rPr lang="en-US" sz="1500" dirty="0">
                <a:solidFill>
                  <a:srgbClr val="203038"/>
                </a:solidFill>
                <a:latin typeface="Microsoft YaHei" pitchFamily="34" charset="0"/>
                <a:ea typeface="Microsoft YaHei" pitchFamily="34" charset="-122"/>
                <a:cs typeface="Microsoft YaHei" pitchFamily="34" charset="-120"/>
              </a:rPr>
              <a:t>PPTX / PDF / DOCX / FHIR JSON</a:t>
            </a:r>
            <a:endParaRPr lang="en-US" sz="1500" dirty="0"/>
          </a:p>
          <a:p>
            <a:pPr indent="0" marL="0">
              <a:buNone/>
            </a:pPr>
            <a:r>
              <a:rPr lang="en-US" sz="1500" dirty="0">
                <a:solidFill>
                  <a:srgbClr val="203038"/>
                </a:solidFill>
                <a:latin typeface="Microsoft YaHei" pitchFamily="34" charset="0"/>
                <a:ea typeface="Microsoft YaHei" pitchFamily="34" charset="-122"/>
                <a:cs typeface="Microsoft YaHei" pitchFamily="34" charset="-120"/>
              </a:rPr>
              <a:t>按页面或临床结构分块</a:t>
            </a:r>
            <a:endParaRPr lang="en-US" sz="1500" dirty="0"/>
          </a:p>
        </p:txBody>
      </p:sp>
      <p:sp>
        <p:nvSpPr>
          <p:cNvPr id="13" name="Text 11"/>
          <p:cNvSpPr/>
          <p:nvPr/>
        </p:nvSpPr>
        <p:spPr>
          <a:xfrm>
            <a:off x="4069080" y="2404872"/>
            <a:ext cx="210312" cy="402336"/>
          </a:xfrm>
          <a:prstGeom prst="rect">
            <a:avLst/>
          </a:prstGeom>
          <a:noFill/>
          <a:ln/>
        </p:spPr>
        <p:txBody>
          <a:bodyPr wrap="square" lIns="0" tIns="0" rIns="0" bIns="0" rtlCol="0" anchor="ctr">
            <a:normAutofit/>
          </a:bodyPr>
          <a:lstStyle/>
          <a:p>
            <a:pPr indent="0" marL="0">
              <a:buNone/>
            </a:pPr>
            <a:r>
              <a:rPr lang="en-US" sz="2000" dirty="0">
                <a:solidFill>
                  <a:srgbClr val="A8B5BD"/>
                </a:solidFill>
                <a:latin typeface="Microsoft YaHei" pitchFamily="34" charset="0"/>
                <a:ea typeface="Microsoft YaHei" pitchFamily="34" charset="-122"/>
                <a:cs typeface="Microsoft YaHei" pitchFamily="34" charset="-120"/>
              </a:rPr>
              <a:t>→</a:t>
            </a:r>
            <a:endParaRPr lang="en-US" sz="2000" dirty="0"/>
          </a:p>
        </p:txBody>
      </p:sp>
      <p:sp>
        <p:nvSpPr>
          <p:cNvPr id="14" name="Shape 12"/>
          <p:cNvSpPr/>
          <p:nvPr/>
        </p:nvSpPr>
        <p:spPr>
          <a:xfrm>
            <a:off x="4297680" y="1938528"/>
            <a:ext cx="3557016" cy="1709928"/>
          </a:xfrm>
          <a:prstGeom prst="rect">
            <a:avLst/>
          </a:prstGeom>
          <a:solidFill>
            <a:srgbClr val="FFFFFF"/>
          </a:solidFill>
          <a:ln w="7620">
            <a:solidFill>
              <a:srgbClr val="DDE5E8"/>
            </a:solidFill>
            <a:prstDash val="solid"/>
          </a:ln>
        </p:spPr>
      </p:sp>
      <p:sp>
        <p:nvSpPr>
          <p:cNvPr id="15" name="Shape 13"/>
          <p:cNvSpPr/>
          <p:nvPr/>
        </p:nvSpPr>
        <p:spPr>
          <a:xfrm>
            <a:off x="4297680" y="1938528"/>
            <a:ext cx="45720" cy="1709928"/>
          </a:xfrm>
          <a:prstGeom prst="rect">
            <a:avLst/>
          </a:prstGeom>
          <a:solidFill>
            <a:srgbClr val="487B9C"/>
          </a:solidFill>
          <a:ln w="7620">
            <a:solidFill>
              <a:srgbClr val="487B9C"/>
            </a:solidFill>
            <a:prstDash val="solid"/>
          </a:ln>
        </p:spPr>
      </p:sp>
      <p:sp>
        <p:nvSpPr>
          <p:cNvPr id="16" name="Text 14"/>
          <p:cNvSpPr/>
          <p:nvPr/>
        </p:nvSpPr>
        <p:spPr>
          <a:xfrm>
            <a:off x="4498848" y="2103120"/>
            <a:ext cx="3154680" cy="365760"/>
          </a:xfrm>
          <a:prstGeom prst="rect">
            <a:avLst/>
          </a:prstGeom>
          <a:noFill/>
          <a:ln/>
        </p:spPr>
        <p:txBody>
          <a:bodyPr wrap="square" lIns="0" tIns="0" rIns="0" bIns="0" rtlCol="0" anchor="ctr">
            <a:normAutofit/>
          </a:bodyPr>
          <a:lstStyle/>
          <a:p>
            <a:pPr indent="0" marL="0">
              <a:buNone/>
            </a:pPr>
            <a:r>
              <a:rPr lang="en-US" sz="1900" b="1" dirty="0">
                <a:solidFill>
                  <a:srgbClr val="487B9C"/>
                </a:solidFill>
                <a:latin typeface="Microsoft YaHei" pitchFamily="34" charset="0"/>
                <a:ea typeface="Microsoft YaHei" pitchFamily="34" charset="-122"/>
                <a:cs typeface="Microsoft YaHei" pitchFamily="34" charset="-120"/>
              </a:rPr>
              <a:t>02  向量与存储</a:t>
            </a:r>
            <a:endParaRPr lang="en-US" sz="1900" dirty="0"/>
          </a:p>
        </p:txBody>
      </p:sp>
      <p:sp>
        <p:nvSpPr>
          <p:cNvPr id="17" name="Text 15"/>
          <p:cNvSpPr/>
          <p:nvPr/>
        </p:nvSpPr>
        <p:spPr>
          <a:xfrm>
            <a:off x="4498848" y="2651760"/>
            <a:ext cx="3154680" cy="832104"/>
          </a:xfrm>
          <a:prstGeom prst="rect">
            <a:avLst/>
          </a:prstGeom>
          <a:noFill/>
          <a:ln/>
        </p:spPr>
        <p:txBody>
          <a:bodyPr wrap="square" lIns="0" tIns="0" rIns="0" bIns="0" rtlCol="0" anchor="t">
            <a:normAutofit/>
          </a:bodyPr>
          <a:lstStyle/>
          <a:p>
            <a:pPr indent="0" marL="0">
              <a:buNone/>
            </a:pPr>
            <a:r>
              <a:rPr lang="en-US" sz="1500" dirty="0">
                <a:solidFill>
                  <a:srgbClr val="203038"/>
                </a:solidFill>
                <a:latin typeface="Microsoft YaHei" pitchFamily="34" charset="0"/>
                <a:ea typeface="Microsoft YaHei" pitchFamily="34" charset="-122"/>
                <a:cs typeface="Microsoft YaHei" pitchFamily="34" charset="-120"/>
              </a:rPr>
              <a:t>1024 维文本向量</a:t>
            </a:r>
            <a:endParaRPr lang="en-US" sz="1500" dirty="0"/>
          </a:p>
          <a:p>
            <a:pPr indent="0" marL="0">
              <a:buNone/>
            </a:pPr>
            <a:r>
              <a:rPr lang="en-US" sz="1500" dirty="0">
                <a:solidFill>
                  <a:srgbClr val="203038"/>
                </a:solidFill>
                <a:latin typeface="Microsoft YaHei" pitchFamily="34" charset="0"/>
                <a:ea typeface="Microsoft YaHei" pitchFamily="34" charset="-122"/>
                <a:cs typeface="Microsoft YaHei" pitchFamily="34" charset="-120"/>
              </a:rPr>
              <a:t>片段、来源及元数据进入 MariaDB</a:t>
            </a:r>
            <a:endParaRPr lang="en-US" sz="1500" dirty="0"/>
          </a:p>
        </p:txBody>
      </p:sp>
      <p:sp>
        <p:nvSpPr>
          <p:cNvPr id="18" name="Text 16"/>
          <p:cNvSpPr/>
          <p:nvPr/>
        </p:nvSpPr>
        <p:spPr>
          <a:xfrm>
            <a:off x="7863840" y="2404872"/>
            <a:ext cx="210312" cy="402336"/>
          </a:xfrm>
          <a:prstGeom prst="rect">
            <a:avLst/>
          </a:prstGeom>
          <a:noFill/>
          <a:ln/>
        </p:spPr>
        <p:txBody>
          <a:bodyPr wrap="square" lIns="0" tIns="0" rIns="0" bIns="0" rtlCol="0" anchor="ctr">
            <a:normAutofit/>
          </a:bodyPr>
          <a:lstStyle/>
          <a:p>
            <a:pPr indent="0" marL="0">
              <a:buNone/>
            </a:pPr>
            <a:r>
              <a:rPr lang="en-US" sz="2000" dirty="0">
                <a:solidFill>
                  <a:srgbClr val="A8B5BD"/>
                </a:solidFill>
                <a:latin typeface="Microsoft YaHei" pitchFamily="34" charset="0"/>
                <a:ea typeface="Microsoft YaHei" pitchFamily="34" charset="-122"/>
                <a:cs typeface="Microsoft YaHei" pitchFamily="34" charset="-120"/>
              </a:rPr>
              <a:t>→</a:t>
            </a:r>
            <a:endParaRPr lang="en-US" sz="2000" dirty="0"/>
          </a:p>
        </p:txBody>
      </p:sp>
      <p:sp>
        <p:nvSpPr>
          <p:cNvPr id="19" name="Shape 17"/>
          <p:cNvSpPr/>
          <p:nvPr/>
        </p:nvSpPr>
        <p:spPr>
          <a:xfrm>
            <a:off x="8092440" y="1938528"/>
            <a:ext cx="3557016" cy="1709928"/>
          </a:xfrm>
          <a:prstGeom prst="rect">
            <a:avLst/>
          </a:prstGeom>
          <a:solidFill>
            <a:srgbClr val="FFFFFF"/>
          </a:solidFill>
          <a:ln w="7620">
            <a:solidFill>
              <a:srgbClr val="DDE5E8"/>
            </a:solidFill>
            <a:prstDash val="solid"/>
          </a:ln>
        </p:spPr>
      </p:sp>
      <p:sp>
        <p:nvSpPr>
          <p:cNvPr id="20" name="Shape 18"/>
          <p:cNvSpPr/>
          <p:nvPr/>
        </p:nvSpPr>
        <p:spPr>
          <a:xfrm>
            <a:off x="8092440" y="1938528"/>
            <a:ext cx="45720" cy="1709928"/>
          </a:xfrm>
          <a:prstGeom prst="rect">
            <a:avLst/>
          </a:prstGeom>
          <a:solidFill>
            <a:srgbClr val="087E80"/>
          </a:solidFill>
          <a:ln w="7620">
            <a:solidFill>
              <a:srgbClr val="087E80"/>
            </a:solidFill>
            <a:prstDash val="solid"/>
          </a:ln>
        </p:spPr>
      </p:sp>
      <p:sp>
        <p:nvSpPr>
          <p:cNvPr id="21" name="Text 19"/>
          <p:cNvSpPr/>
          <p:nvPr/>
        </p:nvSpPr>
        <p:spPr>
          <a:xfrm>
            <a:off x="8293608" y="2103120"/>
            <a:ext cx="3154680" cy="365760"/>
          </a:xfrm>
          <a:prstGeom prst="rect">
            <a:avLst/>
          </a:prstGeom>
          <a:noFill/>
          <a:ln/>
        </p:spPr>
        <p:txBody>
          <a:bodyPr wrap="square" lIns="0" tIns="0" rIns="0" bIns="0" rtlCol="0" anchor="ctr">
            <a:normAutofit/>
          </a:bodyPr>
          <a:lstStyle/>
          <a:p>
            <a:pPr indent="0" marL="0">
              <a:buNone/>
            </a:pPr>
            <a:r>
              <a:rPr lang="en-US" sz="1900" b="1" dirty="0">
                <a:solidFill>
                  <a:srgbClr val="087E80"/>
                </a:solidFill>
                <a:latin typeface="Microsoft YaHei" pitchFamily="34" charset="0"/>
                <a:ea typeface="Microsoft YaHei" pitchFamily="34" charset="-122"/>
                <a:cs typeface="Microsoft YaHei" pitchFamily="34" charset="-120"/>
              </a:rPr>
              <a:t>03  查询与溯源</a:t>
            </a:r>
            <a:endParaRPr lang="en-US" sz="1900" dirty="0"/>
          </a:p>
        </p:txBody>
      </p:sp>
      <p:sp>
        <p:nvSpPr>
          <p:cNvPr id="22" name="Text 20"/>
          <p:cNvSpPr/>
          <p:nvPr/>
        </p:nvSpPr>
        <p:spPr>
          <a:xfrm>
            <a:off x="8293608" y="2651760"/>
            <a:ext cx="3154680" cy="832104"/>
          </a:xfrm>
          <a:prstGeom prst="rect">
            <a:avLst/>
          </a:prstGeom>
          <a:noFill/>
          <a:ln/>
        </p:spPr>
        <p:txBody>
          <a:bodyPr wrap="square" lIns="0" tIns="0" rIns="0" bIns="0" rtlCol="0" anchor="t">
            <a:normAutofit/>
          </a:bodyPr>
          <a:lstStyle/>
          <a:p>
            <a:pPr indent="0" marL="0">
              <a:buNone/>
            </a:pPr>
            <a:r>
              <a:rPr lang="en-US" sz="1500" dirty="0">
                <a:solidFill>
                  <a:srgbClr val="203038"/>
                </a:solidFill>
                <a:latin typeface="Microsoft YaHei" pitchFamily="34" charset="0"/>
                <a:ea typeface="Microsoft YaHei" pitchFamily="34" charset="-122"/>
                <a:cs typeface="Microsoft YaHei" pitchFamily="34" charset="-120"/>
              </a:rPr>
              <a:t>查询嵌入 + 余弦排序 + 文档去重</a:t>
            </a:r>
            <a:endParaRPr lang="en-US" sz="1500" dirty="0"/>
          </a:p>
          <a:p>
            <a:pPr indent="0" marL="0">
              <a:buNone/>
            </a:pPr>
            <a:r>
              <a:rPr lang="en-US" sz="1500" dirty="0">
                <a:solidFill>
                  <a:srgbClr val="203038"/>
                </a:solidFill>
                <a:latin typeface="Microsoft YaHei" pitchFamily="34" charset="0"/>
                <a:ea typeface="Microsoft YaHei" pitchFamily="34" charset="-122"/>
                <a:cs typeface="Microsoft YaHei" pitchFamily="34" charset="-120"/>
              </a:rPr>
              <a:t>指南词项筛选，保留页码与链接</a:t>
            </a:r>
            <a:endParaRPr lang="en-US" sz="1500" dirty="0"/>
          </a:p>
        </p:txBody>
      </p:sp>
      <p:sp>
        <p:nvSpPr>
          <p:cNvPr id="23" name="Shape 21"/>
          <p:cNvSpPr/>
          <p:nvPr/>
        </p:nvSpPr>
        <p:spPr>
          <a:xfrm>
            <a:off x="502920" y="3858768"/>
            <a:ext cx="11155680" cy="484632"/>
          </a:xfrm>
          <a:prstGeom prst="rect">
            <a:avLst/>
          </a:prstGeom>
          <a:solidFill>
            <a:srgbClr val="203038"/>
          </a:solidFill>
          <a:ln w="7620">
            <a:solidFill>
              <a:srgbClr val="203038"/>
            </a:solidFill>
            <a:prstDash val="solid"/>
          </a:ln>
        </p:spPr>
      </p:sp>
      <p:sp>
        <p:nvSpPr>
          <p:cNvPr id="24" name="Text 22"/>
          <p:cNvSpPr/>
          <p:nvPr/>
        </p:nvSpPr>
        <p:spPr>
          <a:xfrm>
            <a:off x="713232" y="3858768"/>
            <a:ext cx="10716768" cy="484632"/>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Microsoft YaHei" pitchFamily="34" charset="0"/>
                <a:ea typeface="Microsoft YaHei" pitchFamily="34" charset="-122"/>
                <a:cs typeface="Microsoft YaHei" pitchFamily="34" charset="-120"/>
              </a:rPr>
              <a:t>Similar Records  →  最多 5 个模拟病例  +  2 条 Related Guidance 指南片段</a:t>
            </a:r>
            <a:endParaRPr lang="en-US" sz="1700" dirty="0"/>
          </a:p>
        </p:txBody>
      </p:sp>
      <p:sp>
        <p:nvSpPr>
          <p:cNvPr id="25" name="Text 23"/>
          <p:cNvSpPr/>
          <p:nvPr/>
        </p:nvSpPr>
        <p:spPr>
          <a:xfrm>
            <a:off x="548640" y="4590288"/>
            <a:ext cx="3383280" cy="566928"/>
          </a:xfrm>
          <a:prstGeom prst="rect">
            <a:avLst/>
          </a:prstGeom>
          <a:noFill/>
          <a:ln/>
        </p:spPr>
        <p:txBody>
          <a:bodyPr wrap="square" lIns="0" tIns="0" rIns="0" bIns="0" rtlCol="0" anchor="ctr">
            <a:normAutofit/>
          </a:bodyPr>
          <a:lstStyle/>
          <a:p>
            <a:pPr indent="0" marL="0">
              <a:buNone/>
            </a:pPr>
            <a:r>
              <a:rPr lang="en-US" sz="3300" b="1" dirty="0">
                <a:solidFill>
                  <a:srgbClr val="087E80"/>
                </a:solidFill>
                <a:latin typeface="Microsoft YaHei" pitchFamily="34" charset="0"/>
                <a:ea typeface="Microsoft YaHei" pitchFamily="34" charset="-122"/>
                <a:cs typeface="Microsoft YaHei" pitchFamily="34" charset="-120"/>
              </a:rPr>
              <a:t>17 / 848</a:t>
            </a:r>
            <a:endParaRPr lang="en-US" sz="3300" dirty="0"/>
          </a:p>
        </p:txBody>
      </p:sp>
      <p:sp>
        <p:nvSpPr>
          <p:cNvPr id="26" name="Text 24"/>
          <p:cNvSpPr/>
          <p:nvPr/>
        </p:nvSpPr>
        <p:spPr>
          <a:xfrm>
            <a:off x="548640" y="5230368"/>
            <a:ext cx="3383280" cy="384048"/>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当前知识文档 / 片段</a:t>
            </a:r>
            <a:endParaRPr lang="en-US" sz="1400" dirty="0"/>
          </a:p>
        </p:txBody>
      </p:sp>
      <p:sp>
        <p:nvSpPr>
          <p:cNvPr id="27" name="Text 25"/>
          <p:cNvSpPr/>
          <p:nvPr/>
        </p:nvSpPr>
        <p:spPr>
          <a:xfrm>
            <a:off x="548640" y="5687568"/>
            <a:ext cx="3429000" cy="457200"/>
          </a:xfrm>
          <a:prstGeom prst="rect">
            <a:avLst/>
          </a:prstGeom>
          <a:noFill/>
          <a:ln/>
        </p:spPr>
        <p:txBody>
          <a:bodyPr wrap="square" lIns="0" tIns="0" rIns="0" bIns="0" rtlCol="0" anchor="t">
            <a:normAutofit/>
          </a:bodyPr>
          <a:lstStyle/>
          <a:p>
            <a:pPr indent="0" marL="0">
              <a:buNone/>
            </a:pPr>
            <a:r>
              <a:rPr lang="en-US" sz="1200" dirty="0">
                <a:solidFill>
                  <a:srgbClr val="62727A"/>
                </a:solidFill>
                <a:latin typeface="Microsoft YaHei" pitchFamily="34" charset="0"/>
                <a:ea typeface="Microsoft YaHei" pitchFamily="34" charset="-122"/>
                <a:cs typeface="Microsoft YaHei" pitchFamily="34" charset="-120"/>
              </a:rPr>
              <a:t>3 份项目资料 + 6 份指南类资料</a:t>
            </a:r>
            <a:endParaRPr lang="en-US" sz="1200" dirty="0"/>
          </a:p>
          <a:p>
            <a:pPr indent="0" marL="0">
              <a:buNone/>
            </a:pPr>
            <a:r>
              <a:rPr lang="en-US" sz="1200" dirty="0">
                <a:solidFill>
                  <a:srgbClr val="62727A"/>
                </a:solidFill>
                <a:latin typeface="Microsoft YaHei" pitchFamily="34" charset="0"/>
                <a:ea typeface="Microsoft YaHei" pitchFamily="34" charset="-122"/>
                <a:cs typeface="Microsoft YaHei" pitchFamily="34" charset="-120"/>
              </a:rPr>
              <a:t>8 份 Synthea 老年模拟病例</a:t>
            </a:r>
            <a:endParaRPr lang="en-US" sz="1200" dirty="0"/>
          </a:p>
        </p:txBody>
      </p:sp>
      <p:sp>
        <p:nvSpPr>
          <p:cNvPr id="28" name="Text 26"/>
          <p:cNvSpPr/>
          <p:nvPr/>
        </p:nvSpPr>
        <p:spPr>
          <a:xfrm>
            <a:off x="4160520" y="4590288"/>
            <a:ext cx="3246120" cy="301752"/>
          </a:xfrm>
          <a:prstGeom prst="rect">
            <a:avLst/>
          </a:prstGeom>
          <a:noFill/>
          <a:ln/>
        </p:spPr>
        <p:txBody>
          <a:bodyPr wrap="square" lIns="0" tIns="0" rIns="0" bIns="0" rtlCol="0" anchor="ctr">
            <a:normAutofit/>
          </a:bodyPr>
          <a:lstStyle/>
          <a:p>
            <a:pPr indent="0" marL="0">
              <a:buNone/>
            </a:pPr>
            <a:r>
              <a:rPr lang="en-US" sz="1800" b="1" dirty="0">
                <a:solidFill>
                  <a:srgbClr val="087E80"/>
                </a:solidFill>
                <a:latin typeface="Microsoft YaHei" pitchFamily="34" charset="0"/>
                <a:ea typeface="Microsoft YaHei" pitchFamily="34" charset="-122"/>
                <a:cs typeface="Microsoft YaHei" pitchFamily="34" charset="-120"/>
              </a:rPr>
              <a:t>来源管理</a:t>
            </a:r>
            <a:endParaRPr lang="en-US" sz="1800" dirty="0"/>
          </a:p>
        </p:txBody>
      </p:sp>
      <p:sp>
        <p:nvSpPr>
          <p:cNvPr id="29" name="Text 27"/>
          <p:cNvSpPr/>
          <p:nvPr/>
        </p:nvSpPr>
        <p:spPr>
          <a:xfrm>
            <a:off x="4160520" y="5047488"/>
            <a:ext cx="3392424" cy="950976"/>
          </a:xfrm>
          <a:prstGeom prst="rect">
            <a:avLst/>
          </a:prstGeom>
          <a:noFill/>
          <a:ln/>
        </p:spPr>
        <p:txBody>
          <a:bodyPr wrap="square" lIns="0" tIns="0" rIns="0" bIns="0" rtlCol="0" anchor="t">
            <a:normAutofit/>
          </a:bodyPr>
          <a:lstStyle/>
          <a:p>
            <a:pPr indent="0" marL="0">
              <a:buNone/>
            </a:pPr>
            <a:r>
              <a:rPr lang="en-US" sz="1500" dirty="0">
                <a:solidFill>
                  <a:srgbClr val="62727A"/>
                </a:solidFill>
                <a:latin typeface="Microsoft YaHei" pitchFamily="34" charset="0"/>
                <a:ea typeface="Microsoft YaHei" pitchFamily="34" charset="-122"/>
                <a:cs typeface="Microsoft YaHei" pitchFamily="34" charset="-120"/>
              </a:rPr>
              <a:t>国家卫健委：饮食与随访资料</a:t>
            </a:r>
            <a:endParaRPr lang="en-US" sz="1500" dirty="0"/>
          </a:p>
          <a:p>
            <a:pPr indent="0" marL="0">
              <a:buNone/>
            </a:pPr>
            <a:r>
              <a:rPr lang="en-US" sz="1500" dirty="0">
                <a:solidFill>
                  <a:srgbClr val="62727A"/>
                </a:solidFill>
                <a:latin typeface="Microsoft YaHei" pitchFamily="34" charset="0"/>
                <a:ea typeface="Microsoft YaHei" pitchFamily="34" charset="-122"/>
                <a:cs typeface="Microsoft YaHei" pitchFamily="34" charset="-120"/>
              </a:rPr>
              <a:t>WHO：高血压、老年整合照护</a:t>
            </a:r>
            <a:endParaRPr lang="en-US" sz="1500" dirty="0"/>
          </a:p>
          <a:p>
            <a:pPr indent="0" marL="0">
              <a:buNone/>
            </a:pPr>
            <a:r>
              <a:rPr lang="en-US" sz="1500" dirty="0">
                <a:solidFill>
                  <a:srgbClr val="62727A"/>
                </a:solidFill>
                <a:latin typeface="Microsoft YaHei" pitchFamily="34" charset="0"/>
                <a:ea typeface="Microsoft YaHei" pitchFamily="34" charset="-122"/>
                <a:cs typeface="Microsoft YaHei" pitchFamily="34" charset="-120"/>
              </a:rPr>
              <a:t>CDC STEADI：跌倒预防</a:t>
            </a:r>
            <a:endParaRPr lang="en-US" sz="1500" dirty="0"/>
          </a:p>
        </p:txBody>
      </p:sp>
      <p:sp>
        <p:nvSpPr>
          <p:cNvPr id="30" name="Text 28"/>
          <p:cNvSpPr/>
          <p:nvPr/>
        </p:nvSpPr>
        <p:spPr>
          <a:xfrm>
            <a:off x="8028432" y="4590288"/>
            <a:ext cx="3291840" cy="301752"/>
          </a:xfrm>
          <a:prstGeom prst="rect">
            <a:avLst/>
          </a:prstGeom>
          <a:noFill/>
          <a:ln/>
        </p:spPr>
        <p:txBody>
          <a:bodyPr wrap="square" lIns="0" tIns="0" rIns="0" bIns="0" rtlCol="0" anchor="ctr">
            <a:normAutofit/>
          </a:bodyPr>
          <a:lstStyle/>
          <a:p>
            <a:pPr indent="0" marL="0">
              <a:buNone/>
            </a:pPr>
            <a:r>
              <a:rPr lang="en-US" sz="1800" b="1" dirty="0">
                <a:solidFill>
                  <a:srgbClr val="487B9C"/>
                </a:solidFill>
                <a:latin typeface="Microsoft YaHei" pitchFamily="34" charset="0"/>
                <a:ea typeface="Microsoft YaHei" pitchFamily="34" charset="-122"/>
                <a:cs typeface="Microsoft YaHei" pitchFamily="34" charset="-120"/>
              </a:rPr>
              <a:t>可靠性控制</a:t>
            </a:r>
            <a:endParaRPr lang="en-US" sz="1800" dirty="0"/>
          </a:p>
        </p:txBody>
      </p:sp>
      <p:sp>
        <p:nvSpPr>
          <p:cNvPr id="31" name="Text 29"/>
          <p:cNvSpPr/>
          <p:nvPr/>
        </p:nvSpPr>
        <p:spPr>
          <a:xfrm>
            <a:off x="8028432" y="5047488"/>
            <a:ext cx="3429000" cy="950976"/>
          </a:xfrm>
          <a:prstGeom prst="rect">
            <a:avLst/>
          </a:prstGeom>
          <a:noFill/>
          <a:ln/>
        </p:spPr>
        <p:txBody>
          <a:bodyPr wrap="square" lIns="0" tIns="0" rIns="0" bIns="0" rtlCol="0" anchor="t">
            <a:normAutofit/>
          </a:bodyPr>
          <a:lstStyle/>
          <a:p>
            <a:pPr indent="0" marL="0">
              <a:buNone/>
            </a:pPr>
            <a:r>
              <a:rPr lang="en-US" sz="1500" dirty="0">
                <a:solidFill>
                  <a:srgbClr val="62727A"/>
                </a:solidFill>
                <a:latin typeface="Microsoft YaHei" pitchFamily="34" charset="0"/>
                <a:ea typeface="Microsoft YaHei" pitchFamily="34" charset="-122"/>
                <a:cs typeface="Microsoft YaHei" pitchFamily="34" charset="-120"/>
              </a:rPr>
              <a:t>导入检查点与失败恢复</a:t>
            </a:r>
            <a:endParaRPr lang="en-US" sz="1500" dirty="0"/>
          </a:p>
          <a:p>
            <a:pPr indent="0" marL="0">
              <a:buNone/>
            </a:pPr>
            <a:r>
              <a:rPr lang="en-US" sz="1500" dirty="0">
                <a:solidFill>
                  <a:srgbClr val="62727A"/>
                </a:solidFill>
                <a:latin typeface="Microsoft YaHei" pitchFamily="34" charset="0"/>
                <a:ea typeface="Microsoft YaHei" pitchFamily="34" charset="-122"/>
                <a:cs typeface="Microsoft YaHei" pitchFamily="34" charset="-120"/>
              </a:rPr>
              <a:t>中英文检索与患者资料隔离</a:t>
            </a:r>
            <a:endParaRPr lang="en-US" sz="1500" dirty="0"/>
          </a:p>
          <a:p>
            <a:pPr indent="0" marL="0">
              <a:buNone/>
            </a:pPr>
            <a:r>
              <a:rPr lang="en-US" sz="1500" dirty="0">
                <a:solidFill>
                  <a:srgbClr val="62727A"/>
                </a:solidFill>
                <a:latin typeface="Microsoft YaHei" pitchFamily="34" charset="0"/>
                <a:ea typeface="Microsoft YaHei" pitchFamily="34" charset="-122"/>
                <a:cs typeface="Microsoft YaHei" pitchFamily="34" charset="-120"/>
              </a:rPr>
              <a:t>保留发布者、页码、版本和许可</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87E80"/>
          </a:solidFill>
          <a:ln w="7620">
            <a:solidFill>
              <a:srgbClr val="087E80"/>
            </a:solidFill>
            <a:prstDash val="solid"/>
          </a:ln>
        </p:spPr>
      </p:sp>
      <p:sp>
        <p:nvSpPr>
          <p:cNvPr id="3" name="Text 1"/>
          <p:cNvSpPr/>
          <p:nvPr/>
        </p:nvSpPr>
        <p:spPr>
          <a:xfrm>
            <a:off x="502920" y="301752"/>
            <a:ext cx="11155680" cy="274320"/>
          </a:xfrm>
          <a:prstGeom prst="rect">
            <a:avLst/>
          </a:prstGeom>
          <a:noFill/>
          <a:ln/>
        </p:spPr>
        <p:txBody>
          <a:bodyPr wrap="square" lIns="0" tIns="0" rIns="0" bIns="0" rtlCol="0" anchor="ctr">
            <a:normAutofit/>
          </a:bodyPr>
          <a:lstStyle/>
          <a:p>
            <a:pPr indent="0" marL="0">
              <a:buNone/>
            </a:pPr>
            <a:r>
              <a:rPr lang="en-US" sz="1100" b="1" dirty="0">
                <a:solidFill>
                  <a:srgbClr val="087E80"/>
                </a:solidFill>
                <a:latin typeface="Microsoft YaHei" pitchFamily="34" charset="0"/>
                <a:ea typeface="Microsoft YaHei" pitchFamily="34" charset="-122"/>
                <a:cs typeface="Microsoft YaHei" pitchFamily="34" charset="-120"/>
              </a:rPr>
              <a:t>04 / DDInter 与医嘱核查</a:t>
            </a:r>
            <a:endParaRPr lang="en-US" sz="1100" dirty="0"/>
          </a:p>
        </p:txBody>
      </p:sp>
      <p:sp>
        <p:nvSpPr>
          <p:cNvPr id="4" name="Text 2"/>
          <p:cNvSpPr/>
          <p:nvPr/>
        </p:nvSpPr>
        <p:spPr>
          <a:xfrm>
            <a:off x="502920" y="777240"/>
            <a:ext cx="11155680" cy="548640"/>
          </a:xfrm>
          <a:prstGeom prst="rect">
            <a:avLst/>
          </a:prstGeom>
          <a:noFill/>
          <a:ln/>
        </p:spPr>
        <p:txBody>
          <a:bodyPr wrap="square" lIns="0" tIns="0" rIns="0" bIns="0" rtlCol="0" anchor="ctr">
            <a:normAutofit/>
          </a:bodyPr>
          <a:lstStyle/>
          <a:p>
            <a:pPr indent="0" marL="0">
              <a:buNone/>
            </a:pPr>
            <a:r>
              <a:rPr lang="en-US" sz="2900" b="1" dirty="0">
                <a:solidFill>
                  <a:srgbClr val="203038"/>
                </a:solidFill>
                <a:latin typeface="Microsoft YaHei" pitchFamily="34" charset="0"/>
                <a:ea typeface="Microsoft YaHei" pitchFamily="34" charset="-122"/>
                <a:cs typeface="Microsoft YaHei" pitchFamily="34" charset="-120"/>
              </a:rPr>
              <a:t>结构化药物知识，支持可重复的风险查询</a:t>
            </a:r>
            <a:endParaRPr lang="en-US" sz="2900" dirty="0"/>
          </a:p>
        </p:txBody>
      </p:sp>
      <p:sp>
        <p:nvSpPr>
          <p:cNvPr id="5" name="Text 3"/>
          <p:cNvSpPr/>
          <p:nvPr/>
        </p:nvSpPr>
        <p:spPr>
          <a:xfrm>
            <a:off x="512064" y="1408176"/>
            <a:ext cx="11064240" cy="365760"/>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固定上游版本 + SHA-256 校验；按药物对返回等级和机制，不由模型自由推断。</a:t>
            </a:r>
            <a:endParaRPr lang="en-US" sz="1400" dirty="0"/>
          </a:p>
        </p:txBody>
      </p:sp>
      <p:sp>
        <p:nvSpPr>
          <p:cNvPr id="6" name="Shape 4"/>
          <p:cNvSpPr/>
          <p:nvPr/>
        </p:nvSpPr>
        <p:spPr>
          <a:xfrm>
            <a:off x="502920" y="6419088"/>
            <a:ext cx="11155680" cy="0"/>
          </a:xfrm>
          <a:prstGeom prst="line">
            <a:avLst/>
          </a:prstGeom>
          <a:noFill/>
          <a:ln w="12700">
            <a:solidFill>
              <a:srgbClr val="DDE5E8"/>
            </a:solidFill>
            <a:prstDash val="solid"/>
          </a:ln>
        </p:spPr>
      </p:sp>
      <p:sp>
        <p:nvSpPr>
          <p:cNvPr id="7" name="Text 5"/>
          <p:cNvSpPr/>
          <p:nvPr/>
        </p:nvSpPr>
        <p:spPr>
          <a:xfrm>
            <a:off x="502920" y="6510528"/>
            <a:ext cx="9875520" cy="182880"/>
          </a:xfrm>
          <a:prstGeom prst="rect">
            <a:avLst/>
          </a:prstGeom>
          <a:noFill/>
          <a:ln/>
        </p:spPr>
        <p:txBody>
          <a:bodyPr wrap="square" lIns="0" tIns="0" rIns="0" bIns="0" rtlCol="0" anchor="ctr">
            <a:normAutofit/>
          </a:bodyPr>
          <a:lstStyle/>
          <a:p>
            <a:pPr indent="0" marL="0">
              <a:buNone/>
            </a:pPr>
            <a:r>
              <a:rPr lang="en-US" sz="900" dirty="0">
                <a:solidFill>
                  <a:srgbClr val="62727A"/>
                </a:solidFill>
                <a:latin typeface="Microsoft YaHei" pitchFamily="34" charset="0"/>
                <a:ea typeface="Microsoft YaHei" pitchFamily="34" charset="-122"/>
                <a:cs typeface="Microsoft YaHei" pitchFamily="34" charset="-120"/>
              </a:rPr>
              <a:t>个人工作汇报  /  临床 AI 与知识工程  /  非商业课程设计</a:t>
            </a:r>
            <a:endParaRPr lang="en-US" sz="900" dirty="0"/>
          </a:p>
        </p:txBody>
      </p:sp>
      <p:sp>
        <p:nvSpPr>
          <p:cNvPr id="8" name="Text 6"/>
          <p:cNvSpPr/>
          <p:nvPr/>
        </p:nvSpPr>
        <p:spPr>
          <a:xfrm>
            <a:off x="10652760" y="6483096"/>
            <a:ext cx="1005840" cy="228600"/>
          </a:xfrm>
          <a:prstGeom prst="rect">
            <a:avLst/>
          </a:prstGeom>
          <a:noFill/>
          <a:ln/>
        </p:spPr>
        <p:txBody>
          <a:bodyPr wrap="square" lIns="0" tIns="0" rIns="0" bIns="0" rtlCol="0" anchor="ctr">
            <a:normAutofit/>
          </a:bodyPr>
          <a:lstStyle/>
          <a:p>
            <a:pPr algn="r" indent="0" marL="0">
              <a:buNone/>
            </a:pPr>
            <a:r>
              <a:rPr lang="en-US" sz="1000" dirty="0">
                <a:solidFill>
                  <a:srgbClr val="62727A"/>
                </a:solidFill>
                <a:latin typeface="Microsoft YaHei" pitchFamily="34" charset="0"/>
                <a:ea typeface="Microsoft YaHei" pitchFamily="34" charset="-122"/>
                <a:cs typeface="Microsoft YaHei" pitchFamily="34" charset="-120"/>
              </a:rPr>
              <a:t>05 / 06</a:t>
            </a:r>
            <a:endParaRPr lang="en-US" sz="1000" dirty="0"/>
          </a:p>
        </p:txBody>
      </p:sp>
      <p:sp>
        <p:nvSpPr>
          <p:cNvPr id="9" name="Text 7"/>
          <p:cNvSpPr/>
          <p:nvPr/>
        </p:nvSpPr>
        <p:spPr>
          <a:xfrm>
            <a:off x="502920" y="1938528"/>
            <a:ext cx="3291840" cy="566928"/>
          </a:xfrm>
          <a:prstGeom prst="rect">
            <a:avLst/>
          </a:prstGeom>
          <a:noFill/>
          <a:ln/>
        </p:spPr>
        <p:txBody>
          <a:bodyPr wrap="square" lIns="0" tIns="0" rIns="0" bIns="0" rtlCol="0" anchor="ctr">
            <a:normAutofit/>
          </a:bodyPr>
          <a:lstStyle/>
          <a:p>
            <a:pPr indent="0" marL="0">
              <a:buNone/>
            </a:pPr>
            <a:r>
              <a:rPr lang="en-US" sz="3300" b="1" dirty="0">
                <a:solidFill>
                  <a:srgbClr val="087E80"/>
                </a:solidFill>
                <a:latin typeface="Microsoft YaHei" pitchFamily="34" charset="0"/>
                <a:ea typeface="Microsoft YaHei" pitchFamily="34" charset="-122"/>
                <a:cs typeface="Microsoft YaHei" pitchFamily="34" charset="-120"/>
              </a:rPr>
              <a:t>2,283</a:t>
            </a:r>
            <a:endParaRPr lang="en-US" sz="3300" dirty="0"/>
          </a:p>
        </p:txBody>
      </p:sp>
      <p:sp>
        <p:nvSpPr>
          <p:cNvPr id="10" name="Text 8"/>
          <p:cNvSpPr/>
          <p:nvPr/>
        </p:nvSpPr>
        <p:spPr>
          <a:xfrm>
            <a:off x="502920" y="2578608"/>
            <a:ext cx="3291840" cy="384048"/>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药物记录</a:t>
            </a:r>
            <a:endParaRPr lang="en-US" sz="1400" dirty="0"/>
          </a:p>
        </p:txBody>
      </p:sp>
      <p:sp>
        <p:nvSpPr>
          <p:cNvPr id="11" name="Text 9"/>
          <p:cNvSpPr/>
          <p:nvPr/>
        </p:nvSpPr>
        <p:spPr>
          <a:xfrm>
            <a:off x="4251960" y="1938528"/>
            <a:ext cx="3429000" cy="566928"/>
          </a:xfrm>
          <a:prstGeom prst="rect">
            <a:avLst/>
          </a:prstGeom>
          <a:noFill/>
          <a:ln/>
        </p:spPr>
        <p:txBody>
          <a:bodyPr wrap="square" lIns="0" tIns="0" rIns="0" bIns="0" rtlCol="0" anchor="ctr">
            <a:normAutofit/>
          </a:bodyPr>
          <a:lstStyle/>
          <a:p>
            <a:pPr indent="0" marL="0">
              <a:buNone/>
            </a:pPr>
            <a:r>
              <a:rPr lang="en-US" sz="3300" b="1" dirty="0">
                <a:solidFill>
                  <a:srgbClr val="487B9C"/>
                </a:solidFill>
                <a:latin typeface="Microsoft YaHei" pitchFamily="34" charset="0"/>
                <a:ea typeface="Microsoft YaHei" pitchFamily="34" charset="-122"/>
                <a:cs typeface="Microsoft YaHei" pitchFamily="34" charset="-120"/>
              </a:rPr>
              <a:t>295,184</a:t>
            </a:r>
            <a:endParaRPr lang="en-US" sz="3300" dirty="0"/>
          </a:p>
        </p:txBody>
      </p:sp>
      <p:sp>
        <p:nvSpPr>
          <p:cNvPr id="12" name="Text 10"/>
          <p:cNvSpPr/>
          <p:nvPr/>
        </p:nvSpPr>
        <p:spPr>
          <a:xfrm>
            <a:off x="4251960" y="2578608"/>
            <a:ext cx="3429000" cy="384048"/>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唯一相互作用药物对</a:t>
            </a:r>
            <a:endParaRPr lang="en-US" sz="1400" dirty="0"/>
          </a:p>
        </p:txBody>
      </p:sp>
      <p:sp>
        <p:nvSpPr>
          <p:cNvPr id="13" name="Text 11"/>
          <p:cNvSpPr/>
          <p:nvPr/>
        </p:nvSpPr>
        <p:spPr>
          <a:xfrm>
            <a:off x="8257032" y="1938528"/>
            <a:ext cx="3291840" cy="566928"/>
          </a:xfrm>
          <a:prstGeom prst="rect">
            <a:avLst/>
          </a:prstGeom>
          <a:noFill/>
          <a:ln/>
        </p:spPr>
        <p:txBody>
          <a:bodyPr wrap="square" lIns="0" tIns="0" rIns="0" bIns="0" rtlCol="0" anchor="ctr">
            <a:normAutofit/>
          </a:bodyPr>
          <a:lstStyle/>
          <a:p>
            <a:pPr indent="0" marL="0">
              <a:buNone/>
            </a:pPr>
            <a:r>
              <a:rPr lang="en-US" sz="3300" b="1" dirty="0">
                <a:solidFill>
                  <a:srgbClr val="B17A12"/>
                </a:solidFill>
                <a:latin typeface="Microsoft YaHei" pitchFamily="34" charset="0"/>
                <a:ea typeface="Microsoft YaHei" pitchFamily="34" charset="-122"/>
                <a:cs typeface="Microsoft YaHei" pitchFamily="34" charset="-120"/>
              </a:rPr>
              <a:t>8,234</a:t>
            </a:r>
            <a:endParaRPr lang="en-US" sz="3300" dirty="0"/>
          </a:p>
        </p:txBody>
      </p:sp>
      <p:sp>
        <p:nvSpPr>
          <p:cNvPr id="14" name="Text 12"/>
          <p:cNvSpPr/>
          <p:nvPr/>
        </p:nvSpPr>
        <p:spPr>
          <a:xfrm>
            <a:off x="8257032" y="2578608"/>
            <a:ext cx="3291840" cy="384048"/>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机制条目</a:t>
            </a:r>
            <a:endParaRPr lang="en-US" sz="1400" dirty="0"/>
          </a:p>
        </p:txBody>
      </p:sp>
      <p:graphicFrame>
        <p:nvGraphicFramePr>
          <p:cNvPr id="15" name="Chart 0" descr=""/>
          <p:cNvGraphicFramePr/>
          <p:nvPr/>
        </p:nvGraphicFramePr>
        <p:xfrm>
          <a:off x="502920" y="3246120"/>
          <a:ext cx="5696712" cy="2249424"/>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p:nvPr/>
        </p:nvSpPr>
        <p:spPr>
          <a:xfrm>
            <a:off x="6501384" y="3346704"/>
            <a:ext cx="4892040" cy="338328"/>
          </a:xfrm>
          <a:prstGeom prst="rect">
            <a:avLst/>
          </a:prstGeom>
          <a:noFill/>
          <a:ln/>
        </p:spPr>
        <p:txBody>
          <a:bodyPr wrap="square" lIns="0" tIns="0" rIns="0" bIns="0" rtlCol="0" anchor="ctr">
            <a:normAutofit/>
          </a:bodyPr>
          <a:lstStyle/>
          <a:p>
            <a:pPr indent="0" marL="0">
              <a:buNone/>
            </a:pPr>
            <a:r>
              <a:rPr lang="en-US" sz="1900" b="1" dirty="0">
                <a:solidFill>
                  <a:srgbClr val="087E80"/>
                </a:solidFill>
                <a:latin typeface="Microsoft YaHei" pitchFamily="34" charset="0"/>
                <a:ea typeface="Microsoft YaHei" pitchFamily="34" charset="-122"/>
                <a:cs typeface="Microsoft YaHei" pitchFamily="34" charset="-120"/>
              </a:rPr>
              <a:t>已实现核查</a:t>
            </a:r>
            <a:endParaRPr lang="en-US" sz="1900" dirty="0"/>
          </a:p>
        </p:txBody>
      </p:sp>
      <p:sp>
        <p:nvSpPr>
          <p:cNvPr id="17" name="Text 14"/>
          <p:cNvSpPr/>
          <p:nvPr/>
        </p:nvSpPr>
        <p:spPr>
          <a:xfrm>
            <a:off x="6501384" y="3867912"/>
            <a:ext cx="4892040" cy="722376"/>
          </a:xfrm>
          <a:prstGeom prst="rect">
            <a:avLst/>
          </a:prstGeom>
          <a:noFill/>
          <a:ln/>
        </p:spPr>
        <p:txBody>
          <a:bodyPr wrap="square" lIns="0" tIns="0" rIns="0" bIns="0" rtlCol="0" anchor="ctr">
            <a:normAutofit/>
          </a:bodyPr>
          <a:lstStyle/>
          <a:p>
            <a:pPr indent="0" marL="0">
              <a:buNone/>
            </a:pPr>
            <a:r>
              <a:rPr lang="en-US" sz="1600" dirty="0">
                <a:solidFill>
                  <a:srgbClr val="203038"/>
                </a:solidFill>
                <a:latin typeface="Microsoft YaHei" pitchFamily="34" charset="0"/>
                <a:ea typeface="Microsoft YaHei" pitchFamily="34" charset="-122"/>
                <a:cs typeface="Microsoft YaHei" pitchFamily="34" charset="-120"/>
              </a:rPr>
              <a:t>成分解析 → 过敏匹配 → DDInter 查询</a:t>
            </a:r>
            <a:endParaRPr lang="en-US" sz="1600" dirty="0"/>
          </a:p>
          <a:p>
            <a:pPr indent="0" marL="0">
              <a:buNone/>
            </a:pPr>
            <a:r>
              <a:rPr lang="en-US" sz="1600" dirty="0">
                <a:solidFill>
                  <a:srgbClr val="203038"/>
                </a:solidFill>
                <a:latin typeface="Microsoft YaHei" pitchFamily="34" charset="0"/>
                <a:ea typeface="Microsoft YaHei" pitchFamily="34" charset="-122"/>
                <a:cs typeface="Microsoft YaHei" pitchFamily="34" charset="-120"/>
              </a:rPr>
              <a:t>确认在用药清单；未知记录保留缺口</a:t>
            </a:r>
            <a:endParaRPr lang="en-US" sz="1600" dirty="0"/>
          </a:p>
        </p:txBody>
      </p:sp>
      <p:sp>
        <p:nvSpPr>
          <p:cNvPr id="18" name="Text 15"/>
          <p:cNvSpPr/>
          <p:nvPr/>
        </p:nvSpPr>
        <p:spPr>
          <a:xfrm>
            <a:off x="6501384" y="4764024"/>
            <a:ext cx="4892040" cy="301752"/>
          </a:xfrm>
          <a:prstGeom prst="rect">
            <a:avLst/>
          </a:prstGeom>
          <a:noFill/>
          <a:ln/>
        </p:spPr>
        <p:txBody>
          <a:bodyPr wrap="square" lIns="0" tIns="0" rIns="0" bIns="0" rtlCol="0" anchor="ctr">
            <a:normAutofit/>
          </a:bodyPr>
          <a:lstStyle/>
          <a:p>
            <a:pPr indent="0" marL="0">
              <a:buNone/>
            </a:pPr>
            <a:r>
              <a:rPr lang="en-US" sz="1800" b="1" dirty="0">
                <a:solidFill>
                  <a:srgbClr val="B17A12"/>
                </a:solidFill>
                <a:latin typeface="Microsoft YaHei" pitchFamily="34" charset="0"/>
                <a:ea typeface="Microsoft YaHei" pitchFamily="34" charset="-122"/>
                <a:cs typeface="Microsoft YaHei" pitchFamily="34" charset="-120"/>
              </a:rPr>
              <a:t>典型示例</a:t>
            </a:r>
            <a:endParaRPr lang="en-US" sz="1800" dirty="0"/>
          </a:p>
        </p:txBody>
      </p:sp>
      <p:sp>
        <p:nvSpPr>
          <p:cNvPr id="19" name="Text 16"/>
          <p:cNvSpPr/>
          <p:nvPr/>
        </p:nvSpPr>
        <p:spPr>
          <a:xfrm>
            <a:off x="6501384" y="5166360"/>
            <a:ext cx="4956048" cy="685800"/>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Penicillin 过敏 + Amoxicillin：初步过敏提示</a:t>
            </a:r>
            <a:endParaRPr lang="en-US" sz="1400" dirty="0"/>
          </a:p>
          <a:p>
            <a:pPr indent="0" marL="0">
              <a:buNone/>
            </a:pPr>
            <a:r>
              <a:rPr lang="en-US" sz="1400" dirty="0">
                <a:solidFill>
                  <a:srgbClr val="62727A"/>
                </a:solidFill>
                <a:latin typeface="Microsoft YaHei" pitchFamily="34" charset="0"/>
                <a:ea typeface="Microsoft YaHei" pitchFamily="34" charset="-122"/>
                <a:cs typeface="Microsoft YaHei" pitchFamily="34" charset="-120"/>
              </a:rPr>
              <a:t>Metoprolol + Verapamil：Major 相互作用</a:t>
            </a:r>
            <a:endParaRPr lang="en-US" sz="1400" dirty="0"/>
          </a:p>
        </p:txBody>
      </p:sp>
      <p:sp>
        <p:nvSpPr>
          <p:cNvPr id="20" name="Shape 17"/>
          <p:cNvSpPr/>
          <p:nvPr/>
        </p:nvSpPr>
        <p:spPr>
          <a:xfrm>
            <a:off x="502920" y="5952744"/>
            <a:ext cx="11155680" cy="310896"/>
          </a:xfrm>
          <a:prstGeom prst="rect">
            <a:avLst/>
          </a:prstGeom>
          <a:solidFill>
            <a:srgbClr val="FFF4DD"/>
          </a:solidFill>
          <a:ln w="7620">
            <a:solidFill>
              <a:srgbClr val="FFF4DD"/>
            </a:solidFill>
            <a:prstDash val="solid"/>
          </a:ln>
        </p:spPr>
      </p:sp>
      <p:sp>
        <p:nvSpPr>
          <p:cNvPr id="21" name="Text 18"/>
          <p:cNvSpPr/>
          <p:nvPr/>
        </p:nvSpPr>
        <p:spPr>
          <a:xfrm>
            <a:off x="667512" y="5952744"/>
            <a:ext cx="10826496" cy="310896"/>
          </a:xfrm>
          <a:prstGeom prst="rect">
            <a:avLst/>
          </a:prstGeom>
          <a:noFill/>
          <a:ln/>
        </p:spPr>
        <p:txBody>
          <a:bodyPr wrap="square" lIns="0" tIns="0" rIns="0" bIns="0" rtlCol="0" anchor="ctr">
            <a:normAutofit/>
          </a:bodyPr>
          <a:lstStyle/>
          <a:p>
            <a:pPr indent="0" marL="0">
              <a:buNone/>
            </a:pPr>
            <a:r>
              <a:rPr lang="en-US" sz="1200" dirty="0">
                <a:solidFill>
                  <a:srgbClr val="B17A12"/>
                </a:solidFill>
                <a:latin typeface="Microsoft YaHei" pitchFamily="34" charset="0"/>
                <a:ea typeface="Microsoft YaHei" pitchFamily="34" charset="-122"/>
                <a:cs typeface="Microsoft YaHei" pitchFamily="34" charset="-120"/>
              </a:rPr>
              <a:t>边界：完整交叉过敏、产品级 eGFR 剂量与 Beers 尚未补齐；Major 不自动等于绝对禁忌。</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B"/>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87E80"/>
          </a:solidFill>
          <a:ln w="7620">
            <a:solidFill>
              <a:srgbClr val="087E80"/>
            </a:solidFill>
            <a:prstDash val="solid"/>
          </a:ln>
        </p:spPr>
      </p:sp>
      <p:sp>
        <p:nvSpPr>
          <p:cNvPr id="3" name="Text 1"/>
          <p:cNvSpPr/>
          <p:nvPr/>
        </p:nvSpPr>
        <p:spPr>
          <a:xfrm>
            <a:off x="502920" y="301752"/>
            <a:ext cx="11155680" cy="274320"/>
          </a:xfrm>
          <a:prstGeom prst="rect">
            <a:avLst/>
          </a:prstGeom>
          <a:noFill/>
          <a:ln/>
        </p:spPr>
        <p:txBody>
          <a:bodyPr wrap="square" lIns="0" tIns="0" rIns="0" bIns="0" rtlCol="0" anchor="ctr">
            <a:normAutofit/>
          </a:bodyPr>
          <a:lstStyle/>
          <a:p>
            <a:pPr indent="0" marL="0">
              <a:buNone/>
            </a:pPr>
            <a:r>
              <a:rPr lang="en-US" sz="1100" b="1" dirty="0">
                <a:solidFill>
                  <a:srgbClr val="087E80"/>
                </a:solidFill>
                <a:latin typeface="Microsoft YaHei" pitchFamily="34" charset="0"/>
                <a:ea typeface="Microsoft YaHei" pitchFamily="34" charset="-122"/>
                <a:cs typeface="Microsoft YaHei" pitchFamily="34" charset="-120"/>
              </a:rPr>
              <a:t>05 / 检索评测与总结</a:t>
            </a:r>
            <a:endParaRPr lang="en-US" sz="1100" dirty="0"/>
          </a:p>
        </p:txBody>
      </p:sp>
      <p:sp>
        <p:nvSpPr>
          <p:cNvPr id="4" name="Text 2"/>
          <p:cNvSpPr/>
          <p:nvPr/>
        </p:nvSpPr>
        <p:spPr>
          <a:xfrm>
            <a:off x="502920" y="777240"/>
            <a:ext cx="11155680" cy="548640"/>
          </a:xfrm>
          <a:prstGeom prst="rect">
            <a:avLst/>
          </a:prstGeom>
          <a:noFill/>
          <a:ln/>
        </p:spPr>
        <p:txBody>
          <a:bodyPr wrap="square" lIns="0" tIns="0" rIns="0" bIns="0" rtlCol="0" anchor="ctr">
            <a:normAutofit/>
          </a:bodyPr>
          <a:lstStyle/>
          <a:p>
            <a:pPr indent="0" marL="0">
              <a:buNone/>
            </a:pPr>
            <a:r>
              <a:rPr lang="en-US" sz="2900" b="1" dirty="0">
                <a:solidFill>
                  <a:srgbClr val="203038"/>
                </a:solidFill>
                <a:latin typeface="Microsoft YaHei" pitchFamily="34" charset="0"/>
                <a:ea typeface="Microsoft YaHei" pitchFamily="34" charset="-122"/>
                <a:cs typeface="Microsoft YaHei" pitchFamily="34" charset="-120"/>
              </a:rPr>
              <a:t>用检索指标衡量知识服务，不夸大临床能力</a:t>
            </a:r>
            <a:endParaRPr lang="en-US" sz="2900" dirty="0"/>
          </a:p>
        </p:txBody>
      </p:sp>
      <p:sp>
        <p:nvSpPr>
          <p:cNvPr id="5" name="Text 3"/>
          <p:cNvSpPr/>
          <p:nvPr/>
        </p:nvSpPr>
        <p:spPr>
          <a:xfrm>
            <a:off x="512064" y="1408176"/>
            <a:ext cx="11064240" cy="365760"/>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本地评测：2026.09.28 | 29 个已标注检索问题 + 1 个范围外问题 | 既有题集，模型不自评</a:t>
            </a:r>
            <a:endParaRPr lang="en-US" sz="1400" dirty="0"/>
          </a:p>
        </p:txBody>
      </p:sp>
      <p:sp>
        <p:nvSpPr>
          <p:cNvPr id="6" name="Shape 4"/>
          <p:cNvSpPr/>
          <p:nvPr/>
        </p:nvSpPr>
        <p:spPr>
          <a:xfrm>
            <a:off x="502920" y="6419088"/>
            <a:ext cx="11155680" cy="0"/>
          </a:xfrm>
          <a:prstGeom prst="line">
            <a:avLst/>
          </a:prstGeom>
          <a:noFill/>
          <a:ln w="12700">
            <a:solidFill>
              <a:srgbClr val="DDE5E8"/>
            </a:solidFill>
            <a:prstDash val="solid"/>
          </a:ln>
        </p:spPr>
      </p:sp>
      <p:sp>
        <p:nvSpPr>
          <p:cNvPr id="7" name="Text 5"/>
          <p:cNvSpPr/>
          <p:nvPr/>
        </p:nvSpPr>
        <p:spPr>
          <a:xfrm>
            <a:off x="502920" y="6510528"/>
            <a:ext cx="9875520" cy="182880"/>
          </a:xfrm>
          <a:prstGeom prst="rect">
            <a:avLst/>
          </a:prstGeom>
          <a:noFill/>
          <a:ln/>
        </p:spPr>
        <p:txBody>
          <a:bodyPr wrap="square" lIns="0" tIns="0" rIns="0" bIns="0" rtlCol="0" anchor="ctr">
            <a:normAutofit/>
          </a:bodyPr>
          <a:lstStyle/>
          <a:p>
            <a:pPr indent="0" marL="0">
              <a:buNone/>
            </a:pPr>
            <a:r>
              <a:rPr lang="en-US" sz="900" dirty="0">
                <a:solidFill>
                  <a:srgbClr val="62727A"/>
                </a:solidFill>
                <a:latin typeface="Microsoft YaHei" pitchFamily="34" charset="0"/>
                <a:ea typeface="Microsoft YaHei" pitchFamily="34" charset="-122"/>
                <a:cs typeface="Microsoft YaHei" pitchFamily="34" charset="-120"/>
              </a:rPr>
              <a:t>个人工作汇报  /  临床 AI 与知识工程  /  非商业课程设计</a:t>
            </a:r>
            <a:endParaRPr lang="en-US" sz="900" dirty="0"/>
          </a:p>
        </p:txBody>
      </p:sp>
      <p:sp>
        <p:nvSpPr>
          <p:cNvPr id="8" name="Text 6"/>
          <p:cNvSpPr/>
          <p:nvPr/>
        </p:nvSpPr>
        <p:spPr>
          <a:xfrm>
            <a:off x="10652760" y="6483096"/>
            <a:ext cx="1005840" cy="228600"/>
          </a:xfrm>
          <a:prstGeom prst="rect">
            <a:avLst/>
          </a:prstGeom>
          <a:noFill/>
          <a:ln/>
        </p:spPr>
        <p:txBody>
          <a:bodyPr wrap="square" lIns="0" tIns="0" rIns="0" bIns="0" rtlCol="0" anchor="ctr">
            <a:normAutofit/>
          </a:bodyPr>
          <a:lstStyle/>
          <a:p>
            <a:pPr algn="r" indent="0" marL="0">
              <a:buNone/>
            </a:pPr>
            <a:r>
              <a:rPr lang="en-US" sz="1000" dirty="0">
                <a:solidFill>
                  <a:srgbClr val="62727A"/>
                </a:solidFill>
                <a:latin typeface="Microsoft YaHei" pitchFamily="34" charset="0"/>
                <a:ea typeface="Microsoft YaHei" pitchFamily="34" charset="-122"/>
                <a:cs typeface="Microsoft YaHei" pitchFamily="34" charset="-120"/>
              </a:rPr>
              <a:t>06 / 06</a:t>
            </a:r>
            <a:endParaRPr lang="en-US" sz="1000" dirty="0"/>
          </a:p>
        </p:txBody>
      </p:sp>
      <p:graphicFrame>
        <p:nvGraphicFramePr>
          <p:cNvPr id="9" name="Chart 0" descr=""/>
          <p:cNvGraphicFramePr/>
          <p:nvPr/>
        </p:nvGraphicFramePr>
        <p:xfrm>
          <a:off x="502920" y="2011680"/>
          <a:ext cx="6949440" cy="2907792"/>
        </p:xfrm>
        <a:graphic xmlns:a="http://schemas.openxmlformats.org/drawingml/2006/main">
          <a:graphicData uri="http://schemas.openxmlformats.org/drawingml/2006/chart">
            <c:chart xmlns:c="http://schemas.openxmlformats.org/drawingml/2006/chart" r:id="rId1"/>
          </a:graphicData>
        </a:graphic>
      </p:graphicFrame>
      <p:sp>
        <p:nvSpPr>
          <p:cNvPr id="10" name="Text 7"/>
          <p:cNvSpPr/>
          <p:nvPr/>
        </p:nvSpPr>
        <p:spPr>
          <a:xfrm>
            <a:off x="7964424" y="2267712"/>
            <a:ext cx="3291840" cy="566928"/>
          </a:xfrm>
          <a:prstGeom prst="rect">
            <a:avLst/>
          </a:prstGeom>
          <a:noFill/>
          <a:ln/>
        </p:spPr>
        <p:txBody>
          <a:bodyPr wrap="square" lIns="0" tIns="0" rIns="0" bIns="0" rtlCol="0" anchor="ctr">
            <a:normAutofit/>
          </a:bodyPr>
          <a:lstStyle/>
          <a:p>
            <a:pPr indent="0" marL="0">
              <a:buNone/>
            </a:pPr>
            <a:r>
              <a:rPr lang="en-US" sz="3300" b="1" dirty="0">
                <a:solidFill>
                  <a:srgbClr val="087E80"/>
                </a:solidFill>
                <a:latin typeface="Microsoft YaHei" pitchFamily="34" charset="0"/>
                <a:ea typeface="Microsoft YaHei" pitchFamily="34" charset="-122"/>
                <a:cs typeface="Microsoft YaHei" pitchFamily="34" charset="-120"/>
              </a:rPr>
              <a:t>429 / 815ms</a:t>
            </a:r>
            <a:endParaRPr lang="en-US" sz="3300" dirty="0"/>
          </a:p>
        </p:txBody>
      </p:sp>
      <p:sp>
        <p:nvSpPr>
          <p:cNvPr id="11" name="Text 8"/>
          <p:cNvSpPr/>
          <p:nvPr/>
        </p:nvSpPr>
        <p:spPr>
          <a:xfrm>
            <a:off x="7964424" y="2907792"/>
            <a:ext cx="3291840" cy="384048"/>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本次检索延迟 P50 / P95</a:t>
            </a:r>
            <a:endParaRPr lang="en-US" sz="1400" dirty="0"/>
          </a:p>
        </p:txBody>
      </p:sp>
      <p:sp>
        <p:nvSpPr>
          <p:cNvPr id="12" name="Text 9"/>
          <p:cNvSpPr/>
          <p:nvPr/>
        </p:nvSpPr>
        <p:spPr>
          <a:xfrm>
            <a:off x="7964424" y="3657600"/>
            <a:ext cx="3291840" cy="566928"/>
          </a:xfrm>
          <a:prstGeom prst="rect">
            <a:avLst/>
          </a:prstGeom>
          <a:noFill/>
          <a:ln/>
        </p:spPr>
        <p:txBody>
          <a:bodyPr wrap="square" lIns="0" tIns="0" rIns="0" bIns="0" rtlCol="0" anchor="ctr">
            <a:normAutofit/>
          </a:bodyPr>
          <a:lstStyle/>
          <a:p>
            <a:pPr indent="0" marL="0">
              <a:buNone/>
            </a:pPr>
            <a:r>
              <a:rPr lang="en-US" sz="3300" b="1" dirty="0">
                <a:solidFill>
                  <a:srgbClr val="487B9C"/>
                </a:solidFill>
                <a:latin typeface="Microsoft YaHei" pitchFamily="34" charset="0"/>
                <a:ea typeface="Microsoft YaHei" pitchFamily="34" charset="-122"/>
                <a:cs typeface="Microsoft YaHei" pitchFamily="34" charset="-120"/>
              </a:rPr>
              <a:t>5 / 5</a:t>
            </a:r>
            <a:endParaRPr lang="en-US" sz="3300" dirty="0"/>
          </a:p>
        </p:txBody>
      </p:sp>
      <p:sp>
        <p:nvSpPr>
          <p:cNvPr id="13" name="Text 10"/>
          <p:cNvSpPr/>
          <p:nvPr/>
        </p:nvSpPr>
        <p:spPr>
          <a:xfrm>
            <a:off x="7964424" y="4297680"/>
            <a:ext cx="3291840" cy="384048"/>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新指南主题检索冒烟测试通过</a:t>
            </a:r>
            <a:endParaRPr lang="en-US" sz="1400" dirty="0"/>
          </a:p>
        </p:txBody>
      </p:sp>
      <p:sp>
        <p:nvSpPr>
          <p:cNvPr id="14" name="Text 11"/>
          <p:cNvSpPr/>
          <p:nvPr/>
        </p:nvSpPr>
        <p:spPr>
          <a:xfrm>
            <a:off x="539496" y="5065776"/>
            <a:ext cx="11064240" cy="228600"/>
          </a:xfrm>
          <a:prstGeom prst="rect">
            <a:avLst/>
          </a:prstGeom>
          <a:noFill/>
          <a:ln/>
        </p:spPr>
        <p:txBody>
          <a:bodyPr wrap="square" lIns="0" tIns="0" rIns="0" bIns="0" rtlCol="0" anchor="ctr">
            <a:normAutofit/>
          </a:bodyPr>
          <a:lstStyle/>
          <a:p>
            <a:pPr indent="0" marL="0">
              <a:buNone/>
            </a:pPr>
            <a:r>
              <a:rPr lang="en-US" sz="1200" dirty="0">
                <a:solidFill>
                  <a:srgbClr val="62727A"/>
                </a:solidFill>
                <a:latin typeface="Microsoft YaHei" pitchFamily="34" charset="0"/>
                <a:ea typeface="Microsoft YaHei" pitchFamily="34" charset="-122"/>
                <a:cs typeface="Microsoft YaHei" pitchFamily="34" charset="-120"/>
              </a:rPr>
              <a:t>69 项后端自动化测试通过；新主题测试仅核验来源命中，不代表临床正确率。</a:t>
            </a:r>
            <a:endParaRPr lang="en-US" sz="1200" dirty="0"/>
          </a:p>
        </p:txBody>
      </p:sp>
      <p:sp>
        <p:nvSpPr>
          <p:cNvPr id="15" name="Shape 12"/>
          <p:cNvSpPr/>
          <p:nvPr/>
        </p:nvSpPr>
        <p:spPr>
          <a:xfrm>
            <a:off x="502920" y="5404104"/>
            <a:ext cx="11155680" cy="0"/>
          </a:xfrm>
          <a:prstGeom prst="line">
            <a:avLst/>
          </a:prstGeom>
          <a:noFill/>
          <a:ln w="12700">
            <a:solidFill>
              <a:srgbClr val="DDE5E8"/>
            </a:solidFill>
            <a:prstDash val="solid"/>
          </a:ln>
        </p:spPr>
      </p:sp>
      <p:sp>
        <p:nvSpPr>
          <p:cNvPr id="16" name="Text 13"/>
          <p:cNvSpPr/>
          <p:nvPr/>
        </p:nvSpPr>
        <p:spPr>
          <a:xfrm>
            <a:off x="539496" y="5596128"/>
            <a:ext cx="1371600" cy="274320"/>
          </a:xfrm>
          <a:prstGeom prst="rect">
            <a:avLst/>
          </a:prstGeom>
          <a:noFill/>
          <a:ln/>
        </p:spPr>
        <p:txBody>
          <a:bodyPr wrap="square" lIns="0" tIns="0" rIns="0" bIns="0" rtlCol="0" anchor="ctr">
            <a:normAutofit/>
          </a:bodyPr>
          <a:lstStyle/>
          <a:p>
            <a:pPr indent="0" marL="0">
              <a:buNone/>
            </a:pPr>
            <a:r>
              <a:rPr lang="en-US" sz="1700" b="1" dirty="0">
                <a:solidFill>
                  <a:srgbClr val="087E80"/>
                </a:solidFill>
                <a:latin typeface="Microsoft YaHei" pitchFamily="34" charset="0"/>
                <a:ea typeface="Microsoft YaHei" pitchFamily="34" charset="-122"/>
                <a:cs typeface="Microsoft YaHei" pitchFamily="34" charset="-120"/>
              </a:rPr>
              <a:t>个人成果</a:t>
            </a:r>
            <a:endParaRPr lang="en-US" sz="1700" dirty="0"/>
          </a:p>
        </p:txBody>
      </p:sp>
      <p:sp>
        <p:nvSpPr>
          <p:cNvPr id="17" name="Text 14"/>
          <p:cNvSpPr/>
          <p:nvPr/>
        </p:nvSpPr>
        <p:spPr>
          <a:xfrm>
            <a:off x="2066544" y="5559552"/>
            <a:ext cx="9235440" cy="347472"/>
          </a:xfrm>
          <a:prstGeom prst="rect">
            <a:avLst/>
          </a:prstGeom>
          <a:noFill/>
          <a:ln/>
        </p:spPr>
        <p:txBody>
          <a:bodyPr wrap="square" lIns="0" tIns="0" rIns="0" bIns="0" rtlCol="0" anchor="ctr">
            <a:normAutofit/>
          </a:bodyPr>
          <a:lstStyle/>
          <a:p>
            <a:pPr indent="0" marL="0">
              <a:buNone/>
            </a:pPr>
            <a:r>
              <a:rPr lang="en-US" sz="1700" dirty="0">
                <a:solidFill>
                  <a:srgbClr val="203038"/>
                </a:solidFill>
                <a:latin typeface="Microsoft YaHei" pitchFamily="34" charset="0"/>
                <a:ea typeface="Microsoft YaHei" pitchFamily="34" charset="-122"/>
                <a:cs typeface="Microsoft YaHei" pitchFamily="34" charset="-120"/>
              </a:rPr>
              <a:t>四项辅助工作流 + 可追溯知识检索 + DDInter 本地风险查询</a:t>
            </a:r>
            <a:endParaRPr lang="en-US" sz="1700" dirty="0"/>
          </a:p>
        </p:txBody>
      </p:sp>
      <p:sp>
        <p:nvSpPr>
          <p:cNvPr id="18" name="Text 15"/>
          <p:cNvSpPr/>
          <p:nvPr/>
        </p:nvSpPr>
        <p:spPr>
          <a:xfrm>
            <a:off x="539496" y="6062472"/>
            <a:ext cx="1371600" cy="274320"/>
          </a:xfrm>
          <a:prstGeom prst="rect">
            <a:avLst/>
          </a:prstGeom>
          <a:noFill/>
          <a:ln/>
        </p:spPr>
        <p:txBody>
          <a:bodyPr wrap="square" lIns="0" tIns="0" rIns="0" bIns="0" rtlCol="0" anchor="ctr">
            <a:normAutofit/>
          </a:bodyPr>
          <a:lstStyle/>
          <a:p>
            <a:pPr indent="0" marL="0">
              <a:buNone/>
            </a:pPr>
            <a:r>
              <a:rPr lang="en-US" sz="1700" b="1" dirty="0">
                <a:solidFill>
                  <a:srgbClr val="487B9C"/>
                </a:solidFill>
                <a:latin typeface="Microsoft YaHei" pitchFamily="34" charset="0"/>
                <a:ea typeface="Microsoft YaHei" pitchFamily="34" charset="-122"/>
                <a:cs typeface="Microsoft YaHei" pitchFamily="34" charset="-120"/>
              </a:rPr>
              <a:t>下一步</a:t>
            </a:r>
            <a:endParaRPr lang="en-US" sz="1700" dirty="0"/>
          </a:p>
        </p:txBody>
      </p:sp>
      <p:sp>
        <p:nvSpPr>
          <p:cNvPr id="19" name="Text 16"/>
          <p:cNvSpPr/>
          <p:nvPr/>
        </p:nvSpPr>
        <p:spPr>
          <a:xfrm>
            <a:off x="2066544" y="6007608"/>
            <a:ext cx="9235440" cy="384048"/>
          </a:xfrm>
          <a:prstGeom prst="rect">
            <a:avLst/>
          </a:prstGeom>
          <a:noFill/>
          <a:ln/>
        </p:spPr>
        <p:txBody>
          <a:bodyPr wrap="square" lIns="0" tIns="0" rIns="0" bIns="0" rtlCol="0" anchor="ctr">
            <a:normAutofit/>
          </a:bodyPr>
          <a:lstStyle/>
          <a:p>
            <a:pPr indent="0" marL="0">
              <a:buNone/>
            </a:pPr>
            <a:r>
              <a:rPr lang="en-US" sz="1400" dirty="0">
                <a:solidFill>
                  <a:srgbClr val="62727A"/>
                </a:solidFill>
                <a:latin typeface="Microsoft YaHei" pitchFamily="34" charset="0"/>
                <a:ea typeface="Microsoft YaHei" pitchFamily="34" charset="-122"/>
                <a:cs typeface="Microsoft YaHei" pitchFamily="34" charset="-120"/>
              </a:rPr>
              <a:t>扩展指南检索标注与药学规则；检索分数不代表诊疗正确率或处方安全率。</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EnterpriseTeamEngineering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临床 AI 助手个人工作汇报（6页精简版）</dc:title>
  <dc:subject>个人职责、技术架构、RAG、DDInter 与检索评测</dc:subject>
  <dc:creator>Project contributor</dc:creator>
  <cp:lastModifiedBy>Project contributor</cp:lastModifiedBy>
  <cp:revision>1</cp:revision>
  <dcterms:created xsi:type="dcterms:W3CDTF">2026-09-28T11:50:21Z</dcterms:created>
  <dcterms:modified xsi:type="dcterms:W3CDTF">2026-09-28T11:50:21Z</dcterms:modified>
</cp:coreProperties>
</file>