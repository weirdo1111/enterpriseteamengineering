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药物对数量</c:v>
                </c:pt>
              </c:strCache>
            </c:strRef>
          </c:tx>
          <c:spPr>
            <a:solidFill>
              <a:srgbClr val="087E80"/>
            </a:solidFill>
            <a:effectLst/>
          </c:spPr>
          <c:invertIfNegative val="0"/>
          <c:dLbls>
            <c:numFmt formatCode="#,##0" sourceLinked="0"/>
            <c:txPr>
              <a:bodyPr/>
              <a:lstStyle/>
              <a:p>
                <a:pPr>
                  <a:defRPr b="0" i="0" strike="noStrike" sz="1200" u="none">
                    <a:solidFill>
                      <a:srgbClr val="203038"/>
                    </a:solidFill>
                    <a:latin typeface="Arial"/>
                  </a:defRPr>
                </a:pPr>
              </a:p>
            </c:txPr>
            <c:showLegendKey val="0"/>
            <c:showVal val="1"/>
            <c:showCatName val="0"/>
            <c:showSerName val="0"/>
            <c:showPercent val="0"/>
            <c:showBubbleSize val="0"/>
            <c:showLeaderLines val="0"/>
          </c:dLbls>
          <c:cat>
            <c:multiLvlStrRef>
              <c:f>Sheet1!$A$2:$A$5</c:f>
              <c:multiLvlStrCache>
                <c:ptCount val="4"/>
                <c:lvl>
                  <c:pt idx="0">
                    <c:v>Moderate</c:v>
                  </c:pt>
                  <c:pt idx="1">
                    <c:v>Major</c:v>
                  </c:pt>
                  <c:pt idx="2">
                    <c:v>Unknown</c:v>
                  </c:pt>
                  <c:pt idx="3">
                    <c:v>Minor</c:v>
                  </c:pt>
                </c:lvl>
              </c:multiLvlStrCache>
            </c:multiLvlStrRef>
          </c:cat>
          <c:val>
            <c:numRef>
              <c:f>Sheet1!$B$2:$B$5</c:f>
              <c:numCache>
                <c:formatCode>General</c:formatCode>
                <c:ptCount val="4"/>
                <c:pt idx="0">
                  <c:v>189439</c:v>
                </c:pt>
                <c:pt idx="1">
                  <c:v>50983</c:v>
                </c:pt>
                <c:pt idx="2">
                  <c:v>42415</c:v>
                </c:pt>
                <c:pt idx="3">
                  <c:v>12347</c:v>
                </c:pt>
              </c:numCache>
            </c:numRef>
          </c:val>
        </c:ser>
        <c:dLbls>
          <c:numFmt formatCode="#,##0" sourceLinked="0"/>
          <c:txPr>
            <a:bodyPr/>
            <a:lstStyle/>
            <a:p>
              <a:pPr>
                <a:defRPr b="0" i="0" strike="noStrike" sz="1200" u="none">
                  <a:solidFill>
                    <a:srgbClr val="20303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000000"/>
                </a:solidFill>
                <a:latin typeface="Microsoft YaHei"/>
              </a:defRPr>
            </a:pPr>
            <a:endParaRPr lang="en-US"/>
          </a:p>
        </c:txPr>
        <c:crossAx val="2094734552"/>
        <c:crosses val="autoZero"/>
        <c:auto val="1"/>
        <c:lblAlgn val="ctr"/>
        <c:noMultiLvlLbl val="1"/>
      </c:catAx>
      <c:valAx>
        <c:axId val="2094734552"/>
        <c:scaling>
          <c:orientation val="minMax"/>
          <c:max val="225000"/>
          <c:min val="0"/>
        </c:scaling>
        <c:delete val="0"/>
        <c:axPos val="b"/>
        <c:majorGridlines>
          <c:spPr>
            <a:ln w="12700" cap="flat">
              <a:solidFill>
                <a:srgbClr val="DDE5E8"/>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majorUnit val="10000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片段基线</c:v>
                </c:pt>
              </c:strCache>
            </c:strRef>
          </c:tx>
          <c:spPr>
            <a:solidFill>
              <a:srgbClr val="A8B5BD"/>
            </a:solidFill>
            <a:effectLst/>
          </c:spPr>
          <c:invertIfNegative val="0"/>
          <c:dLbls>
            <c:numFmt formatCode="0.0&quot;%&quot;" sourceLinked="0"/>
            <c:txPr>
              <a:bodyPr/>
              <a:lstStyle/>
              <a:p>
                <a:pPr>
                  <a:defRPr b="0" i="0" strike="noStrike" sz="1200" u="none">
                    <a:solidFill>
                      <a:srgbClr val="203038"/>
                    </a:solidFill>
                    <a:latin typeface="Arial"/>
                  </a:defRPr>
                </a:pPr>
              </a:p>
            </c:txPr>
            <c:showLegendKey val="0"/>
            <c:showVal val="1"/>
            <c:showCatName val="0"/>
            <c:showSerName val="0"/>
            <c:showPercent val="0"/>
            <c:showBubbleSize val="0"/>
            <c:showLeaderLines val="0"/>
          </c:dLbls>
          <c:cat>
            <c:multiLvlStrRef>
              <c:f>Sheet1!$A$2:$A$4</c:f>
              <c:multiLvlStrCache>
                <c:ptCount val="3"/>
                <c:lvl>
                  <c:pt idx="0">
                    <c:v>Recall@8</c:v>
                  </c:pt>
                  <c:pt idx="1">
                    <c:v>MRR@8</c:v>
                  </c:pt>
                  <c:pt idx="2">
                    <c:v>nDCG@8</c:v>
                  </c:pt>
                </c:lvl>
              </c:multiLvlStrCache>
            </c:multiLvlStrRef>
          </c:cat>
          <c:val>
            <c:numRef>
              <c:f>Sheet1!$B$2:$B$4</c:f>
              <c:numCache>
                <c:formatCode>General</c:formatCode>
                <c:ptCount val="3"/>
                <c:pt idx="0">
                  <c:v>92.5</c:v>
                </c:pt>
                <c:pt idx="1">
                  <c:v>92.2</c:v>
                </c:pt>
                <c:pt idx="2">
                  <c:v>87</c:v>
                </c:pt>
              </c:numCache>
            </c:numRef>
          </c:val>
        </c:ser>
        <c:ser>
          <c:idx val="1"/>
          <c:order val="1"/>
          <c:tx>
            <c:strRef>
              <c:f>Sheet1!$C$1</c:f>
              <c:strCache>
                <c:ptCount val="1"/>
                <c:pt idx="0">
                  <c:v>范围过滤与来源聚合</c:v>
                </c:pt>
              </c:strCache>
            </c:strRef>
          </c:tx>
          <c:spPr>
            <a:solidFill>
              <a:srgbClr val="087E80"/>
            </a:solidFill>
            <a:effectLst/>
          </c:spPr>
          <c:invertIfNegative val="0"/>
          <c:dLbls>
            <c:numFmt formatCode="0.0&quot;%&quot;" sourceLinked="0"/>
            <c:txPr>
              <a:bodyPr/>
              <a:lstStyle/>
              <a:p>
                <a:pPr>
                  <a:defRPr b="0" i="0" strike="noStrike" sz="1200" u="none">
                    <a:solidFill>
                      <a:srgbClr val="203038"/>
                    </a:solidFill>
                    <a:latin typeface="Arial"/>
                  </a:defRPr>
                </a:pPr>
              </a:p>
            </c:txPr>
            <c:showLegendKey val="0"/>
            <c:showVal val="1"/>
            <c:showCatName val="0"/>
            <c:showSerName val="0"/>
            <c:showPercent val="0"/>
            <c:showBubbleSize val="0"/>
            <c:showLeaderLines val="0"/>
          </c:dLbls>
          <c:cat>
            <c:multiLvlStrRef>
              <c:f>Sheet1!$A$2:$A$4</c:f>
              <c:multiLvlStrCache>
                <c:ptCount val="3"/>
                <c:lvl>
                  <c:pt idx="0">
                    <c:v>Recall@8</c:v>
                  </c:pt>
                  <c:pt idx="1">
                    <c:v>MRR@8</c:v>
                  </c:pt>
                  <c:pt idx="2">
                    <c:v>nDCG@8</c:v>
                  </c:pt>
                </c:lvl>
              </c:multiLvlStrCache>
            </c:multiLvlStrRef>
          </c:cat>
          <c:val>
            <c:numRef>
              <c:f>Sheet1!$C$2:$C$4</c:f>
              <c:numCache>
                <c:formatCode>General</c:formatCode>
                <c:ptCount val="3"/>
                <c:pt idx="0">
                  <c:v>98.3</c:v>
                </c:pt>
                <c:pt idx="1">
                  <c:v>96</c:v>
                </c:pt>
                <c:pt idx="2">
                  <c:v>92.2</c:v>
                </c:pt>
              </c:numCache>
            </c:numRef>
          </c:val>
        </c:ser>
        <c:dLbls>
          <c:numFmt formatCode="0.0&quot;%&quot;" sourceLinked="0"/>
          <c:txPr>
            <a:bodyPr/>
            <a:lstStyle/>
            <a:p>
              <a:pPr>
                <a:defRPr b="0" i="0" strike="noStrike" sz="1200" u="none">
                  <a:solidFill>
                    <a:srgbClr val="20303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12700" cap="flat">
              <a:solidFill>
                <a:srgbClr val="DDE5E8"/>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majorUnit val="25"/>
      </c:valAx>
      <c:spPr>
        <a:noFill/>
        <a:ln>
          <a:noFill/>
        </a:ln>
        <a:effectLst/>
      </c:spPr>
    </c:plotArea>
    <c:legend>
      <c:legendPos val="b"/>
      <c:overlay val="0"/>
      <c:txPr>
        <a:bodyPr/>
        <a:lstStyle/>
        <a:p>
          <a:pPr>
            <a:defRPr sz="1000">
              <a:latin typeface="Microsoft YaHei"/>
              <a:cs typeface="Microsoft YaHe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我的主要工作是临床 AI 助手、RAG 知识库与 DDInter 医嘱核查的后端和算法集成。四项工作流为病历草稿、问诊摘要、相似病历和医嘱核查。1024 为当前向量模型配置维度，295184 为当前本地 DDInter 固定快照中的唯一药物对数量，不是临床准确率。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架构上分离文本生成与药物安全判断。RAG负责查资料与给出带引用的回答，医嘱核查使用结构化规则和DDInter数据，不通过大模型猜测相互作用。向量存于MariaDB，由应用层计算相似度，没有部署专用向量数据库。当前模型标识为doubao-seed-2-0-lite-260428与doubao-embedding-vision-251215。登录注册、患者管理和图文问诊业务界面由团队协作，不能全部计为我的独立成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病历草稿和摘要仅针对三份逐项匹配服务器固定资料的模拟问诊开放模型生成。不能把任意浏览器提交的真实患者文本发送给模型。引用和数值校验失败或服务异常时，退回已有记录整理。草稿需要医生补充诊断与复核才能提交。相似病历仅检索标记为synthetic的Synthea记录，每个文档保留最高分的代表片段；它不是医院真实病例或临床推荐依据。接口见backend/src/routes/a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历史语料规模12份文档、416片段来自2026-09-27评测记录，不是本次查库统计。文档最大分块配置为1400字符，基于officeparser和FHIR R4解析。FHIR排除姓名、地址、联系方式、标识符和精确出生日期。默认排序采用0.85语义相似度+0.15词项覆盖+编号匹配加分，同页来源聚合减少重复。新增MiniSearch全文排序、排名融合和动态证据选择候选，默认未切换，尚未获得完整语料的新对照结果。证据不足或临床诊断、处方、具体剂量请求拒答。生成模型429时降级为retrieval-only，查询向量仍依赖嵌入服务。依据backend/src/rag及docs/rag-evalu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量来自当前本地DDInter索引统计，不是官网最新规模或自主标注：2283种药物、295184个唯一药物对、8234机制。风险等级数量为Moderate189439、Major50983、Unknown42415、Minor12347。标准化药名映射唯一ID，使用无方向药物对Map查询；A+B与B+A一致，歧义药名不猜测。当前只接入药物对与机制，不使用打包项目的疾病表和推断链。青霉素与阿莫西林是有限来源规则，不是全药物分类器。剂量规则接口已存在，但缺少经审核的中国产品规则，完整Beers没有实现。未发现记录不代表安全。DDInter使用条款https://ddinter.scbdd.com/terms/；来源打包项目https://github.com/pbiondich/openmrs-ddi-knowledge-base，非商业课程使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据来自backend/docs/rag-evaluation.md中的2026-09-27历史记录。Recall@8表示标注相关来源找回比例；MRR@8反映首个相关结果位置；nDCG@8衡量整体排序。延迟为当次观测，不能作为生产容量承诺。不同日期语料和题目发生变化，不能跨日期作为严格对照。本轮候选重排未完成全量评测，本页不宣称其带来了新的提升。总结个人贡献集中于业务接口、知识处理与检索、药物风险查询和来源可追溯。后续扩大人工标注与药学知识审核；非商业课程设计，不是获验证的临床处方系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sp>
      <p:sp>
        <p:nvSpPr>
          <p:cNvPr id="3" name="Text 1"/>
          <p:cNvSpPr/>
          <p:nvPr/>
        </p:nvSpPr>
        <p:spPr>
          <a:xfrm>
            <a:off x="502920" y="301752"/>
            <a:ext cx="11155680" cy="274320"/>
          </a:xfrm>
          <a:prstGeom prst="rect">
            <a:avLst/>
          </a:prstGeom>
          <a:noFill/>
          <a:ln/>
        </p:spPr>
        <p:txBody>
          <a:bodyPr wrap="square" lIns="0" tIns="0" rIns="0" bIns="0" rtlCol="0" anchor="ctr">
            <a:normAutofit/>
          </a:bodyPr>
          <a:lstStyle/>
          <a:p>
            <a:pPr indent="0" marL="0">
              <a:buNone/>
            </a:pPr>
            <a:r>
              <a:rPr lang="en-US" sz="1100" b="1" dirty="0">
                <a:solidFill>
                  <a:srgbClr val="087E80"/>
                </a:solidFill>
                <a:latin typeface="Microsoft YaHei" pitchFamily="34" charset="0"/>
                <a:ea typeface="Microsoft YaHei" pitchFamily="34" charset="-122"/>
                <a:cs typeface="Microsoft YaHei" pitchFamily="34" charset="-120"/>
              </a:rPr>
              <a:t>个人工作概览</a:t>
            </a:r>
            <a:endParaRPr lang="en-US" sz="1100" dirty="0"/>
          </a:p>
        </p:txBody>
      </p:sp>
      <p:sp>
        <p:nvSpPr>
          <p:cNvPr id="4" name="Shape 2"/>
          <p:cNvSpPr/>
          <p:nvPr/>
        </p:nvSpPr>
        <p:spPr>
          <a:xfrm>
            <a:off x="502920" y="6419088"/>
            <a:ext cx="11155680" cy="0"/>
          </a:xfrm>
          <a:prstGeom prst="line">
            <a:avLst/>
          </a:prstGeom>
          <a:noFill/>
          <a:ln w="12700">
            <a:solidFill>
              <a:srgbClr val="DDE5E8"/>
            </a:solidFill>
            <a:prstDash val="solid"/>
          </a:ln>
        </p:spPr>
      </p:sp>
      <p:sp>
        <p:nvSpPr>
          <p:cNvPr id="5" name="Text 3"/>
          <p:cNvSpPr/>
          <p:nvPr/>
        </p:nvSpPr>
        <p:spPr>
          <a:xfrm>
            <a:off x="502920" y="6510528"/>
            <a:ext cx="9875520" cy="182880"/>
          </a:xfrm>
          <a:prstGeom prst="rect">
            <a:avLst/>
          </a:prstGeom>
          <a:noFill/>
          <a:ln/>
        </p:spPr>
        <p:txBody>
          <a:bodyPr wrap="square" lIns="0" tIns="0" rIns="0" bIns="0" rtlCol="0" anchor="ctr">
            <a:normAutofit/>
          </a:bodyPr>
          <a:lstStyle/>
          <a:p>
            <a:pPr indent="0" marL="0">
              <a:buNone/>
            </a:pPr>
            <a:r>
              <a:rPr lang="en-US" sz="900" dirty="0">
                <a:solidFill>
                  <a:srgbClr val="62727A"/>
                </a:solidFill>
                <a:latin typeface="Microsoft YaHei" pitchFamily="34" charset="0"/>
                <a:ea typeface="Microsoft YaHei" pitchFamily="34" charset="-122"/>
                <a:cs typeface="Microsoft YaHei" pitchFamily="34" charset="-120"/>
              </a:rPr>
              <a:t>个人工作汇报  /  临床 AI 与知识工程  /  非商业课程设计</a:t>
            </a:r>
            <a:endParaRPr lang="en-US" sz="900" dirty="0"/>
          </a:p>
        </p:txBody>
      </p:sp>
      <p:sp>
        <p:nvSpPr>
          <p:cNvPr id="6" name="Text 4"/>
          <p:cNvSpPr/>
          <p:nvPr/>
        </p:nvSpPr>
        <p:spPr>
          <a:xfrm>
            <a:off x="10652760" y="6483096"/>
            <a:ext cx="1005840" cy="228600"/>
          </a:xfrm>
          <a:prstGeom prst="rect">
            <a:avLst/>
          </a:prstGeom>
          <a:noFill/>
          <a:ln/>
        </p:spPr>
        <p:txBody>
          <a:bodyPr wrap="square" lIns="0" tIns="0" rIns="0" bIns="0" rtlCol="0" anchor="ctr">
            <a:normAutofit/>
          </a:bodyPr>
          <a:lstStyle/>
          <a:p>
            <a:pPr algn="r" indent="0" marL="0">
              <a:buNone/>
            </a:pPr>
            <a:r>
              <a:rPr lang="en-US" sz="1000" dirty="0">
                <a:solidFill>
                  <a:srgbClr val="62727A"/>
                </a:solidFill>
                <a:latin typeface="Microsoft YaHei" pitchFamily="34" charset="0"/>
                <a:ea typeface="Microsoft YaHei" pitchFamily="34" charset="-122"/>
                <a:cs typeface="Microsoft YaHei" pitchFamily="34" charset="-120"/>
              </a:rPr>
              <a:t>01 / 06</a:t>
            </a:r>
            <a:endParaRPr lang="en-US" sz="1000" dirty="0"/>
          </a:p>
        </p:txBody>
      </p:sp>
      <p:sp>
        <p:nvSpPr>
          <p:cNvPr id="7" name="Text 5"/>
          <p:cNvSpPr/>
          <p:nvPr/>
        </p:nvSpPr>
        <p:spPr>
          <a:xfrm>
            <a:off x="594360" y="941832"/>
            <a:ext cx="10881360" cy="420624"/>
          </a:xfrm>
          <a:prstGeom prst="rect">
            <a:avLst/>
          </a:prstGeom>
          <a:noFill/>
          <a:ln/>
        </p:spPr>
        <p:txBody>
          <a:bodyPr wrap="square" lIns="0" tIns="0" rIns="0" bIns="0" rtlCol="0" anchor="ctr">
            <a:normAutofit/>
          </a:bodyPr>
          <a:lstStyle/>
          <a:p>
            <a:pPr indent="0" marL="0">
              <a:buNone/>
            </a:pPr>
            <a:r>
              <a:rPr lang="en-US" sz="1800" dirty="0">
                <a:solidFill>
                  <a:srgbClr val="62727A"/>
                </a:solidFill>
                <a:latin typeface="Microsoft YaHei" pitchFamily="34" charset="0"/>
                <a:ea typeface="Microsoft YaHei" pitchFamily="34" charset="-122"/>
                <a:cs typeface="Microsoft YaHei" pitchFamily="34" charset="-120"/>
              </a:rPr>
              <a:t>智慧医养大数据公共服务平台医生服务系统</a:t>
            </a:r>
            <a:endParaRPr lang="en-US" sz="1800" dirty="0"/>
          </a:p>
        </p:txBody>
      </p:sp>
      <p:sp>
        <p:nvSpPr>
          <p:cNvPr id="8" name="Text 6"/>
          <p:cNvSpPr/>
          <p:nvPr/>
        </p:nvSpPr>
        <p:spPr>
          <a:xfrm>
            <a:off x="594360" y="1746504"/>
            <a:ext cx="10881360" cy="1554480"/>
          </a:xfrm>
          <a:prstGeom prst="rect">
            <a:avLst/>
          </a:prstGeom>
          <a:noFill/>
          <a:ln/>
        </p:spPr>
        <p:txBody>
          <a:bodyPr wrap="square" lIns="0" tIns="0" rIns="0" bIns="0" rtlCol="0" anchor="ctr">
            <a:normAutofit/>
          </a:bodyPr>
          <a:lstStyle/>
          <a:p>
            <a:pPr indent="0" marL="0">
              <a:buNone/>
            </a:pPr>
            <a:r>
              <a:rPr lang="en-US" sz="3900" b="1" dirty="0">
                <a:solidFill>
                  <a:srgbClr val="203038"/>
                </a:solidFill>
                <a:latin typeface="Microsoft YaHei" pitchFamily="34" charset="0"/>
                <a:ea typeface="Microsoft YaHei" pitchFamily="34" charset="-122"/>
                <a:cs typeface="Microsoft YaHei" pitchFamily="34" charset="-120"/>
              </a:rPr>
              <a:t>临床 AI 助手</a:t>
            </a:r>
            <a:endParaRPr lang="en-US" sz="3900" dirty="0"/>
          </a:p>
          <a:p>
            <a:pPr indent="0" marL="0">
              <a:buNone/>
            </a:pPr>
            <a:r>
              <a:rPr lang="en-US" sz="3900" b="1" dirty="0">
                <a:solidFill>
                  <a:srgbClr val="203038"/>
                </a:solidFill>
                <a:latin typeface="Microsoft YaHei" pitchFamily="34" charset="0"/>
                <a:ea typeface="Microsoft YaHei" pitchFamily="34" charset="-122"/>
                <a:cs typeface="Microsoft YaHei" pitchFamily="34" charset="-120"/>
              </a:rPr>
              <a:t>个人工作汇报</a:t>
            </a:r>
            <a:endParaRPr lang="en-US" sz="3900" dirty="0"/>
          </a:p>
        </p:txBody>
      </p:sp>
      <p:sp>
        <p:nvSpPr>
          <p:cNvPr id="9" name="Text 7"/>
          <p:cNvSpPr/>
          <p:nvPr/>
        </p:nvSpPr>
        <p:spPr>
          <a:xfrm>
            <a:off x="621792" y="3575304"/>
            <a:ext cx="10789920" cy="402336"/>
          </a:xfrm>
          <a:prstGeom prst="rect">
            <a:avLst/>
          </a:prstGeom>
          <a:noFill/>
          <a:ln/>
        </p:spPr>
        <p:txBody>
          <a:bodyPr wrap="square" lIns="0" tIns="0" rIns="0" bIns="0" rtlCol="0" anchor="ctr">
            <a:normAutofit/>
          </a:bodyPr>
          <a:lstStyle/>
          <a:p>
            <a:pPr indent="0" marL="0">
              <a:buNone/>
            </a:pPr>
            <a:r>
              <a:rPr lang="en-US" sz="2000" dirty="0">
                <a:solidFill>
                  <a:srgbClr val="087E80"/>
                </a:solidFill>
                <a:latin typeface="Microsoft YaHei" pitchFamily="34" charset="0"/>
                <a:ea typeface="Microsoft YaHei" pitchFamily="34" charset="-122"/>
                <a:cs typeface="Microsoft YaHei" pitchFamily="34" charset="-120"/>
              </a:rPr>
              <a:t>RAG 知识库  /  DDInter 医嘱核查  /  后端与算法集成</a:t>
            </a:r>
            <a:endParaRPr lang="en-US" sz="2000" dirty="0"/>
          </a:p>
        </p:txBody>
      </p:sp>
      <p:sp>
        <p:nvSpPr>
          <p:cNvPr id="10" name="Shape 8"/>
          <p:cNvSpPr/>
          <p:nvPr/>
        </p:nvSpPr>
        <p:spPr>
          <a:xfrm>
            <a:off x="594360" y="4379976"/>
            <a:ext cx="10927080" cy="0"/>
          </a:xfrm>
          <a:prstGeom prst="line">
            <a:avLst/>
          </a:prstGeom>
          <a:noFill/>
          <a:ln w="12700">
            <a:solidFill>
              <a:srgbClr val="DDE5E8"/>
            </a:solidFill>
            <a:prstDash val="solid"/>
          </a:ln>
        </p:spPr>
      </p:sp>
      <p:sp>
        <p:nvSpPr>
          <p:cNvPr id="11" name="Text 9"/>
          <p:cNvSpPr/>
          <p:nvPr/>
        </p:nvSpPr>
        <p:spPr>
          <a:xfrm>
            <a:off x="621792" y="4672584"/>
            <a:ext cx="2651760" cy="566928"/>
          </a:xfrm>
          <a:prstGeom prst="rect">
            <a:avLst/>
          </a:prstGeom>
          <a:noFill/>
          <a:ln/>
        </p:spPr>
        <p:txBody>
          <a:bodyPr wrap="square" lIns="0" tIns="0" rIns="0" bIns="0" rtlCol="0" anchor="ctr">
            <a:normAutofit/>
          </a:bodyPr>
          <a:lstStyle/>
          <a:p>
            <a:pPr indent="0" marL="0">
              <a:buNone/>
            </a:pPr>
            <a:r>
              <a:rPr lang="en-US" sz="3300" b="1" dirty="0">
                <a:solidFill>
                  <a:srgbClr val="087E80"/>
                </a:solidFill>
                <a:latin typeface="Microsoft YaHei" pitchFamily="34" charset="0"/>
                <a:ea typeface="Microsoft YaHei" pitchFamily="34" charset="-122"/>
                <a:cs typeface="Microsoft YaHei" pitchFamily="34" charset="-120"/>
              </a:rPr>
              <a:t>4</a:t>
            </a:r>
            <a:endParaRPr lang="en-US" sz="3300" dirty="0"/>
          </a:p>
        </p:txBody>
      </p:sp>
      <p:sp>
        <p:nvSpPr>
          <p:cNvPr id="12" name="Text 10"/>
          <p:cNvSpPr/>
          <p:nvPr/>
        </p:nvSpPr>
        <p:spPr>
          <a:xfrm>
            <a:off x="621792" y="5312664"/>
            <a:ext cx="2651760" cy="384048"/>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临床 AI 工作流</a:t>
            </a:r>
            <a:endParaRPr lang="en-US" sz="1400" dirty="0"/>
          </a:p>
        </p:txBody>
      </p:sp>
      <p:sp>
        <p:nvSpPr>
          <p:cNvPr id="13" name="Text 11"/>
          <p:cNvSpPr/>
          <p:nvPr/>
        </p:nvSpPr>
        <p:spPr>
          <a:xfrm>
            <a:off x="3383280" y="4672584"/>
            <a:ext cx="2651760" cy="566928"/>
          </a:xfrm>
          <a:prstGeom prst="rect">
            <a:avLst/>
          </a:prstGeom>
          <a:noFill/>
          <a:ln/>
        </p:spPr>
        <p:txBody>
          <a:bodyPr wrap="square" lIns="0" tIns="0" rIns="0" bIns="0" rtlCol="0" anchor="ctr">
            <a:normAutofit/>
          </a:bodyPr>
          <a:lstStyle/>
          <a:p>
            <a:pPr indent="0" marL="0">
              <a:buNone/>
            </a:pPr>
            <a:r>
              <a:rPr lang="en-US" sz="3300" b="1" dirty="0">
                <a:solidFill>
                  <a:srgbClr val="487B9C"/>
                </a:solidFill>
                <a:latin typeface="Microsoft YaHei" pitchFamily="34" charset="0"/>
                <a:ea typeface="Microsoft YaHei" pitchFamily="34" charset="-122"/>
                <a:cs typeface="Microsoft YaHei" pitchFamily="34" charset="-120"/>
              </a:rPr>
              <a:t>3</a:t>
            </a:r>
            <a:endParaRPr lang="en-US" sz="3300" dirty="0"/>
          </a:p>
        </p:txBody>
      </p:sp>
      <p:sp>
        <p:nvSpPr>
          <p:cNvPr id="14" name="Text 12"/>
          <p:cNvSpPr/>
          <p:nvPr/>
        </p:nvSpPr>
        <p:spPr>
          <a:xfrm>
            <a:off x="3383280" y="5312664"/>
            <a:ext cx="2651760" cy="384048"/>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RAG 检索范围</a:t>
            </a:r>
            <a:endParaRPr lang="en-US" sz="1400" dirty="0"/>
          </a:p>
        </p:txBody>
      </p:sp>
      <p:sp>
        <p:nvSpPr>
          <p:cNvPr id="15" name="Text 13"/>
          <p:cNvSpPr/>
          <p:nvPr/>
        </p:nvSpPr>
        <p:spPr>
          <a:xfrm>
            <a:off x="6153912" y="4672584"/>
            <a:ext cx="2651760" cy="566928"/>
          </a:xfrm>
          <a:prstGeom prst="rect">
            <a:avLst/>
          </a:prstGeom>
          <a:noFill/>
          <a:ln/>
        </p:spPr>
        <p:txBody>
          <a:bodyPr wrap="square" lIns="0" tIns="0" rIns="0" bIns="0" rtlCol="0" anchor="ctr">
            <a:normAutofit/>
          </a:bodyPr>
          <a:lstStyle/>
          <a:p>
            <a:pPr indent="0" marL="0">
              <a:buNone/>
            </a:pPr>
            <a:r>
              <a:rPr lang="en-US" sz="3300" b="1" dirty="0">
                <a:solidFill>
                  <a:srgbClr val="B17A12"/>
                </a:solidFill>
                <a:latin typeface="Microsoft YaHei" pitchFamily="34" charset="0"/>
                <a:ea typeface="Microsoft YaHei" pitchFamily="34" charset="-122"/>
                <a:cs typeface="Microsoft YaHei" pitchFamily="34" charset="-120"/>
              </a:rPr>
              <a:t>1024</a:t>
            </a:r>
            <a:endParaRPr lang="en-US" sz="3300" dirty="0"/>
          </a:p>
        </p:txBody>
      </p:sp>
      <p:sp>
        <p:nvSpPr>
          <p:cNvPr id="16" name="Text 14"/>
          <p:cNvSpPr/>
          <p:nvPr/>
        </p:nvSpPr>
        <p:spPr>
          <a:xfrm>
            <a:off x="6153912" y="5312664"/>
            <a:ext cx="2651760" cy="384048"/>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文本向量维度</a:t>
            </a:r>
            <a:endParaRPr lang="en-US" sz="1400" dirty="0"/>
          </a:p>
        </p:txBody>
      </p:sp>
      <p:sp>
        <p:nvSpPr>
          <p:cNvPr id="17" name="Text 15"/>
          <p:cNvSpPr/>
          <p:nvPr/>
        </p:nvSpPr>
        <p:spPr>
          <a:xfrm>
            <a:off x="8915400" y="4672584"/>
            <a:ext cx="2743200" cy="566928"/>
          </a:xfrm>
          <a:prstGeom prst="rect">
            <a:avLst/>
          </a:prstGeom>
          <a:noFill/>
          <a:ln/>
        </p:spPr>
        <p:txBody>
          <a:bodyPr wrap="square" lIns="0" tIns="0" rIns="0" bIns="0" rtlCol="0" anchor="ctr">
            <a:normAutofit/>
          </a:bodyPr>
          <a:lstStyle/>
          <a:p>
            <a:pPr indent="0" marL="0">
              <a:buNone/>
            </a:pPr>
            <a:r>
              <a:rPr lang="en-US" sz="3300" b="1" dirty="0">
                <a:solidFill>
                  <a:srgbClr val="087E80"/>
                </a:solidFill>
                <a:latin typeface="Microsoft YaHei" pitchFamily="34" charset="0"/>
                <a:ea typeface="Microsoft YaHei" pitchFamily="34" charset="-122"/>
                <a:cs typeface="Microsoft YaHei" pitchFamily="34" charset="-120"/>
              </a:rPr>
              <a:t>295,184</a:t>
            </a:r>
            <a:endParaRPr lang="en-US" sz="3300" dirty="0"/>
          </a:p>
        </p:txBody>
      </p:sp>
      <p:sp>
        <p:nvSpPr>
          <p:cNvPr id="18" name="Text 16"/>
          <p:cNvSpPr/>
          <p:nvPr/>
        </p:nvSpPr>
        <p:spPr>
          <a:xfrm>
            <a:off x="8915400" y="5312664"/>
            <a:ext cx="2743200" cy="384048"/>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DDInter 相互作用对</a:t>
            </a:r>
            <a:endParaRPr lang="en-US" sz="1400" dirty="0"/>
          </a:p>
        </p:txBody>
      </p:sp>
      <p:sp>
        <p:nvSpPr>
          <p:cNvPr id="19" name="Text 17"/>
          <p:cNvSpPr/>
          <p:nvPr/>
        </p:nvSpPr>
        <p:spPr>
          <a:xfrm>
            <a:off x="621792" y="5980176"/>
            <a:ext cx="10789920" cy="237744"/>
          </a:xfrm>
          <a:prstGeom prst="rect">
            <a:avLst/>
          </a:prstGeom>
          <a:noFill/>
          <a:ln/>
        </p:spPr>
        <p:txBody>
          <a:bodyPr wrap="square" lIns="0" tIns="0" rIns="0" bIns="0" rtlCol="0" anchor="ctr">
            <a:normAutofit/>
          </a:bodyPr>
          <a:lstStyle/>
          <a:p>
            <a:pPr indent="0" marL="0">
              <a:buNone/>
            </a:pPr>
            <a:r>
              <a:rPr lang="en-US" sz="1200" dirty="0">
                <a:solidFill>
                  <a:srgbClr val="62727A"/>
                </a:solidFill>
                <a:latin typeface="Microsoft YaHei" pitchFamily="34" charset="0"/>
                <a:ea typeface="Microsoft YaHei" pitchFamily="34" charset="-122"/>
                <a:cs typeface="Microsoft YaHei" pitchFamily="34" charset="-120"/>
              </a:rPr>
              <a:t>2026.09.28  |  仅统计个人负责范围，不将组员业务模块列为独立成果</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sp>
      <p:sp>
        <p:nvSpPr>
          <p:cNvPr id="3" name="Text 1"/>
          <p:cNvSpPr/>
          <p:nvPr/>
        </p:nvSpPr>
        <p:spPr>
          <a:xfrm>
            <a:off x="502920" y="301752"/>
            <a:ext cx="11155680" cy="274320"/>
          </a:xfrm>
          <a:prstGeom prst="rect">
            <a:avLst/>
          </a:prstGeom>
          <a:noFill/>
          <a:ln/>
        </p:spPr>
        <p:txBody>
          <a:bodyPr wrap="square" lIns="0" tIns="0" rIns="0" bIns="0" rtlCol="0" anchor="ctr">
            <a:normAutofit/>
          </a:bodyPr>
          <a:lstStyle/>
          <a:p>
            <a:pPr indent="0" marL="0">
              <a:buNone/>
            </a:pPr>
            <a:r>
              <a:rPr lang="en-US" sz="1100" b="1" dirty="0">
                <a:solidFill>
                  <a:srgbClr val="087E80"/>
                </a:solidFill>
                <a:latin typeface="Microsoft YaHei" pitchFamily="34" charset="0"/>
                <a:ea typeface="Microsoft YaHei" pitchFamily="34" charset="-122"/>
                <a:cs typeface="Microsoft YaHei" pitchFamily="34" charset="-120"/>
              </a:rPr>
              <a:t>01 / 职责与架构</a:t>
            </a:r>
            <a:endParaRPr lang="en-US" sz="1100" dirty="0"/>
          </a:p>
        </p:txBody>
      </p:sp>
      <p:sp>
        <p:nvSpPr>
          <p:cNvPr id="4" name="Text 2"/>
          <p:cNvSpPr/>
          <p:nvPr/>
        </p:nvSpPr>
        <p:spPr>
          <a:xfrm>
            <a:off x="502920" y="777240"/>
            <a:ext cx="11155680" cy="548640"/>
          </a:xfrm>
          <a:prstGeom prst="rect">
            <a:avLst/>
          </a:prstGeom>
          <a:noFill/>
          <a:ln/>
        </p:spPr>
        <p:txBody>
          <a:bodyPr wrap="square" lIns="0" tIns="0" rIns="0" bIns="0" rtlCol="0" anchor="ctr">
            <a:normAutofit/>
          </a:bodyPr>
          <a:lstStyle/>
          <a:p>
            <a:pPr indent="0" marL="0">
              <a:buNone/>
            </a:pPr>
            <a:r>
              <a:rPr lang="en-US" sz="2900" b="1" dirty="0">
                <a:solidFill>
                  <a:srgbClr val="203038"/>
                </a:solidFill>
                <a:latin typeface="Microsoft YaHei" pitchFamily="34" charset="0"/>
                <a:ea typeface="Microsoft YaHei" pitchFamily="34" charset="-122"/>
                <a:cs typeface="Microsoft YaHei" pitchFamily="34" charset="-120"/>
              </a:rPr>
              <a:t>个人职责：把模型与知识接入医生工作流</a:t>
            </a:r>
            <a:endParaRPr lang="en-US" sz="2900" dirty="0"/>
          </a:p>
        </p:txBody>
      </p:sp>
      <p:sp>
        <p:nvSpPr>
          <p:cNvPr id="5" name="Text 3"/>
          <p:cNvSpPr/>
          <p:nvPr/>
        </p:nvSpPr>
        <p:spPr>
          <a:xfrm>
            <a:off x="512064" y="1408176"/>
            <a:ext cx="11064240" cy="365760"/>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负责临床 AI 服务、知识数据、检索算法与接口衔接；复用团队身份和患者管理模块。</a:t>
            </a:r>
            <a:endParaRPr lang="en-US" sz="1400" dirty="0"/>
          </a:p>
        </p:txBody>
      </p:sp>
      <p:sp>
        <p:nvSpPr>
          <p:cNvPr id="6" name="Shape 4"/>
          <p:cNvSpPr/>
          <p:nvPr/>
        </p:nvSpPr>
        <p:spPr>
          <a:xfrm>
            <a:off x="502920" y="6419088"/>
            <a:ext cx="11155680" cy="0"/>
          </a:xfrm>
          <a:prstGeom prst="line">
            <a:avLst/>
          </a:prstGeom>
          <a:noFill/>
          <a:ln w="12700">
            <a:solidFill>
              <a:srgbClr val="DDE5E8"/>
            </a:solidFill>
            <a:prstDash val="solid"/>
          </a:ln>
        </p:spPr>
      </p:sp>
      <p:sp>
        <p:nvSpPr>
          <p:cNvPr id="7" name="Text 5"/>
          <p:cNvSpPr/>
          <p:nvPr/>
        </p:nvSpPr>
        <p:spPr>
          <a:xfrm>
            <a:off x="502920" y="6510528"/>
            <a:ext cx="9875520" cy="182880"/>
          </a:xfrm>
          <a:prstGeom prst="rect">
            <a:avLst/>
          </a:prstGeom>
          <a:noFill/>
          <a:ln/>
        </p:spPr>
        <p:txBody>
          <a:bodyPr wrap="square" lIns="0" tIns="0" rIns="0" bIns="0" rtlCol="0" anchor="ctr">
            <a:normAutofit/>
          </a:bodyPr>
          <a:lstStyle/>
          <a:p>
            <a:pPr indent="0" marL="0">
              <a:buNone/>
            </a:pPr>
            <a:r>
              <a:rPr lang="en-US" sz="900" dirty="0">
                <a:solidFill>
                  <a:srgbClr val="62727A"/>
                </a:solidFill>
                <a:latin typeface="Microsoft YaHei" pitchFamily="34" charset="0"/>
                <a:ea typeface="Microsoft YaHei" pitchFamily="34" charset="-122"/>
                <a:cs typeface="Microsoft YaHei" pitchFamily="34" charset="-120"/>
              </a:rPr>
              <a:t>个人工作汇报  /  临床 AI 与知识工程  /  非商业课程设计</a:t>
            </a:r>
            <a:endParaRPr lang="en-US" sz="900" dirty="0"/>
          </a:p>
        </p:txBody>
      </p:sp>
      <p:sp>
        <p:nvSpPr>
          <p:cNvPr id="8" name="Text 6"/>
          <p:cNvSpPr/>
          <p:nvPr/>
        </p:nvSpPr>
        <p:spPr>
          <a:xfrm>
            <a:off x="10652760" y="6483096"/>
            <a:ext cx="1005840" cy="228600"/>
          </a:xfrm>
          <a:prstGeom prst="rect">
            <a:avLst/>
          </a:prstGeom>
          <a:noFill/>
          <a:ln/>
        </p:spPr>
        <p:txBody>
          <a:bodyPr wrap="square" lIns="0" tIns="0" rIns="0" bIns="0" rtlCol="0" anchor="ctr">
            <a:normAutofit/>
          </a:bodyPr>
          <a:lstStyle/>
          <a:p>
            <a:pPr algn="r" indent="0" marL="0">
              <a:buNone/>
            </a:pPr>
            <a:r>
              <a:rPr lang="en-US" sz="1000" dirty="0">
                <a:solidFill>
                  <a:srgbClr val="62727A"/>
                </a:solidFill>
                <a:latin typeface="Microsoft YaHei" pitchFamily="34" charset="0"/>
                <a:ea typeface="Microsoft YaHei" pitchFamily="34" charset="-122"/>
                <a:cs typeface="Microsoft YaHei" pitchFamily="34" charset="-120"/>
              </a:rPr>
              <a:t>02 / 06</a:t>
            </a:r>
            <a:endParaRPr lang="en-US" sz="1000" dirty="0"/>
          </a:p>
        </p:txBody>
      </p:sp>
      <p:sp>
        <p:nvSpPr>
          <p:cNvPr id="9" name="Shape 7"/>
          <p:cNvSpPr/>
          <p:nvPr/>
        </p:nvSpPr>
        <p:spPr>
          <a:xfrm>
            <a:off x="502920" y="1938528"/>
            <a:ext cx="3685032" cy="2267712"/>
          </a:xfrm>
          <a:prstGeom prst="rect">
            <a:avLst/>
          </a:prstGeom>
          <a:solidFill>
            <a:srgbClr val="FFFFFF"/>
          </a:solidFill>
          <a:ln w="7620">
            <a:solidFill>
              <a:srgbClr val="DDE5E8"/>
            </a:solidFill>
            <a:prstDash val="solid"/>
          </a:ln>
        </p:spPr>
      </p:sp>
      <p:sp>
        <p:nvSpPr>
          <p:cNvPr id="10" name="Shape 8"/>
          <p:cNvSpPr/>
          <p:nvPr/>
        </p:nvSpPr>
        <p:spPr>
          <a:xfrm>
            <a:off x="502920" y="1938528"/>
            <a:ext cx="45720" cy="2267712"/>
          </a:xfrm>
          <a:prstGeom prst="rect">
            <a:avLst/>
          </a:prstGeom>
          <a:solidFill>
            <a:srgbClr val="087E80"/>
          </a:solidFill>
          <a:ln w="7620">
            <a:solidFill>
              <a:srgbClr val="087E80"/>
            </a:solidFill>
            <a:prstDash val="solid"/>
          </a:ln>
        </p:spPr>
      </p:sp>
      <p:sp>
        <p:nvSpPr>
          <p:cNvPr id="11" name="Text 9"/>
          <p:cNvSpPr/>
          <p:nvPr/>
        </p:nvSpPr>
        <p:spPr>
          <a:xfrm>
            <a:off x="704088" y="2103120"/>
            <a:ext cx="3282696" cy="365760"/>
          </a:xfrm>
          <a:prstGeom prst="rect">
            <a:avLst/>
          </a:prstGeom>
          <a:noFill/>
          <a:ln/>
        </p:spPr>
        <p:txBody>
          <a:bodyPr wrap="square" lIns="0" tIns="0" rIns="0" bIns="0" rtlCol="0" anchor="ctr">
            <a:normAutofit/>
          </a:bodyPr>
          <a:lstStyle/>
          <a:p>
            <a:pPr indent="0" marL="0">
              <a:buNone/>
            </a:pPr>
            <a:r>
              <a:rPr lang="en-US" sz="1900" b="1" dirty="0">
                <a:solidFill>
                  <a:srgbClr val="087E80"/>
                </a:solidFill>
                <a:latin typeface="Microsoft YaHei" pitchFamily="34" charset="0"/>
                <a:ea typeface="Microsoft YaHei" pitchFamily="34" charset="-122"/>
                <a:cs typeface="Microsoft YaHei" pitchFamily="34" charset="-120"/>
              </a:rPr>
              <a:t>我的工作范围</a:t>
            </a:r>
            <a:endParaRPr lang="en-US" sz="1900" dirty="0"/>
          </a:p>
        </p:txBody>
      </p:sp>
      <p:sp>
        <p:nvSpPr>
          <p:cNvPr id="12" name="Text 10"/>
          <p:cNvSpPr/>
          <p:nvPr/>
        </p:nvSpPr>
        <p:spPr>
          <a:xfrm>
            <a:off x="704088" y="2651760"/>
            <a:ext cx="3282696" cy="1389888"/>
          </a:xfrm>
          <a:prstGeom prst="rect">
            <a:avLst/>
          </a:prstGeom>
          <a:noFill/>
          <a:ln/>
        </p:spPr>
        <p:txBody>
          <a:bodyPr wrap="square" lIns="0" tIns="0" rIns="0" bIns="0" rtlCol="0" anchor="t">
            <a:normAutofit/>
          </a:bodyPr>
          <a:lstStyle/>
          <a:p>
            <a:pPr indent="0" marL="0">
              <a:buNone/>
            </a:pPr>
            <a:r>
              <a:rPr lang="en-US" sz="1600" dirty="0">
                <a:solidFill>
                  <a:srgbClr val="203038"/>
                </a:solidFill>
                <a:latin typeface="Microsoft YaHei" pitchFamily="34" charset="0"/>
                <a:ea typeface="Microsoft YaHei" pitchFamily="34" charset="-122"/>
                <a:cs typeface="Microsoft YaHei" pitchFamily="34" charset="-120"/>
              </a:rPr>
              <a:t>临床 AI 四项业务接口</a:t>
            </a:r>
            <a:endParaRPr lang="en-US" sz="1600" dirty="0"/>
          </a:p>
          <a:p>
            <a:pPr indent="0" marL="0">
              <a:buNone/>
            </a:pPr>
            <a:r>
              <a:rPr lang="en-US" sz="1600" dirty="0">
                <a:solidFill>
                  <a:srgbClr val="203038"/>
                </a:solidFill>
                <a:latin typeface="Microsoft YaHei" pitchFamily="34" charset="0"/>
                <a:ea typeface="Microsoft YaHei" pitchFamily="34" charset="-122"/>
                <a:cs typeface="Microsoft YaHei" pitchFamily="34" charset="-120"/>
              </a:rPr>
              <a:t>RAG 文档导入、检索与回答</a:t>
            </a:r>
            <a:endParaRPr lang="en-US" sz="1600" dirty="0"/>
          </a:p>
          <a:p>
            <a:pPr indent="0" marL="0">
              <a:buNone/>
            </a:pPr>
            <a:r>
              <a:rPr lang="en-US" sz="1600" dirty="0">
                <a:solidFill>
                  <a:srgbClr val="203038"/>
                </a:solidFill>
                <a:latin typeface="Microsoft YaHei" pitchFamily="34" charset="0"/>
                <a:ea typeface="Microsoft YaHei" pitchFamily="34" charset="-122"/>
                <a:cs typeface="Microsoft YaHei" pitchFamily="34" charset="-120"/>
              </a:rPr>
              <a:t>DDInter 数据解析与索引</a:t>
            </a:r>
            <a:endParaRPr lang="en-US" sz="1600" dirty="0"/>
          </a:p>
          <a:p>
            <a:pPr indent="0" marL="0">
              <a:buNone/>
            </a:pPr>
            <a:r>
              <a:rPr lang="en-US" sz="1600" dirty="0">
                <a:solidFill>
                  <a:srgbClr val="203038"/>
                </a:solidFill>
                <a:latin typeface="Microsoft YaHei" pitchFamily="34" charset="0"/>
                <a:ea typeface="Microsoft YaHei" pitchFamily="34" charset="-122"/>
                <a:cs typeface="Microsoft YaHei" pitchFamily="34" charset="-120"/>
              </a:rPr>
              <a:t>医生工作台接口适配与联调</a:t>
            </a:r>
            <a:endParaRPr lang="en-US" sz="1600" dirty="0"/>
          </a:p>
        </p:txBody>
      </p:sp>
      <p:sp>
        <p:nvSpPr>
          <p:cNvPr id="13" name="Shape 11"/>
          <p:cNvSpPr/>
          <p:nvPr/>
        </p:nvSpPr>
        <p:spPr>
          <a:xfrm>
            <a:off x="4407408" y="1938528"/>
            <a:ext cx="7251192" cy="2267712"/>
          </a:xfrm>
          <a:prstGeom prst="rect">
            <a:avLst/>
          </a:prstGeom>
          <a:solidFill>
            <a:srgbClr val="FFFFFF"/>
          </a:solidFill>
          <a:ln w="7620">
            <a:solidFill>
              <a:srgbClr val="DDE5E8"/>
            </a:solidFill>
            <a:prstDash val="solid"/>
          </a:ln>
        </p:spPr>
      </p:sp>
      <p:sp>
        <p:nvSpPr>
          <p:cNvPr id="14" name="Shape 12"/>
          <p:cNvSpPr/>
          <p:nvPr/>
        </p:nvSpPr>
        <p:spPr>
          <a:xfrm>
            <a:off x="4407408" y="1938528"/>
            <a:ext cx="45720" cy="2267712"/>
          </a:xfrm>
          <a:prstGeom prst="rect">
            <a:avLst/>
          </a:prstGeom>
          <a:solidFill>
            <a:srgbClr val="487B9C"/>
          </a:solidFill>
          <a:ln w="7620">
            <a:solidFill>
              <a:srgbClr val="487B9C"/>
            </a:solidFill>
            <a:prstDash val="solid"/>
          </a:ln>
        </p:spPr>
      </p:sp>
      <p:sp>
        <p:nvSpPr>
          <p:cNvPr id="15" name="Text 13"/>
          <p:cNvSpPr/>
          <p:nvPr/>
        </p:nvSpPr>
        <p:spPr>
          <a:xfrm>
            <a:off x="4608576" y="2103120"/>
            <a:ext cx="6848856" cy="365760"/>
          </a:xfrm>
          <a:prstGeom prst="rect">
            <a:avLst/>
          </a:prstGeom>
          <a:noFill/>
          <a:ln/>
        </p:spPr>
        <p:txBody>
          <a:bodyPr wrap="square" lIns="0" tIns="0" rIns="0" bIns="0" rtlCol="0" anchor="ctr">
            <a:normAutofit/>
          </a:bodyPr>
          <a:lstStyle/>
          <a:p>
            <a:pPr indent="0" marL="0">
              <a:buNone/>
            </a:pPr>
            <a:r>
              <a:rPr lang="en-US" sz="1900" b="1" dirty="0">
                <a:solidFill>
                  <a:srgbClr val="487B9C"/>
                </a:solidFill>
                <a:latin typeface="Microsoft YaHei" pitchFamily="34" charset="0"/>
                <a:ea typeface="Microsoft YaHei" pitchFamily="34" charset="-122"/>
                <a:cs typeface="Microsoft YaHei" pitchFamily="34" charset="-120"/>
              </a:rPr>
              <a:t>核心技术栈</a:t>
            </a:r>
            <a:endParaRPr lang="en-US" sz="1900" dirty="0"/>
          </a:p>
        </p:txBody>
      </p:sp>
      <p:sp>
        <p:nvSpPr>
          <p:cNvPr id="16" name="Text 14"/>
          <p:cNvSpPr/>
          <p:nvPr/>
        </p:nvSpPr>
        <p:spPr>
          <a:xfrm>
            <a:off x="4608576" y="2651760"/>
            <a:ext cx="6848856" cy="1389888"/>
          </a:xfrm>
          <a:prstGeom prst="rect">
            <a:avLst/>
          </a:prstGeom>
          <a:noFill/>
          <a:ln/>
        </p:spPr>
        <p:txBody>
          <a:bodyPr wrap="square" lIns="0" tIns="0" rIns="0" bIns="0" rtlCol="0" anchor="t">
            <a:normAutofit/>
          </a:bodyPr>
          <a:lstStyle/>
          <a:p>
            <a:pPr indent="0" marL="0">
              <a:buNone/>
            </a:pPr>
            <a:r>
              <a:rPr lang="en-US" sz="1700" dirty="0">
                <a:solidFill>
                  <a:srgbClr val="203038"/>
                </a:solidFill>
                <a:latin typeface="Microsoft YaHei" pitchFamily="34" charset="0"/>
                <a:ea typeface="Microsoft YaHei" pitchFamily="34" charset="-122"/>
                <a:cs typeface="Microsoft YaHei" pitchFamily="34" charset="-120"/>
              </a:rPr>
              <a:t>Node.js + TypeScript + Express 5</a:t>
            </a:r>
            <a:endParaRPr lang="en-US" sz="1700" dirty="0"/>
          </a:p>
          <a:p>
            <a:pPr indent="0" marL="0">
              <a:buNone/>
            </a:pPr>
            <a:r>
              <a:rPr lang="en-US" sz="1700" dirty="0">
                <a:solidFill>
                  <a:srgbClr val="203038"/>
                </a:solidFill>
                <a:latin typeface="Microsoft YaHei" pitchFamily="34" charset="0"/>
                <a:ea typeface="Microsoft YaHei" pitchFamily="34" charset="-122"/>
                <a:cs typeface="Microsoft YaHei" pitchFamily="34" charset="-120"/>
              </a:rPr>
              <a:t>MySQL / MariaDB + mysql2</a:t>
            </a:r>
            <a:endParaRPr lang="en-US" sz="1700" dirty="0"/>
          </a:p>
          <a:p>
            <a:pPr indent="0" marL="0">
              <a:buNone/>
            </a:pPr>
            <a:r>
              <a:rPr lang="en-US" sz="1700" dirty="0">
                <a:solidFill>
                  <a:srgbClr val="203038"/>
                </a:solidFill>
                <a:latin typeface="Microsoft YaHei" pitchFamily="34" charset="0"/>
                <a:ea typeface="Microsoft YaHei" pitchFamily="34" charset="-122"/>
                <a:cs typeface="Microsoft YaHei" pitchFamily="34" charset="-120"/>
              </a:rPr>
              <a:t>火山方舟：Seed 2.0 Lite + Embedding</a:t>
            </a:r>
            <a:endParaRPr lang="en-US" sz="1700" dirty="0"/>
          </a:p>
          <a:p>
            <a:pPr indent="0" marL="0">
              <a:buNone/>
            </a:pPr>
            <a:r>
              <a:rPr lang="en-US" sz="1700" dirty="0">
                <a:solidFill>
                  <a:srgbClr val="203038"/>
                </a:solidFill>
                <a:latin typeface="Microsoft YaHei" pitchFamily="34" charset="0"/>
                <a:ea typeface="Microsoft YaHei" pitchFamily="34" charset="-122"/>
                <a:cs typeface="Microsoft YaHei" pitchFamily="34" charset="-120"/>
              </a:rPr>
              <a:t>Vue 3 / Element Plus 接口适配</a:t>
            </a:r>
            <a:endParaRPr lang="en-US" sz="1700" dirty="0"/>
          </a:p>
        </p:txBody>
      </p:sp>
      <p:sp>
        <p:nvSpPr>
          <p:cNvPr id="17" name="Shape 15"/>
          <p:cNvSpPr/>
          <p:nvPr/>
        </p:nvSpPr>
        <p:spPr>
          <a:xfrm>
            <a:off x="502920" y="4489704"/>
            <a:ext cx="11155680" cy="594360"/>
          </a:xfrm>
          <a:prstGeom prst="rect">
            <a:avLst/>
          </a:prstGeom>
          <a:solidFill>
            <a:srgbClr val="203038"/>
          </a:solidFill>
          <a:ln w="7620">
            <a:solidFill>
              <a:srgbClr val="203038"/>
            </a:solidFill>
            <a:prstDash val="solid"/>
          </a:ln>
        </p:spPr>
      </p:sp>
      <p:sp>
        <p:nvSpPr>
          <p:cNvPr id="18" name="Text 16"/>
          <p:cNvSpPr/>
          <p:nvPr/>
        </p:nvSpPr>
        <p:spPr>
          <a:xfrm>
            <a:off x="694944" y="4489704"/>
            <a:ext cx="10771632" cy="594360"/>
          </a:xfrm>
          <a:prstGeom prst="rect">
            <a:avLst/>
          </a:prstGeom>
          <a:noFill/>
          <a:ln/>
        </p:spPr>
        <p:txBody>
          <a:bodyPr wrap="square" lIns="0" tIns="0" rIns="0" bIns="0" rtlCol="0" anchor="ctr">
            <a:normAutofit/>
          </a:bodyPr>
          <a:lstStyle/>
          <a:p>
            <a:pPr algn="ctr" indent="0" marL="0">
              <a:buNone/>
            </a:pPr>
            <a:r>
              <a:rPr lang="en-US" sz="2000" b="1" dirty="0">
                <a:solidFill>
                  <a:srgbClr val="FFFFFF"/>
                </a:solidFill>
                <a:latin typeface="Microsoft YaHei" pitchFamily="34" charset="0"/>
                <a:ea typeface="Microsoft YaHei" pitchFamily="34" charset="-122"/>
                <a:cs typeface="Microsoft YaHei" pitchFamily="34" charset="-120"/>
              </a:rPr>
              <a:t>医生工作台  →  身份与角色校验  →  临床 AI 服务  →  来源展示与医生复核</a:t>
            </a:r>
            <a:endParaRPr lang="en-US" sz="2000" dirty="0"/>
          </a:p>
        </p:txBody>
      </p:sp>
      <p:sp>
        <p:nvSpPr>
          <p:cNvPr id="19" name="Text 17"/>
          <p:cNvSpPr/>
          <p:nvPr/>
        </p:nvSpPr>
        <p:spPr>
          <a:xfrm>
            <a:off x="612648" y="5440680"/>
            <a:ext cx="1828800" cy="301752"/>
          </a:xfrm>
          <a:prstGeom prst="rect">
            <a:avLst/>
          </a:prstGeom>
          <a:noFill/>
          <a:ln/>
        </p:spPr>
        <p:txBody>
          <a:bodyPr wrap="square" lIns="0" tIns="0" rIns="0" bIns="0" rtlCol="0" anchor="ctr">
            <a:normAutofit/>
          </a:bodyPr>
          <a:lstStyle/>
          <a:p>
            <a:pPr indent="0" marL="0">
              <a:buNone/>
            </a:pPr>
            <a:r>
              <a:rPr lang="en-US" sz="1700" b="1" dirty="0">
                <a:solidFill>
                  <a:srgbClr val="087E80"/>
                </a:solidFill>
                <a:latin typeface="Microsoft YaHei" pitchFamily="34" charset="0"/>
                <a:ea typeface="Microsoft YaHei" pitchFamily="34" charset="-122"/>
                <a:cs typeface="Microsoft YaHei" pitchFamily="34" charset="-120"/>
              </a:rPr>
              <a:t>生成式路径</a:t>
            </a:r>
            <a:endParaRPr lang="en-US" sz="1700" dirty="0"/>
          </a:p>
        </p:txBody>
      </p:sp>
      <p:sp>
        <p:nvSpPr>
          <p:cNvPr id="20" name="Text 18"/>
          <p:cNvSpPr/>
          <p:nvPr/>
        </p:nvSpPr>
        <p:spPr>
          <a:xfrm>
            <a:off x="2560320" y="5367528"/>
            <a:ext cx="8823960" cy="457200"/>
          </a:xfrm>
          <a:prstGeom prst="rect">
            <a:avLst/>
          </a:prstGeom>
          <a:noFill/>
          <a:ln/>
        </p:spPr>
        <p:txBody>
          <a:bodyPr wrap="square" lIns="0" tIns="0" rIns="0" bIns="0" rtlCol="0" anchor="ctr">
            <a:normAutofit/>
          </a:bodyPr>
          <a:lstStyle/>
          <a:p>
            <a:pPr indent="0" marL="0">
              <a:buNone/>
            </a:pPr>
            <a:r>
              <a:rPr lang="en-US" sz="1800" dirty="0">
                <a:solidFill>
                  <a:srgbClr val="203038"/>
                </a:solidFill>
                <a:latin typeface="Microsoft YaHei" pitchFamily="34" charset="0"/>
                <a:ea typeface="Microsoft YaHei" pitchFamily="34" charset="-122"/>
                <a:cs typeface="Microsoft YaHei" pitchFamily="34" charset="-120"/>
              </a:rPr>
              <a:t>原始问诊 / 检索证据 → 模型整理 → 内容校验</a:t>
            </a:r>
            <a:endParaRPr lang="en-US" sz="1800" dirty="0"/>
          </a:p>
        </p:txBody>
      </p:sp>
      <p:sp>
        <p:nvSpPr>
          <p:cNvPr id="21" name="Text 19"/>
          <p:cNvSpPr/>
          <p:nvPr/>
        </p:nvSpPr>
        <p:spPr>
          <a:xfrm>
            <a:off x="612648" y="5925312"/>
            <a:ext cx="1828800" cy="301752"/>
          </a:xfrm>
          <a:prstGeom prst="rect">
            <a:avLst/>
          </a:prstGeom>
          <a:noFill/>
          <a:ln/>
        </p:spPr>
        <p:txBody>
          <a:bodyPr wrap="square" lIns="0" tIns="0" rIns="0" bIns="0" rtlCol="0" anchor="ctr">
            <a:normAutofit/>
          </a:bodyPr>
          <a:lstStyle/>
          <a:p>
            <a:pPr indent="0" marL="0">
              <a:buNone/>
            </a:pPr>
            <a:r>
              <a:rPr lang="en-US" sz="1700" b="1" dirty="0">
                <a:solidFill>
                  <a:srgbClr val="B17A12"/>
                </a:solidFill>
                <a:latin typeface="Microsoft YaHei" pitchFamily="34" charset="0"/>
                <a:ea typeface="Microsoft YaHei" pitchFamily="34" charset="-122"/>
                <a:cs typeface="Microsoft YaHei" pitchFamily="34" charset="-120"/>
              </a:rPr>
              <a:t>确定性路径</a:t>
            </a:r>
            <a:endParaRPr lang="en-US" sz="1700" dirty="0"/>
          </a:p>
        </p:txBody>
      </p:sp>
      <p:sp>
        <p:nvSpPr>
          <p:cNvPr id="22" name="Text 20"/>
          <p:cNvSpPr/>
          <p:nvPr/>
        </p:nvSpPr>
        <p:spPr>
          <a:xfrm>
            <a:off x="2560320" y="5852160"/>
            <a:ext cx="8823960" cy="457200"/>
          </a:xfrm>
          <a:prstGeom prst="rect">
            <a:avLst/>
          </a:prstGeom>
          <a:noFill/>
          <a:ln/>
        </p:spPr>
        <p:txBody>
          <a:bodyPr wrap="square" lIns="0" tIns="0" rIns="0" bIns="0" rtlCol="0" anchor="ctr">
            <a:normAutofit/>
          </a:bodyPr>
          <a:lstStyle/>
          <a:p>
            <a:pPr indent="0" marL="0">
              <a:buNone/>
            </a:pPr>
            <a:r>
              <a:rPr lang="en-US" sz="1800" dirty="0">
                <a:solidFill>
                  <a:srgbClr val="203038"/>
                </a:solidFill>
                <a:latin typeface="Microsoft YaHei" pitchFamily="34" charset="0"/>
                <a:ea typeface="Microsoft YaHei" pitchFamily="34" charset="-122"/>
                <a:cs typeface="Microsoft YaHei" pitchFamily="34" charset="-120"/>
              </a:rPr>
              <a:t>药品解析 / 过敏规则 / DDInter → 结构化风险提示</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sp>
      <p:sp>
        <p:nvSpPr>
          <p:cNvPr id="3" name="Text 1"/>
          <p:cNvSpPr/>
          <p:nvPr/>
        </p:nvSpPr>
        <p:spPr>
          <a:xfrm>
            <a:off x="502920" y="301752"/>
            <a:ext cx="11155680" cy="274320"/>
          </a:xfrm>
          <a:prstGeom prst="rect">
            <a:avLst/>
          </a:prstGeom>
          <a:noFill/>
          <a:ln/>
        </p:spPr>
        <p:txBody>
          <a:bodyPr wrap="square" lIns="0" tIns="0" rIns="0" bIns="0" rtlCol="0" anchor="ctr">
            <a:normAutofit/>
          </a:bodyPr>
          <a:lstStyle/>
          <a:p>
            <a:pPr indent="0" marL="0">
              <a:buNone/>
            </a:pPr>
            <a:r>
              <a:rPr lang="en-US" sz="1100" b="1" dirty="0">
                <a:solidFill>
                  <a:srgbClr val="087E80"/>
                </a:solidFill>
                <a:latin typeface="Microsoft YaHei" pitchFamily="34" charset="0"/>
                <a:ea typeface="Microsoft YaHei" pitchFamily="34" charset="-122"/>
                <a:cs typeface="Microsoft YaHei" pitchFamily="34" charset="-120"/>
              </a:rPr>
              <a:t>02 / 临床 AI 功能</a:t>
            </a:r>
            <a:endParaRPr lang="en-US" sz="1100" dirty="0"/>
          </a:p>
        </p:txBody>
      </p:sp>
      <p:sp>
        <p:nvSpPr>
          <p:cNvPr id="4" name="Text 2"/>
          <p:cNvSpPr/>
          <p:nvPr/>
        </p:nvSpPr>
        <p:spPr>
          <a:xfrm>
            <a:off x="502920" y="777240"/>
            <a:ext cx="11155680" cy="548640"/>
          </a:xfrm>
          <a:prstGeom prst="rect">
            <a:avLst/>
          </a:prstGeom>
          <a:noFill/>
          <a:ln/>
        </p:spPr>
        <p:txBody>
          <a:bodyPr wrap="square" lIns="0" tIns="0" rIns="0" bIns="0" rtlCol="0" anchor="ctr">
            <a:normAutofit/>
          </a:bodyPr>
          <a:lstStyle/>
          <a:p>
            <a:pPr indent="0" marL="0">
              <a:buNone/>
            </a:pPr>
            <a:r>
              <a:rPr lang="en-US" sz="2900" b="1" dirty="0">
                <a:solidFill>
                  <a:srgbClr val="203038"/>
                </a:solidFill>
                <a:latin typeface="Microsoft YaHei" pitchFamily="34" charset="0"/>
                <a:ea typeface="Microsoft YaHei" pitchFamily="34" charset="-122"/>
                <a:cs typeface="Microsoft YaHei" pitchFamily="34" charset="-120"/>
              </a:rPr>
              <a:t>四项工作流：减少整理与查找，保留医生决策</a:t>
            </a:r>
            <a:endParaRPr lang="en-US" sz="2900" dirty="0"/>
          </a:p>
        </p:txBody>
      </p:sp>
      <p:sp>
        <p:nvSpPr>
          <p:cNvPr id="5" name="Text 3"/>
          <p:cNvSpPr/>
          <p:nvPr/>
        </p:nvSpPr>
        <p:spPr>
          <a:xfrm>
            <a:off x="512064" y="1408176"/>
            <a:ext cx="11064240" cy="365760"/>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对应 4 个 POST 接口；输出辅助结果，不自动形成诊断或处方。</a:t>
            </a:r>
            <a:endParaRPr lang="en-US" sz="1400" dirty="0"/>
          </a:p>
        </p:txBody>
      </p:sp>
      <p:sp>
        <p:nvSpPr>
          <p:cNvPr id="6" name="Shape 4"/>
          <p:cNvSpPr/>
          <p:nvPr/>
        </p:nvSpPr>
        <p:spPr>
          <a:xfrm>
            <a:off x="502920" y="6419088"/>
            <a:ext cx="11155680" cy="0"/>
          </a:xfrm>
          <a:prstGeom prst="line">
            <a:avLst/>
          </a:prstGeom>
          <a:noFill/>
          <a:ln w="12700">
            <a:solidFill>
              <a:srgbClr val="DDE5E8"/>
            </a:solidFill>
            <a:prstDash val="solid"/>
          </a:ln>
        </p:spPr>
      </p:sp>
      <p:sp>
        <p:nvSpPr>
          <p:cNvPr id="7" name="Text 5"/>
          <p:cNvSpPr/>
          <p:nvPr/>
        </p:nvSpPr>
        <p:spPr>
          <a:xfrm>
            <a:off x="502920" y="6510528"/>
            <a:ext cx="9875520" cy="182880"/>
          </a:xfrm>
          <a:prstGeom prst="rect">
            <a:avLst/>
          </a:prstGeom>
          <a:noFill/>
          <a:ln/>
        </p:spPr>
        <p:txBody>
          <a:bodyPr wrap="square" lIns="0" tIns="0" rIns="0" bIns="0" rtlCol="0" anchor="ctr">
            <a:normAutofit/>
          </a:bodyPr>
          <a:lstStyle/>
          <a:p>
            <a:pPr indent="0" marL="0">
              <a:buNone/>
            </a:pPr>
            <a:r>
              <a:rPr lang="en-US" sz="900" dirty="0">
                <a:solidFill>
                  <a:srgbClr val="62727A"/>
                </a:solidFill>
                <a:latin typeface="Microsoft YaHei" pitchFamily="34" charset="0"/>
                <a:ea typeface="Microsoft YaHei" pitchFamily="34" charset="-122"/>
                <a:cs typeface="Microsoft YaHei" pitchFamily="34" charset="-120"/>
              </a:rPr>
              <a:t>个人工作汇报  /  临床 AI 与知识工程  /  非商业课程设计</a:t>
            </a:r>
            <a:endParaRPr lang="en-US" sz="900" dirty="0"/>
          </a:p>
        </p:txBody>
      </p:sp>
      <p:sp>
        <p:nvSpPr>
          <p:cNvPr id="8" name="Text 6"/>
          <p:cNvSpPr/>
          <p:nvPr/>
        </p:nvSpPr>
        <p:spPr>
          <a:xfrm>
            <a:off x="10652760" y="6483096"/>
            <a:ext cx="1005840" cy="228600"/>
          </a:xfrm>
          <a:prstGeom prst="rect">
            <a:avLst/>
          </a:prstGeom>
          <a:noFill/>
          <a:ln/>
        </p:spPr>
        <p:txBody>
          <a:bodyPr wrap="square" lIns="0" tIns="0" rIns="0" bIns="0" rtlCol="0" anchor="ctr">
            <a:normAutofit/>
          </a:bodyPr>
          <a:lstStyle/>
          <a:p>
            <a:pPr algn="r" indent="0" marL="0">
              <a:buNone/>
            </a:pPr>
            <a:r>
              <a:rPr lang="en-US" sz="1000" dirty="0">
                <a:solidFill>
                  <a:srgbClr val="62727A"/>
                </a:solidFill>
                <a:latin typeface="Microsoft YaHei" pitchFamily="34" charset="0"/>
                <a:ea typeface="Microsoft YaHei" pitchFamily="34" charset="-122"/>
                <a:cs typeface="Microsoft YaHei" pitchFamily="34" charset="-120"/>
              </a:rPr>
              <a:t>03 / 06</a:t>
            </a:r>
            <a:endParaRPr lang="en-US" sz="1000" dirty="0"/>
          </a:p>
        </p:txBody>
      </p:sp>
      <p:sp>
        <p:nvSpPr>
          <p:cNvPr id="9" name="Shape 7"/>
          <p:cNvSpPr/>
          <p:nvPr/>
        </p:nvSpPr>
        <p:spPr>
          <a:xfrm>
            <a:off x="502920" y="1938528"/>
            <a:ext cx="5458968" cy="1719072"/>
          </a:xfrm>
          <a:prstGeom prst="rect">
            <a:avLst/>
          </a:prstGeom>
          <a:solidFill>
            <a:srgbClr val="FFFFFF"/>
          </a:solidFill>
          <a:ln w="7620">
            <a:solidFill>
              <a:srgbClr val="DDE5E8"/>
            </a:solidFill>
            <a:prstDash val="solid"/>
          </a:ln>
        </p:spPr>
      </p:sp>
      <p:sp>
        <p:nvSpPr>
          <p:cNvPr id="10" name="Shape 8"/>
          <p:cNvSpPr/>
          <p:nvPr/>
        </p:nvSpPr>
        <p:spPr>
          <a:xfrm>
            <a:off x="502920" y="1938528"/>
            <a:ext cx="45720" cy="1719072"/>
          </a:xfrm>
          <a:prstGeom prst="rect">
            <a:avLst/>
          </a:prstGeom>
          <a:solidFill>
            <a:srgbClr val="087E80"/>
          </a:solidFill>
          <a:ln w="7620">
            <a:solidFill>
              <a:srgbClr val="087E80"/>
            </a:solidFill>
            <a:prstDash val="solid"/>
          </a:ln>
        </p:spPr>
      </p:sp>
      <p:sp>
        <p:nvSpPr>
          <p:cNvPr id="11" name="Text 9"/>
          <p:cNvSpPr/>
          <p:nvPr/>
        </p:nvSpPr>
        <p:spPr>
          <a:xfrm>
            <a:off x="704088" y="2103120"/>
            <a:ext cx="5056632" cy="365760"/>
          </a:xfrm>
          <a:prstGeom prst="rect">
            <a:avLst/>
          </a:prstGeom>
          <a:noFill/>
          <a:ln/>
        </p:spPr>
        <p:txBody>
          <a:bodyPr wrap="square" lIns="0" tIns="0" rIns="0" bIns="0" rtlCol="0" anchor="ctr">
            <a:normAutofit/>
          </a:bodyPr>
          <a:lstStyle/>
          <a:p>
            <a:pPr indent="0" marL="0">
              <a:buNone/>
            </a:pPr>
            <a:r>
              <a:rPr lang="en-US" sz="1900" b="1" dirty="0">
                <a:solidFill>
                  <a:srgbClr val="087E80"/>
                </a:solidFill>
                <a:latin typeface="Microsoft YaHei" pitchFamily="34" charset="0"/>
                <a:ea typeface="Microsoft YaHei" pitchFamily="34" charset="-122"/>
                <a:cs typeface="Microsoft YaHei" pitchFamily="34" charset="-120"/>
              </a:rPr>
              <a:t>01  病历草稿</a:t>
            </a:r>
            <a:endParaRPr lang="en-US" sz="1900" dirty="0"/>
          </a:p>
        </p:txBody>
      </p:sp>
      <p:sp>
        <p:nvSpPr>
          <p:cNvPr id="12" name="Text 10"/>
          <p:cNvSpPr/>
          <p:nvPr/>
        </p:nvSpPr>
        <p:spPr>
          <a:xfrm>
            <a:off x="704088" y="2651760"/>
            <a:ext cx="5056632" cy="841248"/>
          </a:xfrm>
          <a:prstGeom prst="rect">
            <a:avLst/>
          </a:prstGeom>
          <a:noFill/>
          <a:ln/>
        </p:spPr>
        <p:txBody>
          <a:bodyPr wrap="square" lIns="0" tIns="0" rIns="0" bIns="0" rtlCol="0" anchor="t">
            <a:normAutofit/>
          </a:bodyPr>
          <a:lstStyle/>
          <a:p>
            <a:pPr indent="0" marL="0">
              <a:buNone/>
            </a:pPr>
            <a:r>
              <a:rPr lang="en-US" sz="1600" dirty="0">
                <a:solidFill>
                  <a:srgbClr val="203038"/>
                </a:solidFill>
                <a:latin typeface="Microsoft YaHei" pitchFamily="34" charset="0"/>
                <a:ea typeface="Microsoft YaHei" pitchFamily="34" charset="-122"/>
                <a:cs typeface="Microsoft YaHei" pitchFamily="34" charset="-120"/>
              </a:rPr>
              <a:t>将已有问诊整理为可编辑草稿</a:t>
            </a:r>
            <a:endParaRPr lang="en-US" sz="1600" dirty="0"/>
          </a:p>
          <a:p>
            <a:pPr indent="0" marL="0">
              <a:buNone/>
            </a:pPr>
            <a:r>
              <a:rPr lang="en-US" sz="1600" dirty="0">
                <a:solidFill>
                  <a:srgbClr val="203038"/>
                </a:solidFill>
                <a:latin typeface="Microsoft YaHei" pitchFamily="34" charset="0"/>
                <a:ea typeface="Microsoft YaHei" pitchFamily="34" charset="-122"/>
                <a:cs typeface="Microsoft YaHei" pitchFamily="34" charset="-120"/>
              </a:rPr>
              <a:t>保留来源，待医生诊断与复核</a:t>
            </a:r>
            <a:endParaRPr lang="en-US" sz="1600" dirty="0"/>
          </a:p>
        </p:txBody>
      </p:sp>
      <p:sp>
        <p:nvSpPr>
          <p:cNvPr id="13" name="Text 11"/>
          <p:cNvSpPr/>
          <p:nvPr/>
        </p:nvSpPr>
        <p:spPr>
          <a:xfrm>
            <a:off x="704088" y="3346704"/>
            <a:ext cx="5047488" cy="219456"/>
          </a:xfrm>
          <a:prstGeom prst="rect">
            <a:avLst/>
          </a:prstGeom>
          <a:noFill/>
          <a:ln/>
        </p:spPr>
        <p:txBody>
          <a:bodyPr wrap="square" lIns="0" tIns="0" rIns="0" bIns="0" rtlCol="0" anchor="ctr">
            <a:normAutofit/>
          </a:bodyPr>
          <a:lstStyle/>
          <a:p>
            <a:pPr indent="0" marL="0">
              <a:buNone/>
            </a:pPr>
            <a:r>
              <a:rPr lang="en-US" sz="1100" dirty="0">
                <a:solidFill>
                  <a:srgbClr val="62727A"/>
                </a:solidFill>
                <a:latin typeface="Microsoft YaHei" pitchFamily="34" charset="0"/>
                <a:ea typeface="Microsoft YaHei" pitchFamily="34" charset="-122"/>
                <a:cs typeface="Microsoft YaHei" pitchFamily="34" charset="-120"/>
              </a:rPr>
              <a:t>POST /api/ai/record-draft</a:t>
            </a:r>
            <a:endParaRPr lang="en-US" sz="1100" dirty="0"/>
          </a:p>
        </p:txBody>
      </p:sp>
      <p:sp>
        <p:nvSpPr>
          <p:cNvPr id="14" name="Shape 12"/>
          <p:cNvSpPr/>
          <p:nvPr/>
        </p:nvSpPr>
        <p:spPr>
          <a:xfrm>
            <a:off x="6199632" y="1938528"/>
            <a:ext cx="5458968" cy="1719072"/>
          </a:xfrm>
          <a:prstGeom prst="rect">
            <a:avLst/>
          </a:prstGeom>
          <a:solidFill>
            <a:srgbClr val="FFFFFF"/>
          </a:solidFill>
          <a:ln w="7620">
            <a:solidFill>
              <a:srgbClr val="DDE5E8"/>
            </a:solidFill>
            <a:prstDash val="solid"/>
          </a:ln>
        </p:spPr>
      </p:sp>
      <p:sp>
        <p:nvSpPr>
          <p:cNvPr id="15" name="Shape 13"/>
          <p:cNvSpPr/>
          <p:nvPr/>
        </p:nvSpPr>
        <p:spPr>
          <a:xfrm>
            <a:off x="6199632" y="1938528"/>
            <a:ext cx="45720" cy="1719072"/>
          </a:xfrm>
          <a:prstGeom prst="rect">
            <a:avLst/>
          </a:prstGeom>
          <a:solidFill>
            <a:srgbClr val="487B9C"/>
          </a:solidFill>
          <a:ln w="7620">
            <a:solidFill>
              <a:srgbClr val="487B9C"/>
            </a:solidFill>
            <a:prstDash val="solid"/>
          </a:ln>
        </p:spPr>
      </p:sp>
      <p:sp>
        <p:nvSpPr>
          <p:cNvPr id="16" name="Text 14"/>
          <p:cNvSpPr/>
          <p:nvPr/>
        </p:nvSpPr>
        <p:spPr>
          <a:xfrm>
            <a:off x="6400800" y="2103120"/>
            <a:ext cx="5056632" cy="365760"/>
          </a:xfrm>
          <a:prstGeom prst="rect">
            <a:avLst/>
          </a:prstGeom>
          <a:noFill/>
          <a:ln/>
        </p:spPr>
        <p:txBody>
          <a:bodyPr wrap="square" lIns="0" tIns="0" rIns="0" bIns="0" rtlCol="0" anchor="ctr">
            <a:normAutofit/>
          </a:bodyPr>
          <a:lstStyle/>
          <a:p>
            <a:pPr indent="0" marL="0">
              <a:buNone/>
            </a:pPr>
            <a:r>
              <a:rPr lang="en-US" sz="1900" b="1" dirty="0">
                <a:solidFill>
                  <a:srgbClr val="487B9C"/>
                </a:solidFill>
                <a:latin typeface="Microsoft YaHei" pitchFamily="34" charset="0"/>
                <a:ea typeface="Microsoft YaHei" pitchFamily="34" charset="-122"/>
                <a:cs typeface="Microsoft YaHei" pitchFamily="34" charset="-120"/>
              </a:rPr>
              <a:t>02  问诊摘要</a:t>
            </a:r>
            <a:endParaRPr lang="en-US" sz="1900" dirty="0"/>
          </a:p>
        </p:txBody>
      </p:sp>
      <p:sp>
        <p:nvSpPr>
          <p:cNvPr id="17" name="Text 15"/>
          <p:cNvSpPr/>
          <p:nvPr/>
        </p:nvSpPr>
        <p:spPr>
          <a:xfrm>
            <a:off x="6400800" y="2651760"/>
            <a:ext cx="5056632" cy="841248"/>
          </a:xfrm>
          <a:prstGeom prst="rect">
            <a:avLst/>
          </a:prstGeom>
          <a:noFill/>
          <a:ln/>
        </p:spPr>
        <p:txBody>
          <a:bodyPr wrap="square" lIns="0" tIns="0" rIns="0" bIns="0" rtlCol="0" anchor="t">
            <a:normAutofit/>
          </a:bodyPr>
          <a:lstStyle/>
          <a:p>
            <a:pPr indent="0" marL="0">
              <a:buNone/>
            </a:pPr>
            <a:r>
              <a:rPr lang="en-US" sz="1600" dirty="0">
                <a:solidFill>
                  <a:srgbClr val="203038"/>
                </a:solidFill>
                <a:latin typeface="Microsoft YaHei" pitchFamily="34" charset="0"/>
                <a:ea typeface="Microsoft YaHei" pitchFamily="34" charset="-122"/>
                <a:cs typeface="Microsoft YaHei" pitchFamily="34" charset="-120"/>
              </a:rPr>
              <a:t>归纳记录与后续重点事项</a:t>
            </a:r>
            <a:endParaRPr lang="en-US" sz="1600" dirty="0"/>
          </a:p>
          <a:p>
            <a:pPr indent="0" marL="0">
              <a:buNone/>
            </a:pPr>
            <a:r>
              <a:rPr lang="en-US" sz="1600" dirty="0">
                <a:solidFill>
                  <a:srgbClr val="203038"/>
                </a:solidFill>
                <a:latin typeface="Microsoft YaHei" pitchFamily="34" charset="0"/>
                <a:ea typeface="Microsoft YaHei" pitchFamily="34" charset="-122"/>
                <a:cs typeface="Microsoft YaHei" pitchFamily="34" charset="-120"/>
              </a:rPr>
              <a:t>区分患者陈述和诊断结论</a:t>
            </a:r>
            <a:endParaRPr lang="en-US" sz="1600" dirty="0"/>
          </a:p>
        </p:txBody>
      </p:sp>
      <p:sp>
        <p:nvSpPr>
          <p:cNvPr id="18" name="Text 16"/>
          <p:cNvSpPr/>
          <p:nvPr/>
        </p:nvSpPr>
        <p:spPr>
          <a:xfrm>
            <a:off x="6400800" y="3346704"/>
            <a:ext cx="5047488" cy="219456"/>
          </a:xfrm>
          <a:prstGeom prst="rect">
            <a:avLst/>
          </a:prstGeom>
          <a:noFill/>
          <a:ln/>
        </p:spPr>
        <p:txBody>
          <a:bodyPr wrap="square" lIns="0" tIns="0" rIns="0" bIns="0" rtlCol="0" anchor="ctr">
            <a:normAutofit/>
          </a:bodyPr>
          <a:lstStyle/>
          <a:p>
            <a:pPr indent="0" marL="0">
              <a:buNone/>
            </a:pPr>
            <a:r>
              <a:rPr lang="en-US" sz="1100" dirty="0">
                <a:solidFill>
                  <a:srgbClr val="62727A"/>
                </a:solidFill>
                <a:latin typeface="Microsoft YaHei" pitchFamily="34" charset="0"/>
                <a:ea typeface="Microsoft YaHei" pitchFamily="34" charset="-122"/>
                <a:cs typeface="Microsoft YaHei" pitchFamily="34" charset="-120"/>
              </a:rPr>
              <a:t>POST /api/ai/consultation-summary</a:t>
            </a:r>
            <a:endParaRPr lang="en-US" sz="1100" dirty="0"/>
          </a:p>
        </p:txBody>
      </p:sp>
      <p:sp>
        <p:nvSpPr>
          <p:cNvPr id="19" name="Shape 17"/>
          <p:cNvSpPr/>
          <p:nvPr/>
        </p:nvSpPr>
        <p:spPr>
          <a:xfrm>
            <a:off x="502920" y="3822192"/>
            <a:ext cx="5458968" cy="1719072"/>
          </a:xfrm>
          <a:prstGeom prst="rect">
            <a:avLst/>
          </a:prstGeom>
          <a:solidFill>
            <a:srgbClr val="FFFFFF"/>
          </a:solidFill>
          <a:ln w="7620">
            <a:solidFill>
              <a:srgbClr val="DDE5E8"/>
            </a:solidFill>
            <a:prstDash val="solid"/>
          </a:ln>
        </p:spPr>
      </p:sp>
      <p:sp>
        <p:nvSpPr>
          <p:cNvPr id="20" name="Shape 18"/>
          <p:cNvSpPr/>
          <p:nvPr/>
        </p:nvSpPr>
        <p:spPr>
          <a:xfrm>
            <a:off x="502920" y="3822192"/>
            <a:ext cx="45720" cy="1719072"/>
          </a:xfrm>
          <a:prstGeom prst="rect">
            <a:avLst/>
          </a:prstGeom>
          <a:solidFill>
            <a:srgbClr val="487B9C"/>
          </a:solidFill>
          <a:ln w="7620">
            <a:solidFill>
              <a:srgbClr val="487B9C"/>
            </a:solidFill>
            <a:prstDash val="solid"/>
          </a:ln>
        </p:spPr>
      </p:sp>
      <p:sp>
        <p:nvSpPr>
          <p:cNvPr id="21" name="Text 19"/>
          <p:cNvSpPr/>
          <p:nvPr/>
        </p:nvSpPr>
        <p:spPr>
          <a:xfrm>
            <a:off x="704088" y="3986784"/>
            <a:ext cx="5056632" cy="365760"/>
          </a:xfrm>
          <a:prstGeom prst="rect">
            <a:avLst/>
          </a:prstGeom>
          <a:noFill/>
          <a:ln/>
        </p:spPr>
        <p:txBody>
          <a:bodyPr wrap="square" lIns="0" tIns="0" rIns="0" bIns="0" rtlCol="0" anchor="ctr">
            <a:normAutofit/>
          </a:bodyPr>
          <a:lstStyle/>
          <a:p>
            <a:pPr indent="0" marL="0">
              <a:buNone/>
            </a:pPr>
            <a:r>
              <a:rPr lang="en-US" sz="1900" b="1" dirty="0">
                <a:solidFill>
                  <a:srgbClr val="487B9C"/>
                </a:solidFill>
                <a:latin typeface="Microsoft YaHei" pitchFamily="34" charset="0"/>
                <a:ea typeface="Microsoft YaHei" pitchFamily="34" charset="-122"/>
                <a:cs typeface="Microsoft YaHei" pitchFamily="34" charset="-120"/>
              </a:rPr>
              <a:t>03  相似病历</a:t>
            </a:r>
            <a:endParaRPr lang="en-US" sz="1900" dirty="0"/>
          </a:p>
        </p:txBody>
      </p:sp>
      <p:sp>
        <p:nvSpPr>
          <p:cNvPr id="22" name="Text 20"/>
          <p:cNvSpPr/>
          <p:nvPr/>
        </p:nvSpPr>
        <p:spPr>
          <a:xfrm>
            <a:off x="704088" y="4535424"/>
            <a:ext cx="5056632" cy="841248"/>
          </a:xfrm>
          <a:prstGeom prst="rect">
            <a:avLst/>
          </a:prstGeom>
          <a:noFill/>
          <a:ln/>
        </p:spPr>
        <p:txBody>
          <a:bodyPr wrap="square" lIns="0" tIns="0" rIns="0" bIns="0" rtlCol="0" anchor="t">
            <a:normAutofit/>
          </a:bodyPr>
          <a:lstStyle/>
          <a:p>
            <a:pPr indent="0" marL="0">
              <a:buNone/>
            </a:pPr>
            <a:r>
              <a:rPr lang="en-US" sz="1600" dirty="0">
                <a:solidFill>
                  <a:srgbClr val="203038"/>
                </a:solidFill>
                <a:latin typeface="Microsoft YaHei" pitchFamily="34" charset="0"/>
                <a:ea typeface="Microsoft YaHei" pitchFamily="34" charset="-122"/>
                <a:cs typeface="Microsoft YaHei" pitchFamily="34" charset="-120"/>
              </a:rPr>
              <a:t>最多 5 个模拟病例 + 2 条相关指南</a:t>
            </a:r>
            <a:endParaRPr lang="en-US" sz="1600" dirty="0"/>
          </a:p>
          <a:p>
            <a:pPr indent="0" marL="0">
              <a:buNone/>
            </a:pPr>
            <a:r>
              <a:rPr lang="en-US" sz="1600" dirty="0">
                <a:solidFill>
                  <a:srgbClr val="203038"/>
                </a:solidFill>
                <a:latin typeface="Microsoft YaHei" pitchFamily="34" charset="0"/>
                <a:ea typeface="Microsoft YaHei" pitchFamily="34" charset="-122"/>
                <a:cs typeface="Microsoft YaHei" pitchFamily="34" charset="-120"/>
              </a:rPr>
              <a:t>相似度仅用于排序，不是诊断概率</a:t>
            </a:r>
            <a:endParaRPr lang="en-US" sz="1600" dirty="0"/>
          </a:p>
        </p:txBody>
      </p:sp>
      <p:sp>
        <p:nvSpPr>
          <p:cNvPr id="23" name="Text 21"/>
          <p:cNvSpPr/>
          <p:nvPr/>
        </p:nvSpPr>
        <p:spPr>
          <a:xfrm>
            <a:off x="704088" y="5230368"/>
            <a:ext cx="5047488" cy="219456"/>
          </a:xfrm>
          <a:prstGeom prst="rect">
            <a:avLst/>
          </a:prstGeom>
          <a:noFill/>
          <a:ln/>
        </p:spPr>
        <p:txBody>
          <a:bodyPr wrap="square" lIns="0" tIns="0" rIns="0" bIns="0" rtlCol="0" anchor="ctr">
            <a:normAutofit/>
          </a:bodyPr>
          <a:lstStyle/>
          <a:p>
            <a:pPr indent="0" marL="0">
              <a:buNone/>
            </a:pPr>
            <a:r>
              <a:rPr lang="en-US" sz="1100" dirty="0">
                <a:solidFill>
                  <a:srgbClr val="62727A"/>
                </a:solidFill>
                <a:latin typeface="Microsoft YaHei" pitchFamily="34" charset="0"/>
                <a:ea typeface="Microsoft YaHei" pitchFamily="34" charset="-122"/>
                <a:cs typeface="Microsoft YaHei" pitchFamily="34" charset="-120"/>
              </a:rPr>
              <a:t>POST /api/ai/similar-cases</a:t>
            </a:r>
            <a:endParaRPr lang="en-US" sz="1100" dirty="0"/>
          </a:p>
        </p:txBody>
      </p:sp>
      <p:sp>
        <p:nvSpPr>
          <p:cNvPr id="24" name="Shape 22"/>
          <p:cNvSpPr/>
          <p:nvPr/>
        </p:nvSpPr>
        <p:spPr>
          <a:xfrm>
            <a:off x="6199632" y="3822192"/>
            <a:ext cx="5458968" cy="1719072"/>
          </a:xfrm>
          <a:prstGeom prst="rect">
            <a:avLst/>
          </a:prstGeom>
          <a:solidFill>
            <a:srgbClr val="FFFFFF"/>
          </a:solidFill>
          <a:ln w="7620">
            <a:solidFill>
              <a:srgbClr val="DDE5E8"/>
            </a:solidFill>
            <a:prstDash val="solid"/>
          </a:ln>
        </p:spPr>
      </p:sp>
      <p:sp>
        <p:nvSpPr>
          <p:cNvPr id="25" name="Shape 23"/>
          <p:cNvSpPr/>
          <p:nvPr/>
        </p:nvSpPr>
        <p:spPr>
          <a:xfrm>
            <a:off x="6199632" y="3822192"/>
            <a:ext cx="45720" cy="1719072"/>
          </a:xfrm>
          <a:prstGeom prst="rect">
            <a:avLst/>
          </a:prstGeom>
          <a:solidFill>
            <a:srgbClr val="B17A12"/>
          </a:solidFill>
          <a:ln w="7620">
            <a:solidFill>
              <a:srgbClr val="B17A12"/>
            </a:solidFill>
            <a:prstDash val="solid"/>
          </a:ln>
        </p:spPr>
      </p:sp>
      <p:sp>
        <p:nvSpPr>
          <p:cNvPr id="26" name="Text 24"/>
          <p:cNvSpPr/>
          <p:nvPr/>
        </p:nvSpPr>
        <p:spPr>
          <a:xfrm>
            <a:off x="6400800" y="3986784"/>
            <a:ext cx="5056632" cy="365760"/>
          </a:xfrm>
          <a:prstGeom prst="rect">
            <a:avLst/>
          </a:prstGeom>
          <a:noFill/>
          <a:ln/>
        </p:spPr>
        <p:txBody>
          <a:bodyPr wrap="square" lIns="0" tIns="0" rIns="0" bIns="0" rtlCol="0" anchor="ctr">
            <a:normAutofit/>
          </a:bodyPr>
          <a:lstStyle/>
          <a:p>
            <a:pPr indent="0" marL="0">
              <a:buNone/>
            </a:pPr>
            <a:r>
              <a:rPr lang="en-US" sz="1900" b="1" dirty="0">
                <a:solidFill>
                  <a:srgbClr val="B17A12"/>
                </a:solidFill>
                <a:latin typeface="Microsoft YaHei" pitchFamily="34" charset="0"/>
                <a:ea typeface="Microsoft YaHei" pitchFamily="34" charset="-122"/>
                <a:cs typeface="Microsoft YaHei" pitchFamily="34" charset="-120"/>
              </a:rPr>
              <a:t>04  医嘱核查</a:t>
            </a:r>
            <a:endParaRPr lang="en-US" sz="1900" dirty="0"/>
          </a:p>
        </p:txBody>
      </p:sp>
      <p:sp>
        <p:nvSpPr>
          <p:cNvPr id="27" name="Text 25"/>
          <p:cNvSpPr/>
          <p:nvPr/>
        </p:nvSpPr>
        <p:spPr>
          <a:xfrm>
            <a:off x="6400800" y="4535424"/>
            <a:ext cx="5056632" cy="841248"/>
          </a:xfrm>
          <a:prstGeom prst="rect">
            <a:avLst/>
          </a:prstGeom>
          <a:noFill/>
          <a:ln/>
        </p:spPr>
        <p:txBody>
          <a:bodyPr wrap="square" lIns="0" tIns="0" rIns="0" bIns="0" rtlCol="0" anchor="t">
            <a:normAutofit/>
          </a:bodyPr>
          <a:lstStyle/>
          <a:p>
            <a:pPr indent="0" marL="0">
              <a:buNone/>
            </a:pPr>
            <a:r>
              <a:rPr lang="en-US" sz="1600" dirty="0">
                <a:solidFill>
                  <a:srgbClr val="203038"/>
                </a:solidFill>
                <a:latin typeface="Microsoft YaHei" pitchFamily="34" charset="0"/>
                <a:ea typeface="Microsoft YaHei" pitchFamily="34" charset="-122"/>
                <a:cs typeface="Microsoft YaHei" pitchFamily="34" charset="-120"/>
              </a:rPr>
              <a:t>过敏提示与药物相互作用查询</a:t>
            </a:r>
            <a:endParaRPr lang="en-US" sz="1600" dirty="0"/>
          </a:p>
          <a:p>
            <a:pPr indent="0" marL="0">
              <a:buNone/>
            </a:pPr>
            <a:r>
              <a:rPr lang="en-US" sz="1600" dirty="0">
                <a:solidFill>
                  <a:srgbClr val="203038"/>
                </a:solidFill>
                <a:latin typeface="Microsoft YaHei" pitchFamily="34" charset="0"/>
                <a:ea typeface="Microsoft YaHei" pitchFamily="34" charset="-122"/>
                <a:cs typeface="Microsoft YaHei" pitchFamily="34" charset="-120"/>
              </a:rPr>
              <a:t>显示已核查项及未完成项目</a:t>
            </a:r>
            <a:endParaRPr lang="en-US" sz="1600" dirty="0"/>
          </a:p>
        </p:txBody>
      </p:sp>
      <p:sp>
        <p:nvSpPr>
          <p:cNvPr id="28" name="Text 26"/>
          <p:cNvSpPr/>
          <p:nvPr/>
        </p:nvSpPr>
        <p:spPr>
          <a:xfrm>
            <a:off x="6400800" y="5230368"/>
            <a:ext cx="5047488" cy="219456"/>
          </a:xfrm>
          <a:prstGeom prst="rect">
            <a:avLst/>
          </a:prstGeom>
          <a:noFill/>
          <a:ln/>
        </p:spPr>
        <p:txBody>
          <a:bodyPr wrap="square" lIns="0" tIns="0" rIns="0" bIns="0" rtlCol="0" anchor="ctr">
            <a:normAutofit/>
          </a:bodyPr>
          <a:lstStyle/>
          <a:p>
            <a:pPr indent="0" marL="0">
              <a:buNone/>
            </a:pPr>
            <a:r>
              <a:rPr lang="en-US" sz="1100" dirty="0">
                <a:solidFill>
                  <a:srgbClr val="62727A"/>
                </a:solidFill>
                <a:latin typeface="Microsoft YaHei" pitchFamily="34" charset="0"/>
                <a:ea typeface="Microsoft YaHei" pitchFamily="34" charset="-122"/>
                <a:cs typeface="Microsoft YaHei" pitchFamily="34" charset="-120"/>
              </a:rPr>
              <a:t>POST /api/ai/order-check</a:t>
            </a:r>
            <a:endParaRPr lang="en-US" sz="1100" dirty="0"/>
          </a:p>
        </p:txBody>
      </p:sp>
      <p:sp>
        <p:nvSpPr>
          <p:cNvPr id="29" name="Text 27"/>
          <p:cNvSpPr/>
          <p:nvPr/>
        </p:nvSpPr>
        <p:spPr>
          <a:xfrm>
            <a:off x="521208" y="5852160"/>
            <a:ext cx="11109960" cy="329184"/>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模型准入：仅 3 份服务器模拟问诊；引用、数值或模型响应异常时回退原始记录整理。</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sp>
      <p:sp>
        <p:nvSpPr>
          <p:cNvPr id="3" name="Text 1"/>
          <p:cNvSpPr/>
          <p:nvPr/>
        </p:nvSpPr>
        <p:spPr>
          <a:xfrm>
            <a:off x="502920" y="301752"/>
            <a:ext cx="11155680" cy="274320"/>
          </a:xfrm>
          <a:prstGeom prst="rect">
            <a:avLst/>
          </a:prstGeom>
          <a:noFill/>
          <a:ln/>
        </p:spPr>
        <p:txBody>
          <a:bodyPr wrap="square" lIns="0" tIns="0" rIns="0" bIns="0" rtlCol="0" anchor="ctr">
            <a:normAutofit/>
          </a:bodyPr>
          <a:lstStyle/>
          <a:p>
            <a:pPr indent="0" marL="0">
              <a:buNone/>
            </a:pPr>
            <a:r>
              <a:rPr lang="en-US" sz="1100" b="1" dirty="0">
                <a:solidFill>
                  <a:srgbClr val="087E80"/>
                </a:solidFill>
                <a:latin typeface="Microsoft YaHei" pitchFamily="34" charset="0"/>
                <a:ea typeface="Microsoft YaHei" pitchFamily="34" charset="-122"/>
                <a:cs typeface="Microsoft YaHei" pitchFamily="34" charset="-120"/>
              </a:rPr>
              <a:t>03 / RAG 知识库</a:t>
            </a:r>
            <a:endParaRPr lang="en-US" sz="1100" dirty="0"/>
          </a:p>
        </p:txBody>
      </p:sp>
      <p:sp>
        <p:nvSpPr>
          <p:cNvPr id="4" name="Text 2"/>
          <p:cNvSpPr/>
          <p:nvPr/>
        </p:nvSpPr>
        <p:spPr>
          <a:xfrm>
            <a:off x="502920" y="777240"/>
            <a:ext cx="11155680" cy="548640"/>
          </a:xfrm>
          <a:prstGeom prst="rect">
            <a:avLst/>
          </a:prstGeom>
          <a:noFill/>
          <a:ln/>
        </p:spPr>
        <p:txBody>
          <a:bodyPr wrap="square" lIns="0" tIns="0" rIns="0" bIns="0" rtlCol="0" anchor="ctr">
            <a:normAutofit/>
          </a:bodyPr>
          <a:lstStyle/>
          <a:p>
            <a:pPr indent="0" marL="0">
              <a:buNone/>
            </a:pPr>
            <a:r>
              <a:rPr lang="en-US" sz="2900" b="1" dirty="0">
                <a:solidFill>
                  <a:srgbClr val="203038"/>
                </a:solidFill>
                <a:latin typeface="Microsoft YaHei" pitchFamily="34" charset="0"/>
                <a:ea typeface="Microsoft YaHei" pitchFamily="34" charset="-122"/>
                <a:cs typeface="Microsoft YaHei" pitchFamily="34" charset="-120"/>
              </a:rPr>
              <a:t>从资料导入到带来源的回答</a:t>
            </a:r>
            <a:endParaRPr lang="en-US" sz="2900" dirty="0"/>
          </a:p>
        </p:txBody>
      </p:sp>
      <p:sp>
        <p:nvSpPr>
          <p:cNvPr id="5" name="Text 3"/>
          <p:cNvSpPr/>
          <p:nvPr/>
        </p:nvSpPr>
        <p:spPr>
          <a:xfrm>
            <a:off x="512064" y="1408176"/>
            <a:ext cx="11064240" cy="365760"/>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RAG 先检索资料，再让模型依据证据回答；已实现来源定位和引用输出。</a:t>
            </a:r>
            <a:endParaRPr lang="en-US" sz="1400" dirty="0"/>
          </a:p>
        </p:txBody>
      </p:sp>
      <p:sp>
        <p:nvSpPr>
          <p:cNvPr id="6" name="Shape 4"/>
          <p:cNvSpPr/>
          <p:nvPr/>
        </p:nvSpPr>
        <p:spPr>
          <a:xfrm>
            <a:off x="502920" y="6419088"/>
            <a:ext cx="11155680" cy="0"/>
          </a:xfrm>
          <a:prstGeom prst="line">
            <a:avLst/>
          </a:prstGeom>
          <a:noFill/>
          <a:ln w="12700">
            <a:solidFill>
              <a:srgbClr val="DDE5E8"/>
            </a:solidFill>
            <a:prstDash val="solid"/>
          </a:ln>
        </p:spPr>
      </p:sp>
      <p:sp>
        <p:nvSpPr>
          <p:cNvPr id="7" name="Text 5"/>
          <p:cNvSpPr/>
          <p:nvPr/>
        </p:nvSpPr>
        <p:spPr>
          <a:xfrm>
            <a:off x="502920" y="6510528"/>
            <a:ext cx="9875520" cy="182880"/>
          </a:xfrm>
          <a:prstGeom prst="rect">
            <a:avLst/>
          </a:prstGeom>
          <a:noFill/>
          <a:ln/>
        </p:spPr>
        <p:txBody>
          <a:bodyPr wrap="square" lIns="0" tIns="0" rIns="0" bIns="0" rtlCol="0" anchor="ctr">
            <a:normAutofit/>
          </a:bodyPr>
          <a:lstStyle/>
          <a:p>
            <a:pPr indent="0" marL="0">
              <a:buNone/>
            </a:pPr>
            <a:r>
              <a:rPr lang="en-US" sz="900" dirty="0">
                <a:solidFill>
                  <a:srgbClr val="62727A"/>
                </a:solidFill>
                <a:latin typeface="Microsoft YaHei" pitchFamily="34" charset="0"/>
                <a:ea typeface="Microsoft YaHei" pitchFamily="34" charset="-122"/>
                <a:cs typeface="Microsoft YaHei" pitchFamily="34" charset="-120"/>
              </a:rPr>
              <a:t>个人工作汇报  /  临床 AI 与知识工程  /  非商业课程设计</a:t>
            </a:r>
            <a:endParaRPr lang="en-US" sz="900" dirty="0"/>
          </a:p>
        </p:txBody>
      </p:sp>
      <p:sp>
        <p:nvSpPr>
          <p:cNvPr id="8" name="Text 6"/>
          <p:cNvSpPr/>
          <p:nvPr/>
        </p:nvSpPr>
        <p:spPr>
          <a:xfrm>
            <a:off x="10652760" y="6483096"/>
            <a:ext cx="1005840" cy="228600"/>
          </a:xfrm>
          <a:prstGeom prst="rect">
            <a:avLst/>
          </a:prstGeom>
          <a:noFill/>
          <a:ln/>
        </p:spPr>
        <p:txBody>
          <a:bodyPr wrap="square" lIns="0" tIns="0" rIns="0" bIns="0" rtlCol="0" anchor="ctr">
            <a:normAutofit/>
          </a:bodyPr>
          <a:lstStyle/>
          <a:p>
            <a:pPr algn="r" indent="0" marL="0">
              <a:buNone/>
            </a:pPr>
            <a:r>
              <a:rPr lang="en-US" sz="1000" dirty="0">
                <a:solidFill>
                  <a:srgbClr val="62727A"/>
                </a:solidFill>
                <a:latin typeface="Microsoft YaHei" pitchFamily="34" charset="0"/>
                <a:ea typeface="Microsoft YaHei" pitchFamily="34" charset="-122"/>
                <a:cs typeface="Microsoft YaHei" pitchFamily="34" charset="-120"/>
              </a:rPr>
              <a:t>04 / 06</a:t>
            </a:r>
            <a:endParaRPr lang="en-US" sz="1000" dirty="0"/>
          </a:p>
        </p:txBody>
      </p:sp>
      <p:sp>
        <p:nvSpPr>
          <p:cNvPr id="9" name="Shape 7"/>
          <p:cNvSpPr/>
          <p:nvPr/>
        </p:nvSpPr>
        <p:spPr>
          <a:xfrm>
            <a:off x="502920" y="1938528"/>
            <a:ext cx="3557016" cy="1709928"/>
          </a:xfrm>
          <a:prstGeom prst="rect">
            <a:avLst/>
          </a:prstGeom>
          <a:solidFill>
            <a:srgbClr val="FFFFFF"/>
          </a:solidFill>
          <a:ln w="7620">
            <a:solidFill>
              <a:srgbClr val="DDE5E8"/>
            </a:solidFill>
            <a:prstDash val="solid"/>
          </a:ln>
        </p:spPr>
      </p:sp>
      <p:sp>
        <p:nvSpPr>
          <p:cNvPr id="10" name="Shape 8"/>
          <p:cNvSpPr/>
          <p:nvPr/>
        </p:nvSpPr>
        <p:spPr>
          <a:xfrm>
            <a:off x="502920" y="1938528"/>
            <a:ext cx="45720" cy="1709928"/>
          </a:xfrm>
          <a:prstGeom prst="rect">
            <a:avLst/>
          </a:prstGeom>
          <a:solidFill>
            <a:srgbClr val="087E80"/>
          </a:solidFill>
          <a:ln w="7620">
            <a:solidFill>
              <a:srgbClr val="087E80"/>
            </a:solidFill>
            <a:prstDash val="solid"/>
          </a:ln>
        </p:spPr>
      </p:sp>
      <p:sp>
        <p:nvSpPr>
          <p:cNvPr id="11" name="Text 9"/>
          <p:cNvSpPr/>
          <p:nvPr/>
        </p:nvSpPr>
        <p:spPr>
          <a:xfrm>
            <a:off x="704088" y="2103120"/>
            <a:ext cx="3154680" cy="365760"/>
          </a:xfrm>
          <a:prstGeom prst="rect">
            <a:avLst/>
          </a:prstGeom>
          <a:noFill/>
          <a:ln/>
        </p:spPr>
        <p:txBody>
          <a:bodyPr wrap="square" lIns="0" tIns="0" rIns="0" bIns="0" rtlCol="0" anchor="ctr">
            <a:normAutofit/>
          </a:bodyPr>
          <a:lstStyle/>
          <a:p>
            <a:pPr indent="0" marL="0">
              <a:buNone/>
            </a:pPr>
            <a:r>
              <a:rPr lang="en-US" sz="1900" b="1" dirty="0">
                <a:solidFill>
                  <a:srgbClr val="087E80"/>
                </a:solidFill>
                <a:latin typeface="Microsoft YaHei" pitchFamily="34" charset="0"/>
                <a:ea typeface="Microsoft YaHei" pitchFamily="34" charset="-122"/>
                <a:cs typeface="Microsoft YaHei" pitchFamily="34" charset="-120"/>
              </a:rPr>
              <a:t>01  解析与分块</a:t>
            </a:r>
            <a:endParaRPr lang="en-US" sz="1900" dirty="0"/>
          </a:p>
        </p:txBody>
      </p:sp>
      <p:sp>
        <p:nvSpPr>
          <p:cNvPr id="12" name="Text 10"/>
          <p:cNvSpPr/>
          <p:nvPr/>
        </p:nvSpPr>
        <p:spPr>
          <a:xfrm>
            <a:off x="704088" y="2651760"/>
            <a:ext cx="3154680" cy="832104"/>
          </a:xfrm>
          <a:prstGeom prst="rect">
            <a:avLst/>
          </a:prstGeom>
          <a:noFill/>
          <a:ln/>
        </p:spPr>
        <p:txBody>
          <a:bodyPr wrap="square" lIns="0" tIns="0" rIns="0" bIns="0" rtlCol="0" anchor="t">
            <a:normAutofit/>
          </a:bodyPr>
          <a:lstStyle/>
          <a:p>
            <a:pPr indent="0" marL="0">
              <a:buNone/>
            </a:pPr>
            <a:r>
              <a:rPr lang="en-US" sz="1500" dirty="0">
                <a:solidFill>
                  <a:srgbClr val="203038"/>
                </a:solidFill>
                <a:latin typeface="Microsoft YaHei" pitchFamily="34" charset="0"/>
                <a:ea typeface="Microsoft YaHei" pitchFamily="34" charset="-122"/>
                <a:cs typeface="Microsoft YaHei" pitchFamily="34" charset="-120"/>
              </a:rPr>
              <a:t>PPTX / PDF / DOCX / FHIR JSON</a:t>
            </a:r>
            <a:endParaRPr lang="en-US" sz="1500" dirty="0"/>
          </a:p>
          <a:p>
            <a:pPr indent="0" marL="0">
              <a:buNone/>
            </a:pPr>
            <a:r>
              <a:rPr lang="en-US" sz="1500" dirty="0">
                <a:solidFill>
                  <a:srgbClr val="203038"/>
                </a:solidFill>
                <a:latin typeface="Microsoft YaHei" pitchFamily="34" charset="0"/>
                <a:ea typeface="Microsoft YaHei" pitchFamily="34" charset="-122"/>
                <a:cs typeface="Microsoft YaHei" pitchFamily="34" charset="-120"/>
              </a:rPr>
              <a:t>按页面或临床结构分块</a:t>
            </a:r>
            <a:endParaRPr lang="en-US" sz="1500" dirty="0"/>
          </a:p>
        </p:txBody>
      </p:sp>
      <p:sp>
        <p:nvSpPr>
          <p:cNvPr id="13" name="Text 11"/>
          <p:cNvSpPr/>
          <p:nvPr/>
        </p:nvSpPr>
        <p:spPr>
          <a:xfrm>
            <a:off x="4069080" y="2404872"/>
            <a:ext cx="210312" cy="402336"/>
          </a:xfrm>
          <a:prstGeom prst="rect">
            <a:avLst/>
          </a:prstGeom>
          <a:noFill/>
          <a:ln/>
        </p:spPr>
        <p:txBody>
          <a:bodyPr wrap="square" lIns="0" tIns="0" rIns="0" bIns="0" rtlCol="0" anchor="ctr">
            <a:normAutofit/>
          </a:bodyPr>
          <a:lstStyle/>
          <a:p>
            <a:pPr indent="0" marL="0">
              <a:buNone/>
            </a:pPr>
            <a:r>
              <a:rPr lang="en-US" sz="2000" dirty="0">
                <a:solidFill>
                  <a:srgbClr val="A8B5BD"/>
                </a:solidFill>
                <a:latin typeface="Microsoft YaHei" pitchFamily="34" charset="0"/>
                <a:ea typeface="Microsoft YaHei" pitchFamily="34" charset="-122"/>
                <a:cs typeface="Microsoft YaHei" pitchFamily="34" charset="-120"/>
              </a:rPr>
              <a:t>→</a:t>
            </a:r>
            <a:endParaRPr lang="en-US" sz="2000" dirty="0"/>
          </a:p>
        </p:txBody>
      </p:sp>
      <p:sp>
        <p:nvSpPr>
          <p:cNvPr id="14" name="Shape 12"/>
          <p:cNvSpPr/>
          <p:nvPr/>
        </p:nvSpPr>
        <p:spPr>
          <a:xfrm>
            <a:off x="4297680" y="1938528"/>
            <a:ext cx="3557016" cy="1709928"/>
          </a:xfrm>
          <a:prstGeom prst="rect">
            <a:avLst/>
          </a:prstGeom>
          <a:solidFill>
            <a:srgbClr val="FFFFFF"/>
          </a:solidFill>
          <a:ln w="7620">
            <a:solidFill>
              <a:srgbClr val="DDE5E8"/>
            </a:solidFill>
            <a:prstDash val="solid"/>
          </a:ln>
        </p:spPr>
      </p:sp>
      <p:sp>
        <p:nvSpPr>
          <p:cNvPr id="15" name="Shape 13"/>
          <p:cNvSpPr/>
          <p:nvPr/>
        </p:nvSpPr>
        <p:spPr>
          <a:xfrm>
            <a:off x="4297680" y="1938528"/>
            <a:ext cx="45720" cy="1709928"/>
          </a:xfrm>
          <a:prstGeom prst="rect">
            <a:avLst/>
          </a:prstGeom>
          <a:solidFill>
            <a:srgbClr val="487B9C"/>
          </a:solidFill>
          <a:ln w="7620">
            <a:solidFill>
              <a:srgbClr val="487B9C"/>
            </a:solidFill>
            <a:prstDash val="solid"/>
          </a:ln>
        </p:spPr>
      </p:sp>
      <p:sp>
        <p:nvSpPr>
          <p:cNvPr id="16" name="Text 14"/>
          <p:cNvSpPr/>
          <p:nvPr/>
        </p:nvSpPr>
        <p:spPr>
          <a:xfrm>
            <a:off x="4498848" y="2103120"/>
            <a:ext cx="3154680" cy="365760"/>
          </a:xfrm>
          <a:prstGeom prst="rect">
            <a:avLst/>
          </a:prstGeom>
          <a:noFill/>
          <a:ln/>
        </p:spPr>
        <p:txBody>
          <a:bodyPr wrap="square" lIns="0" tIns="0" rIns="0" bIns="0" rtlCol="0" anchor="ctr">
            <a:normAutofit/>
          </a:bodyPr>
          <a:lstStyle/>
          <a:p>
            <a:pPr indent="0" marL="0">
              <a:buNone/>
            </a:pPr>
            <a:r>
              <a:rPr lang="en-US" sz="1900" b="1" dirty="0">
                <a:solidFill>
                  <a:srgbClr val="487B9C"/>
                </a:solidFill>
                <a:latin typeface="Microsoft YaHei" pitchFamily="34" charset="0"/>
                <a:ea typeface="Microsoft YaHei" pitchFamily="34" charset="-122"/>
                <a:cs typeface="Microsoft YaHei" pitchFamily="34" charset="-120"/>
              </a:rPr>
              <a:t>02  向量与存储</a:t>
            </a:r>
            <a:endParaRPr lang="en-US" sz="1900" dirty="0"/>
          </a:p>
        </p:txBody>
      </p:sp>
      <p:sp>
        <p:nvSpPr>
          <p:cNvPr id="17" name="Text 15"/>
          <p:cNvSpPr/>
          <p:nvPr/>
        </p:nvSpPr>
        <p:spPr>
          <a:xfrm>
            <a:off x="4498848" y="2651760"/>
            <a:ext cx="3154680" cy="832104"/>
          </a:xfrm>
          <a:prstGeom prst="rect">
            <a:avLst/>
          </a:prstGeom>
          <a:noFill/>
          <a:ln/>
        </p:spPr>
        <p:txBody>
          <a:bodyPr wrap="square" lIns="0" tIns="0" rIns="0" bIns="0" rtlCol="0" anchor="t">
            <a:normAutofit/>
          </a:bodyPr>
          <a:lstStyle/>
          <a:p>
            <a:pPr indent="0" marL="0">
              <a:buNone/>
            </a:pPr>
            <a:r>
              <a:rPr lang="en-US" sz="1500" dirty="0">
                <a:solidFill>
                  <a:srgbClr val="203038"/>
                </a:solidFill>
                <a:latin typeface="Microsoft YaHei" pitchFamily="34" charset="0"/>
                <a:ea typeface="Microsoft YaHei" pitchFamily="34" charset="-122"/>
                <a:cs typeface="Microsoft YaHei" pitchFamily="34" charset="-120"/>
              </a:rPr>
              <a:t>1024 维文本向量</a:t>
            </a:r>
            <a:endParaRPr lang="en-US" sz="1500" dirty="0"/>
          </a:p>
          <a:p>
            <a:pPr indent="0" marL="0">
              <a:buNone/>
            </a:pPr>
            <a:r>
              <a:rPr lang="en-US" sz="1500" dirty="0">
                <a:solidFill>
                  <a:srgbClr val="203038"/>
                </a:solidFill>
                <a:latin typeface="Microsoft YaHei" pitchFamily="34" charset="0"/>
                <a:ea typeface="Microsoft YaHei" pitchFamily="34" charset="-122"/>
                <a:cs typeface="Microsoft YaHei" pitchFamily="34" charset="-120"/>
              </a:rPr>
              <a:t>片段、来源及元数据进入 MariaDB</a:t>
            </a:r>
            <a:endParaRPr lang="en-US" sz="1500" dirty="0"/>
          </a:p>
        </p:txBody>
      </p:sp>
      <p:sp>
        <p:nvSpPr>
          <p:cNvPr id="18" name="Text 16"/>
          <p:cNvSpPr/>
          <p:nvPr/>
        </p:nvSpPr>
        <p:spPr>
          <a:xfrm>
            <a:off x="7863840" y="2404872"/>
            <a:ext cx="210312" cy="402336"/>
          </a:xfrm>
          <a:prstGeom prst="rect">
            <a:avLst/>
          </a:prstGeom>
          <a:noFill/>
          <a:ln/>
        </p:spPr>
        <p:txBody>
          <a:bodyPr wrap="square" lIns="0" tIns="0" rIns="0" bIns="0" rtlCol="0" anchor="ctr">
            <a:normAutofit/>
          </a:bodyPr>
          <a:lstStyle/>
          <a:p>
            <a:pPr indent="0" marL="0">
              <a:buNone/>
            </a:pPr>
            <a:r>
              <a:rPr lang="en-US" sz="2000" dirty="0">
                <a:solidFill>
                  <a:srgbClr val="A8B5BD"/>
                </a:solidFill>
                <a:latin typeface="Microsoft YaHei" pitchFamily="34" charset="0"/>
                <a:ea typeface="Microsoft YaHei" pitchFamily="34" charset="-122"/>
                <a:cs typeface="Microsoft YaHei" pitchFamily="34" charset="-120"/>
              </a:rPr>
              <a:t>→</a:t>
            </a:r>
            <a:endParaRPr lang="en-US" sz="2000" dirty="0"/>
          </a:p>
        </p:txBody>
      </p:sp>
      <p:sp>
        <p:nvSpPr>
          <p:cNvPr id="19" name="Shape 17"/>
          <p:cNvSpPr/>
          <p:nvPr/>
        </p:nvSpPr>
        <p:spPr>
          <a:xfrm>
            <a:off x="8092440" y="1938528"/>
            <a:ext cx="3557016" cy="1709928"/>
          </a:xfrm>
          <a:prstGeom prst="rect">
            <a:avLst/>
          </a:prstGeom>
          <a:solidFill>
            <a:srgbClr val="FFFFFF"/>
          </a:solidFill>
          <a:ln w="7620">
            <a:solidFill>
              <a:srgbClr val="DDE5E8"/>
            </a:solidFill>
            <a:prstDash val="solid"/>
          </a:ln>
        </p:spPr>
      </p:sp>
      <p:sp>
        <p:nvSpPr>
          <p:cNvPr id="20" name="Shape 18"/>
          <p:cNvSpPr/>
          <p:nvPr/>
        </p:nvSpPr>
        <p:spPr>
          <a:xfrm>
            <a:off x="8092440" y="1938528"/>
            <a:ext cx="45720" cy="1709928"/>
          </a:xfrm>
          <a:prstGeom prst="rect">
            <a:avLst/>
          </a:prstGeom>
          <a:solidFill>
            <a:srgbClr val="087E80"/>
          </a:solidFill>
          <a:ln w="7620">
            <a:solidFill>
              <a:srgbClr val="087E80"/>
            </a:solidFill>
            <a:prstDash val="solid"/>
          </a:ln>
        </p:spPr>
      </p:sp>
      <p:sp>
        <p:nvSpPr>
          <p:cNvPr id="21" name="Text 19"/>
          <p:cNvSpPr/>
          <p:nvPr/>
        </p:nvSpPr>
        <p:spPr>
          <a:xfrm>
            <a:off x="8293608" y="2103120"/>
            <a:ext cx="3154680" cy="365760"/>
          </a:xfrm>
          <a:prstGeom prst="rect">
            <a:avLst/>
          </a:prstGeom>
          <a:noFill/>
          <a:ln/>
        </p:spPr>
        <p:txBody>
          <a:bodyPr wrap="square" lIns="0" tIns="0" rIns="0" bIns="0" rtlCol="0" anchor="ctr">
            <a:normAutofit/>
          </a:bodyPr>
          <a:lstStyle/>
          <a:p>
            <a:pPr indent="0" marL="0">
              <a:buNone/>
            </a:pPr>
            <a:r>
              <a:rPr lang="en-US" sz="1900" b="1" dirty="0">
                <a:solidFill>
                  <a:srgbClr val="087E80"/>
                </a:solidFill>
                <a:latin typeface="Microsoft YaHei" pitchFamily="34" charset="0"/>
                <a:ea typeface="Microsoft YaHei" pitchFamily="34" charset="-122"/>
                <a:cs typeface="Microsoft YaHei" pitchFamily="34" charset="-120"/>
              </a:rPr>
              <a:t>03  检索与生成</a:t>
            </a:r>
            <a:endParaRPr lang="en-US" sz="1900" dirty="0"/>
          </a:p>
        </p:txBody>
      </p:sp>
      <p:sp>
        <p:nvSpPr>
          <p:cNvPr id="22" name="Text 20"/>
          <p:cNvSpPr/>
          <p:nvPr/>
        </p:nvSpPr>
        <p:spPr>
          <a:xfrm>
            <a:off x="8293608" y="2651760"/>
            <a:ext cx="3154680" cy="832104"/>
          </a:xfrm>
          <a:prstGeom prst="rect">
            <a:avLst/>
          </a:prstGeom>
          <a:noFill/>
          <a:ln/>
        </p:spPr>
        <p:txBody>
          <a:bodyPr wrap="square" lIns="0" tIns="0" rIns="0" bIns="0" rtlCol="0" anchor="t">
            <a:normAutofit/>
          </a:bodyPr>
          <a:lstStyle/>
          <a:p>
            <a:pPr indent="0" marL="0">
              <a:buNone/>
            </a:pPr>
            <a:r>
              <a:rPr lang="en-US" sz="1500" dirty="0">
                <a:solidFill>
                  <a:srgbClr val="203038"/>
                </a:solidFill>
                <a:latin typeface="Microsoft YaHei" pitchFamily="34" charset="0"/>
                <a:ea typeface="Microsoft YaHei" pitchFamily="34" charset="-122"/>
                <a:cs typeface="Microsoft YaHei" pitchFamily="34" charset="-120"/>
              </a:rPr>
              <a:t>范围隔离 + 混合排序 + 来源聚合</a:t>
            </a:r>
            <a:endParaRPr lang="en-US" sz="1500" dirty="0"/>
          </a:p>
          <a:p>
            <a:pPr indent="0" marL="0">
              <a:buNone/>
            </a:pPr>
            <a:r>
              <a:rPr lang="en-US" sz="1500" dirty="0">
                <a:solidFill>
                  <a:srgbClr val="203038"/>
                </a:solidFill>
                <a:latin typeface="Microsoft YaHei" pitchFamily="34" charset="0"/>
                <a:ea typeface="Microsoft YaHei" pitchFamily="34" charset="-122"/>
                <a:cs typeface="Microsoft YaHei" pitchFamily="34" charset="-120"/>
              </a:rPr>
              <a:t>带引用的回答及证据状态</a:t>
            </a:r>
            <a:endParaRPr lang="en-US" sz="1500" dirty="0"/>
          </a:p>
        </p:txBody>
      </p:sp>
      <p:sp>
        <p:nvSpPr>
          <p:cNvPr id="23" name="Shape 21"/>
          <p:cNvSpPr/>
          <p:nvPr/>
        </p:nvSpPr>
        <p:spPr>
          <a:xfrm>
            <a:off x="502920" y="3858768"/>
            <a:ext cx="11155680" cy="484632"/>
          </a:xfrm>
          <a:prstGeom prst="rect">
            <a:avLst/>
          </a:prstGeom>
          <a:solidFill>
            <a:srgbClr val="203038"/>
          </a:solidFill>
          <a:ln w="7620">
            <a:solidFill>
              <a:srgbClr val="203038"/>
            </a:solidFill>
            <a:prstDash val="solid"/>
          </a:ln>
        </p:spPr>
      </p:sp>
      <p:sp>
        <p:nvSpPr>
          <p:cNvPr id="24" name="Text 22"/>
          <p:cNvSpPr/>
          <p:nvPr/>
        </p:nvSpPr>
        <p:spPr>
          <a:xfrm>
            <a:off x="713232" y="3858768"/>
            <a:ext cx="10716768" cy="484632"/>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3 类范围：项目要求  |  临床指南  |  指定模拟病例 + 相关指南</a:t>
            </a:r>
            <a:endParaRPr lang="en-US" sz="1800" dirty="0"/>
          </a:p>
        </p:txBody>
      </p:sp>
      <p:sp>
        <p:nvSpPr>
          <p:cNvPr id="25" name="Text 23"/>
          <p:cNvSpPr/>
          <p:nvPr/>
        </p:nvSpPr>
        <p:spPr>
          <a:xfrm>
            <a:off x="548640" y="4590288"/>
            <a:ext cx="3383280" cy="566928"/>
          </a:xfrm>
          <a:prstGeom prst="rect">
            <a:avLst/>
          </a:prstGeom>
          <a:noFill/>
          <a:ln/>
        </p:spPr>
        <p:txBody>
          <a:bodyPr wrap="square" lIns="0" tIns="0" rIns="0" bIns="0" rtlCol="0" anchor="ctr">
            <a:normAutofit/>
          </a:bodyPr>
          <a:lstStyle/>
          <a:p>
            <a:pPr indent="0" marL="0">
              <a:buNone/>
            </a:pPr>
            <a:r>
              <a:rPr lang="en-US" sz="3300" b="1" dirty="0">
                <a:solidFill>
                  <a:srgbClr val="087E80"/>
                </a:solidFill>
                <a:latin typeface="Microsoft YaHei" pitchFamily="34" charset="0"/>
                <a:ea typeface="Microsoft YaHei" pitchFamily="34" charset="-122"/>
                <a:cs typeface="Microsoft YaHei" pitchFamily="34" charset="-120"/>
              </a:rPr>
              <a:t>12 / 416</a:t>
            </a:r>
            <a:endParaRPr lang="en-US" sz="3300" dirty="0"/>
          </a:p>
        </p:txBody>
      </p:sp>
      <p:sp>
        <p:nvSpPr>
          <p:cNvPr id="26" name="Text 24"/>
          <p:cNvSpPr/>
          <p:nvPr/>
        </p:nvSpPr>
        <p:spPr>
          <a:xfrm>
            <a:off x="548640" y="5230368"/>
            <a:ext cx="3383280" cy="384048"/>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历史评测文档 / 片段</a:t>
            </a:r>
            <a:endParaRPr lang="en-US" sz="1400" dirty="0"/>
          </a:p>
        </p:txBody>
      </p:sp>
      <p:sp>
        <p:nvSpPr>
          <p:cNvPr id="27" name="Text 25"/>
          <p:cNvSpPr/>
          <p:nvPr/>
        </p:nvSpPr>
        <p:spPr>
          <a:xfrm>
            <a:off x="4160520" y="4590288"/>
            <a:ext cx="3246120" cy="301752"/>
          </a:xfrm>
          <a:prstGeom prst="rect">
            <a:avLst/>
          </a:prstGeom>
          <a:noFill/>
          <a:ln/>
        </p:spPr>
        <p:txBody>
          <a:bodyPr wrap="square" lIns="0" tIns="0" rIns="0" bIns="0" rtlCol="0" anchor="ctr">
            <a:normAutofit/>
          </a:bodyPr>
          <a:lstStyle/>
          <a:p>
            <a:pPr indent="0" marL="0">
              <a:buNone/>
            </a:pPr>
            <a:r>
              <a:rPr lang="en-US" sz="1800" b="1" dirty="0">
                <a:solidFill>
                  <a:srgbClr val="087E80"/>
                </a:solidFill>
                <a:latin typeface="Microsoft YaHei" pitchFamily="34" charset="0"/>
                <a:ea typeface="Microsoft YaHei" pitchFamily="34" charset="-122"/>
                <a:cs typeface="Microsoft YaHei" pitchFamily="34" charset="-120"/>
              </a:rPr>
              <a:t>来源管理</a:t>
            </a:r>
            <a:endParaRPr lang="en-US" sz="1800" dirty="0"/>
          </a:p>
        </p:txBody>
      </p:sp>
      <p:sp>
        <p:nvSpPr>
          <p:cNvPr id="28" name="Text 26"/>
          <p:cNvSpPr/>
          <p:nvPr/>
        </p:nvSpPr>
        <p:spPr>
          <a:xfrm>
            <a:off x="4160520" y="5047488"/>
            <a:ext cx="3392424" cy="950976"/>
          </a:xfrm>
          <a:prstGeom prst="rect">
            <a:avLst/>
          </a:prstGeom>
          <a:noFill/>
          <a:ln/>
        </p:spPr>
        <p:txBody>
          <a:bodyPr wrap="square" lIns="0" tIns="0" rIns="0" bIns="0" rtlCol="0" anchor="t">
            <a:normAutofit/>
          </a:bodyPr>
          <a:lstStyle/>
          <a:p>
            <a:pPr indent="0" marL="0">
              <a:buNone/>
            </a:pPr>
            <a:r>
              <a:rPr lang="en-US" sz="1500" dirty="0">
                <a:solidFill>
                  <a:srgbClr val="62727A"/>
                </a:solidFill>
                <a:latin typeface="Microsoft YaHei" pitchFamily="34" charset="0"/>
                <a:ea typeface="Microsoft YaHei" pitchFamily="34" charset="-122"/>
                <a:cs typeface="Microsoft YaHei" pitchFamily="34" charset="-120"/>
              </a:rPr>
              <a:t>项目资料 + CDC STEADI 指南</a:t>
            </a:r>
            <a:endParaRPr lang="en-US" sz="1500" dirty="0"/>
          </a:p>
          <a:p>
            <a:pPr indent="0" marL="0">
              <a:buNone/>
            </a:pPr>
            <a:r>
              <a:rPr lang="en-US" sz="1500" dirty="0">
                <a:solidFill>
                  <a:srgbClr val="62727A"/>
                </a:solidFill>
                <a:latin typeface="Microsoft YaHei" pitchFamily="34" charset="0"/>
                <a:ea typeface="Microsoft YaHei" pitchFamily="34" charset="-122"/>
                <a:cs typeface="Microsoft YaHei" pitchFamily="34" charset="-120"/>
              </a:rPr>
              <a:t>8 份 Synthea 老年模拟病例</a:t>
            </a:r>
            <a:endParaRPr lang="en-US" sz="1500" dirty="0"/>
          </a:p>
          <a:p>
            <a:pPr indent="0" marL="0">
              <a:buNone/>
            </a:pPr>
            <a:r>
              <a:rPr lang="en-US" sz="1500" dirty="0">
                <a:solidFill>
                  <a:srgbClr val="62727A"/>
                </a:solidFill>
                <a:latin typeface="Microsoft YaHei" pitchFamily="34" charset="0"/>
                <a:ea typeface="Microsoft YaHei" pitchFamily="34" charset="-122"/>
                <a:cs typeface="Microsoft YaHei" pitchFamily="34" charset="-120"/>
              </a:rPr>
              <a:t>保留发布者、来源位置与许可</a:t>
            </a:r>
            <a:endParaRPr lang="en-US" sz="1500" dirty="0"/>
          </a:p>
        </p:txBody>
      </p:sp>
      <p:sp>
        <p:nvSpPr>
          <p:cNvPr id="29" name="Text 27"/>
          <p:cNvSpPr/>
          <p:nvPr/>
        </p:nvSpPr>
        <p:spPr>
          <a:xfrm>
            <a:off x="8028432" y="4590288"/>
            <a:ext cx="3291840" cy="301752"/>
          </a:xfrm>
          <a:prstGeom prst="rect">
            <a:avLst/>
          </a:prstGeom>
          <a:noFill/>
          <a:ln/>
        </p:spPr>
        <p:txBody>
          <a:bodyPr wrap="square" lIns="0" tIns="0" rIns="0" bIns="0" rtlCol="0" anchor="ctr">
            <a:normAutofit/>
          </a:bodyPr>
          <a:lstStyle/>
          <a:p>
            <a:pPr indent="0" marL="0">
              <a:buNone/>
            </a:pPr>
            <a:r>
              <a:rPr lang="en-US" sz="1800" b="1" dirty="0">
                <a:solidFill>
                  <a:srgbClr val="487B9C"/>
                </a:solidFill>
                <a:latin typeface="Microsoft YaHei" pitchFamily="34" charset="0"/>
                <a:ea typeface="Microsoft YaHei" pitchFamily="34" charset="-122"/>
                <a:cs typeface="Microsoft YaHei" pitchFamily="34" charset="-120"/>
              </a:rPr>
              <a:t>可靠性控制</a:t>
            </a:r>
            <a:endParaRPr lang="en-US" sz="1800" dirty="0"/>
          </a:p>
        </p:txBody>
      </p:sp>
      <p:sp>
        <p:nvSpPr>
          <p:cNvPr id="30" name="Text 28"/>
          <p:cNvSpPr/>
          <p:nvPr/>
        </p:nvSpPr>
        <p:spPr>
          <a:xfrm>
            <a:off x="8028432" y="5047488"/>
            <a:ext cx="3429000" cy="950976"/>
          </a:xfrm>
          <a:prstGeom prst="rect">
            <a:avLst/>
          </a:prstGeom>
          <a:noFill/>
          <a:ln/>
        </p:spPr>
        <p:txBody>
          <a:bodyPr wrap="square" lIns="0" tIns="0" rIns="0" bIns="0" rtlCol="0" anchor="t">
            <a:normAutofit/>
          </a:bodyPr>
          <a:lstStyle/>
          <a:p>
            <a:pPr indent="0" marL="0">
              <a:buNone/>
            </a:pPr>
            <a:r>
              <a:rPr lang="en-US" sz="1500" dirty="0">
                <a:solidFill>
                  <a:srgbClr val="62727A"/>
                </a:solidFill>
                <a:latin typeface="Microsoft YaHei" pitchFamily="34" charset="0"/>
                <a:ea typeface="Microsoft YaHei" pitchFamily="34" charset="-122"/>
                <a:cs typeface="Microsoft YaHei" pitchFamily="34" charset="-120"/>
              </a:rPr>
              <a:t>导入检查点与恢复</a:t>
            </a:r>
            <a:endParaRPr lang="en-US" sz="1500" dirty="0"/>
          </a:p>
          <a:p>
            <a:pPr indent="0" marL="0">
              <a:buNone/>
            </a:pPr>
            <a:r>
              <a:rPr lang="en-US" sz="1500" dirty="0">
                <a:solidFill>
                  <a:srgbClr val="62727A"/>
                </a:solidFill>
                <a:latin typeface="Microsoft YaHei" pitchFamily="34" charset="0"/>
                <a:ea typeface="Microsoft YaHei" pitchFamily="34" charset="-122"/>
                <a:cs typeface="Microsoft YaHei" pitchFamily="34" charset="-120"/>
              </a:rPr>
              <a:t>嵌入请求默认间隔 1200ms</a:t>
            </a:r>
            <a:endParaRPr lang="en-US" sz="1500" dirty="0"/>
          </a:p>
          <a:p>
            <a:pPr indent="0" marL="0">
              <a:buNone/>
            </a:pPr>
            <a:r>
              <a:rPr lang="en-US" sz="1500" dirty="0">
                <a:solidFill>
                  <a:srgbClr val="62727A"/>
                </a:solidFill>
                <a:latin typeface="Microsoft YaHei" pitchFamily="34" charset="0"/>
                <a:ea typeface="Microsoft YaHei" pitchFamily="34" charset="-122"/>
                <a:cs typeface="Microsoft YaHei" pitchFamily="34" charset="-120"/>
              </a:rPr>
              <a:t>生成限流时展示检索证据</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sp>
      <p:sp>
        <p:nvSpPr>
          <p:cNvPr id="3" name="Text 1"/>
          <p:cNvSpPr/>
          <p:nvPr/>
        </p:nvSpPr>
        <p:spPr>
          <a:xfrm>
            <a:off x="502920" y="301752"/>
            <a:ext cx="11155680" cy="274320"/>
          </a:xfrm>
          <a:prstGeom prst="rect">
            <a:avLst/>
          </a:prstGeom>
          <a:noFill/>
          <a:ln/>
        </p:spPr>
        <p:txBody>
          <a:bodyPr wrap="square" lIns="0" tIns="0" rIns="0" bIns="0" rtlCol="0" anchor="ctr">
            <a:normAutofit/>
          </a:bodyPr>
          <a:lstStyle/>
          <a:p>
            <a:pPr indent="0" marL="0">
              <a:buNone/>
            </a:pPr>
            <a:r>
              <a:rPr lang="en-US" sz="1100" b="1" dirty="0">
                <a:solidFill>
                  <a:srgbClr val="087E80"/>
                </a:solidFill>
                <a:latin typeface="Microsoft YaHei" pitchFamily="34" charset="0"/>
                <a:ea typeface="Microsoft YaHei" pitchFamily="34" charset="-122"/>
                <a:cs typeface="Microsoft YaHei" pitchFamily="34" charset="-120"/>
              </a:rPr>
              <a:t>04 / DDInter 与医嘱核查</a:t>
            </a:r>
            <a:endParaRPr lang="en-US" sz="1100" dirty="0"/>
          </a:p>
        </p:txBody>
      </p:sp>
      <p:sp>
        <p:nvSpPr>
          <p:cNvPr id="4" name="Text 2"/>
          <p:cNvSpPr/>
          <p:nvPr/>
        </p:nvSpPr>
        <p:spPr>
          <a:xfrm>
            <a:off x="502920" y="777240"/>
            <a:ext cx="11155680" cy="548640"/>
          </a:xfrm>
          <a:prstGeom prst="rect">
            <a:avLst/>
          </a:prstGeom>
          <a:noFill/>
          <a:ln/>
        </p:spPr>
        <p:txBody>
          <a:bodyPr wrap="square" lIns="0" tIns="0" rIns="0" bIns="0" rtlCol="0" anchor="ctr">
            <a:normAutofit/>
          </a:bodyPr>
          <a:lstStyle/>
          <a:p>
            <a:pPr indent="0" marL="0">
              <a:buNone/>
            </a:pPr>
            <a:r>
              <a:rPr lang="en-US" sz="2900" b="1" dirty="0">
                <a:solidFill>
                  <a:srgbClr val="203038"/>
                </a:solidFill>
                <a:latin typeface="Microsoft YaHei" pitchFamily="34" charset="0"/>
                <a:ea typeface="Microsoft YaHei" pitchFamily="34" charset="-122"/>
                <a:cs typeface="Microsoft YaHei" pitchFamily="34" charset="-120"/>
              </a:rPr>
              <a:t>结构化药物知识，支持可重复的风险查询</a:t>
            </a:r>
            <a:endParaRPr lang="en-US" sz="2900" dirty="0"/>
          </a:p>
        </p:txBody>
      </p:sp>
      <p:sp>
        <p:nvSpPr>
          <p:cNvPr id="5" name="Text 3"/>
          <p:cNvSpPr/>
          <p:nvPr/>
        </p:nvSpPr>
        <p:spPr>
          <a:xfrm>
            <a:off x="512064" y="1408176"/>
            <a:ext cx="11064240" cy="365760"/>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固定上游版本 + SHA-256 校验；按药物对返回等级和机制，不由模型自由推断。</a:t>
            </a:r>
            <a:endParaRPr lang="en-US" sz="1400" dirty="0"/>
          </a:p>
        </p:txBody>
      </p:sp>
      <p:sp>
        <p:nvSpPr>
          <p:cNvPr id="6" name="Shape 4"/>
          <p:cNvSpPr/>
          <p:nvPr/>
        </p:nvSpPr>
        <p:spPr>
          <a:xfrm>
            <a:off x="502920" y="6419088"/>
            <a:ext cx="11155680" cy="0"/>
          </a:xfrm>
          <a:prstGeom prst="line">
            <a:avLst/>
          </a:prstGeom>
          <a:noFill/>
          <a:ln w="12700">
            <a:solidFill>
              <a:srgbClr val="DDE5E8"/>
            </a:solidFill>
            <a:prstDash val="solid"/>
          </a:ln>
        </p:spPr>
      </p:sp>
      <p:sp>
        <p:nvSpPr>
          <p:cNvPr id="7" name="Text 5"/>
          <p:cNvSpPr/>
          <p:nvPr/>
        </p:nvSpPr>
        <p:spPr>
          <a:xfrm>
            <a:off x="502920" y="6510528"/>
            <a:ext cx="9875520" cy="182880"/>
          </a:xfrm>
          <a:prstGeom prst="rect">
            <a:avLst/>
          </a:prstGeom>
          <a:noFill/>
          <a:ln/>
        </p:spPr>
        <p:txBody>
          <a:bodyPr wrap="square" lIns="0" tIns="0" rIns="0" bIns="0" rtlCol="0" anchor="ctr">
            <a:normAutofit/>
          </a:bodyPr>
          <a:lstStyle/>
          <a:p>
            <a:pPr indent="0" marL="0">
              <a:buNone/>
            </a:pPr>
            <a:r>
              <a:rPr lang="en-US" sz="900" dirty="0">
                <a:solidFill>
                  <a:srgbClr val="62727A"/>
                </a:solidFill>
                <a:latin typeface="Microsoft YaHei" pitchFamily="34" charset="0"/>
                <a:ea typeface="Microsoft YaHei" pitchFamily="34" charset="-122"/>
                <a:cs typeface="Microsoft YaHei" pitchFamily="34" charset="-120"/>
              </a:rPr>
              <a:t>个人工作汇报  /  临床 AI 与知识工程  /  非商业课程设计</a:t>
            </a:r>
            <a:endParaRPr lang="en-US" sz="900" dirty="0"/>
          </a:p>
        </p:txBody>
      </p:sp>
      <p:sp>
        <p:nvSpPr>
          <p:cNvPr id="8" name="Text 6"/>
          <p:cNvSpPr/>
          <p:nvPr/>
        </p:nvSpPr>
        <p:spPr>
          <a:xfrm>
            <a:off x="10652760" y="6483096"/>
            <a:ext cx="1005840" cy="228600"/>
          </a:xfrm>
          <a:prstGeom prst="rect">
            <a:avLst/>
          </a:prstGeom>
          <a:noFill/>
          <a:ln/>
        </p:spPr>
        <p:txBody>
          <a:bodyPr wrap="square" lIns="0" tIns="0" rIns="0" bIns="0" rtlCol="0" anchor="ctr">
            <a:normAutofit/>
          </a:bodyPr>
          <a:lstStyle/>
          <a:p>
            <a:pPr algn="r" indent="0" marL="0">
              <a:buNone/>
            </a:pPr>
            <a:r>
              <a:rPr lang="en-US" sz="1000" dirty="0">
                <a:solidFill>
                  <a:srgbClr val="62727A"/>
                </a:solidFill>
                <a:latin typeface="Microsoft YaHei" pitchFamily="34" charset="0"/>
                <a:ea typeface="Microsoft YaHei" pitchFamily="34" charset="-122"/>
                <a:cs typeface="Microsoft YaHei" pitchFamily="34" charset="-120"/>
              </a:rPr>
              <a:t>05 / 06</a:t>
            </a:r>
            <a:endParaRPr lang="en-US" sz="1000" dirty="0"/>
          </a:p>
        </p:txBody>
      </p:sp>
      <p:sp>
        <p:nvSpPr>
          <p:cNvPr id="9" name="Text 7"/>
          <p:cNvSpPr/>
          <p:nvPr/>
        </p:nvSpPr>
        <p:spPr>
          <a:xfrm>
            <a:off x="502920" y="1938528"/>
            <a:ext cx="3291840" cy="566928"/>
          </a:xfrm>
          <a:prstGeom prst="rect">
            <a:avLst/>
          </a:prstGeom>
          <a:noFill/>
          <a:ln/>
        </p:spPr>
        <p:txBody>
          <a:bodyPr wrap="square" lIns="0" tIns="0" rIns="0" bIns="0" rtlCol="0" anchor="ctr">
            <a:normAutofit/>
          </a:bodyPr>
          <a:lstStyle/>
          <a:p>
            <a:pPr indent="0" marL="0">
              <a:buNone/>
            </a:pPr>
            <a:r>
              <a:rPr lang="en-US" sz="3300" b="1" dirty="0">
                <a:solidFill>
                  <a:srgbClr val="087E80"/>
                </a:solidFill>
                <a:latin typeface="Microsoft YaHei" pitchFamily="34" charset="0"/>
                <a:ea typeface="Microsoft YaHei" pitchFamily="34" charset="-122"/>
                <a:cs typeface="Microsoft YaHei" pitchFamily="34" charset="-120"/>
              </a:rPr>
              <a:t>2,283</a:t>
            </a:r>
            <a:endParaRPr lang="en-US" sz="3300" dirty="0"/>
          </a:p>
        </p:txBody>
      </p:sp>
      <p:sp>
        <p:nvSpPr>
          <p:cNvPr id="10" name="Text 8"/>
          <p:cNvSpPr/>
          <p:nvPr/>
        </p:nvSpPr>
        <p:spPr>
          <a:xfrm>
            <a:off x="502920" y="2578608"/>
            <a:ext cx="3291840" cy="384048"/>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药物记录</a:t>
            </a:r>
            <a:endParaRPr lang="en-US" sz="1400" dirty="0"/>
          </a:p>
        </p:txBody>
      </p:sp>
      <p:sp>
        <p:nvSpPr>
          <p:cNvPr id="11" name="Text 9"/>
          <p:cNvSpPr/>
          <p:nvPr/>
        </p:nvSpPr>
        <p:spPr>
          <a:xfrm>
            <a:off x="4251960" y="1938528"/>
            <a:ext cx="3429000" cy="566928"/>
          </a:xfrm>
          <a:prstGeom prst="rect">
            <a:avLst/>
          </a:prstGeom>
          <a:noFill/>
          <a:ln/>
        </p:spPr>
        <p:txBody>
          <a:bodyPr wrap="square" lIns="0" tIns="0" rIns="0" bIns="0" rtlCol="0" anchor="ctr">
            <a:normAutofit/>
          </a:bodyPr>
          <a:lstStyle/>
          <a:p>
            <a:pPr indent="0" marL="0">
              <a:buNone/>
            </a:pPr>
            <a:r>
              <a:rPr lang="en-US" sz="3300" b="1" dirty="0">
                <a:solidFill>
                  <a:srgbClr val="487B9C"/>
                </a:solidFill>
                <a:latin typeface="Microsoft YaHei" pitchFamily="34" charset="0"/>
                <a:ea typeface="Microsoft YaHei" pitchFamily="34" charset="-122"/>
                <a:cs typeface="Microsoft YaHei" pitchFamily="34" charset="-120"/>
              </a:rPr>
              <a:t>295,184</a:t>
            </a:r>
            <a:endParaRPr lang="en-US" sz="3300" dirty="0"/>
          </a:p>
        </p:txBody>
      </p:sp>
      <p:sp>
        <p:nvSpPr>
          <p:cNvPr id="12" name="Text 10"/>
          <p:cNvSpPr/>
          <p:nvPr/>
        </p:nvSpPr>
        <p:spPr>
          <a:xfrm>
            <a:off x="4251960" y="2578608"/>
            <a:ext cx="3429000" cy="384048"/>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唯一相互作用药物对</a:t>
            </a:r>
            <a:endParaRPr lang="en-US" sz="1400" dirty="0"/>
          </a:p>
        </p:txBody>
      </p:sp>
      <p:sp>
        <p:nvSpPr>
          <p:cNvPr id="13" name="Text 11"/>
          <p:cNvSpPr/>
          <p:nvPr/>
        </p:nvSpPr>
        <p:spPr>
          <a:xfrm>
            <a:off x="8257032" y="1938528"/>
            <a:ext cx="3291840" cy="566928"/>
          </a:xfrm>
          <a:prstGeom prst="rect">
            <a:avLst/>
          </a:prstGeom>
          <a:noFill/>
          <a:ln/>
        </p:spPr>
        <p:txBody>
          <a:bodyPr wrap="square" lIns="0" tIns="0" rIns="0" bIns="0" rtlCol="0" anchor="ctr">
            <a:normAutofit/>
          </a:bodyPr>
          <a:lstStyle/>
          <a:p>
            <a:pPr indent="0" marL="0">
              <a:buNone/>
            </a:pPr>
            <a:r>
              <a:rPr lang="en-US" sz="3300" b="1" dirty="0">
                <a:solidFill>
                  <a:srgbClr val="B17A12"/>
                </a:solidFill>
                <a:latin typeface="Microsoft YaHei" pitchFamily="34" charset="0"/>
                <a:ea typeface="Microsoft YaHei" pitchFamily="34" charset="-122"/>
                <a:cs typeface="Microsoft YaHei" pitchFamily="34" charset="-120"/>
              </a:rPr>
              <a:t>8,234</a:t>
            </a:r>
            <a:endParaRPr lang="en-US" sz="3300" dirty="0"/>
          </a:p>
        </p:txBody>
      </p:sp>
      <p:sp>
        <p:nvSpPr>
          <p:cNvPr id="14" name="Text 12"/>
          <p:cNvSpPr/>
          <p:nvPr/>
        </p:nvSpPr>
        <p:spPr>
          <a:xfrm>
            <a:off x="8257032" y="2578608"/>
            <a:ext cx="3291840" cy="384048"/>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机制条目</a:t>
            </a:r>
            <a:endParaRPr lang="en-US" sz="1400" dirty="0"/>
          </a:p>
        </p:txBody>
      </p:sp>
      <p:graphicFrame>
        <p:nvGraphicFramePr>
          <p:cNvPr id="15" name="Chart 0" descr=""/>
          <p:cNvGraphicFramePr/>
          <p:nvPr/>
        </p:nvGraphicFramePr>
        <p:xfrm>
          <a:off x="502920" y="3246120"/>
          <a:ext cx="5696712" cy="2249424"/>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p:nvPr/>
        </p:nvSpPr>
        <p:spPr>
          <a:xfrm>
            <a:off x="6501384" y="3346704"/>
            <a:ext cx="4892040" cy="338328"/>
          </a:xfrm>
          <a:prstGeom prst="rect">
            <a:avLst/>
          </a:prstGeom>
          <a:noFill/>
          <a:ln/>
        </p:spPr>
        <p:txBody>
          <a:bodyPr wrap="square" lIns="0" tIns="0" rIns="0" bIns="0" rtlCol="0" anchor="ctr">
            <a:normAutofit/>
          </a:bodyPr>
          <a:lstStyle/>
          <a:p>
            <a:pPr indent="0" marL="0">
              <a:buNone/>
            </a:pPr>
            <a:r>
              <a:rPr lang="en-US" sz="1900" b="1" dirty="0">
                <a:solidFill>
                  <a:srgbClr val="087E80"/>
                </a:solidFill>
                <a:latin typeface="Microsoft YaHei" pitchFamily="34" charset="0"/>
                <a:ea typeface="Microsoft YaHei" pitchFamily="34" charset="-122"/>
                <a:cs typeface="Microsoft YaHei" pitchFamily="34" charset="-120"/>
              </a:rPr>
              <a:t>已实现核查</a:t>
            </a:r>
            <a:endParaRPr lang="en-US" sz="1900" dirty="0"/>
          </a:p>
        </p:txBody>
      </p:sp>
      <p:sp>
        <p:nvSpPr>
          <p:cNvPr id="17" name="Text 14"/>
          <p:cNvSpPr/>
          <p:nvPr/>
        </p:nvSpPr>
        <p:spPr>
          <a:xfrm>
            <a:off x="6501384" y="3867912"/>
            <a:ext cx="4892040" cy="722376"/>
          </a:xfrm>
          <a:prstGeom prst="rect">
            <a:avLst/>
          </a:prstGeom>
          <a:noFill/>
          <a:ln/>
        </p:spPr>
        <p:txBody>
          <a:bodyPr wrap="square" lIns="0" tIns="0" rIns="0" bIns="0" rtlCol="0" anchor="ctr">
            <a:normAutofit/>
          </a:bodyPr>
          <a:lstStyle/>
          <a:p>
            <a:pPr indent="0" marL="0">
              <a:buNone/>
            </a:pPr>
            <a:r>
              <a:rPr lang="en-US" sz="1600" dirty="0">
                <a:solidFill>
                  <a:srgbClr val="203038"/>
                </a:solidFill>
                <a:latin typeface="Microsoft YaHei" pitchFamily="34" charset="0"/>
                <a:ea typeface="Microsoft YaHei" pitchFamily="34" charset="-122"/>
                <a:cs typeface="Microsoft YaHei" pitchFamily="34" charset="-120"/>
              </a:rPr>
              <a:t>成分解析 → 过敏匹配 → DDInter 查询</a:t>
            </a:r>
            <a:endParaRPr lang="en-US" sz="1600" dirty="0"/>
          </a:p>
          <a:p>
            <a:pPr indent="0" marL="0">
              <a:buNone/>
            </a:pPr>
            <a:r>
              <a:rPr lang="en-US" sz="1600" dirty="0">
                <a:solidFill>
                  <a:srgbClr val="203038"/>
                </a:solidFill>
                <a:latin typeface="Microsoft YaHei" pitchFamily="34" charset="0"/>
                <a:ea typeface="Microsoft YaHei" pitchFamily="34" charset="-122"/>
                <a:cs typeface="Microsoft YaHei" pitchFamily="34" charset="-120"/>
              </a:rPr>
              <a:t>确认在用药清单；未知记录保留缺口</a:t>
            </a:r>
            <a:endParaRPr lang="en-US" sz="1600" dirty="0"/>
          </a:p>
        </p:txBody>
      </p:sp>
      <p:sp>
        <p:nvSpPr>
          <p:cNvPr id="18" name="Text 15"/>
          <p:cNvSpPr/>
          <p:nvPr/>
        </p:nvSpPr>
        <p:spPr>
          <a:xfrm>
            <a:off x="6501384" y="4764024"/>
            <a:ext cx="4892040" cy="301752"/>
          </a:xfrm>
          <a:prstGeom prst="rect">
            <a:avLst/>
          </a:prstGeom>
          <a:noFill/>
          <a:ln/>
        </p:spPr>
        <p:txBody>
          <a:bodyPr wrap="square" lIns="0" tIns="0" rIns="0" bIns="0" rtlCol="0" anchor="ctr">
            <a:normAutofit/>
          </a:bodyPr>
          <a:lstStyle/>
          <a:p>
            <a:pPr indent="0" marL="0">
              <a:buNone/>
            </a:pPr>
            <a:r>
              <a:rPr lang="en-US" sz="1800" b="1" dirty="0">
                <a:solidFill>
                  <a:srgbClr val="B17A12"/>
                </a:solidFill>
                <a:latin typeface="Microsoft YaHei" pitchFamily="34" charset="0"/>
                <a:ea typeface="Microsoft YaHei" pitchFamily="34" charset="-122"/>
                <a:cs typeface="Microsoft YaHei" pitchFamily="34" charset="-120"/>
              </a:rPr>
              <a:t>典型示例</a:t>
            </a:r>
            <a:endParaRPr lang="en-US" sz="1800" dirty="0"/>
          </a:p>
        </p:txBody>
      </p:sp>
      <p:sp>
        <p:nvSpPr>
          <p:cNvPr id="19" name="Text 16"/>
          <p:cNvSpPr/>
          <p:nvPr/>
        </p:nvSpPr>
        <p:spPr>
          <a:xfrm>
            <a:off x="6501384" y="5166360"/>
            <a:ext cx="4956048" cy="685800"/>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Penicillin 过敏 + Amoxicillin：初步过敏提示</a:t>
            </a:r>
            <a:endParaRPr lang="en-US" sz="1400" dirty="0"/>
          </a:p>
          <a:p>
            <a:pPr indent="0" marL="0">
              <a:buNone/>
            </a:pPr>
            <a:r>
              <a:rPr lang="en-US" sz="1400" dirty="0">
                <a:solidFill>
                  <a:srgbClr val="62727A"/>
                </a:solidFill>
                <a:latin typeface="Microsoft YaHei" pitchFamily="34" charset="0"/>
                <a:ea typeface="Microsoft YaHei" pitchFamily="34" charset="-122"/>
                <a:cs typeface="Microsoft YaHei" pitchFamily="34" charset="-120"/>
              </a:rPr>
              <a:t>Metoprolol + Verapamil：Major 相互作用</a:t>
            </a:r>
            <a:endParaRPr lang="en-US" sz="1400" dirty="0"/>
          </a:p>
        </p:txBody>
      </p:sp>
      <p:sp>
        <p:nvSpPr>
          <p:cNvPr id="20" name="Shape 17"/>
          <p:cNvSpPr/>
          <p:nvPr/>
        </p:nvSpPr>
        <p:spPr>
          <a:xfrm>
            <a:off x="502920" y="5952744"/>
            <a:ext cx="11155680" cy="310896"/>
          </a:xfrm>
          <a:prstGeom prst="rect">
            <a:avLst/>
          </a:prstGeom>
          <a:solidFill>
            <a:srgbClr val="FFF4DD"/>
          </a:solidFill>
          <a:ln w="7620">
            <a:solidFill>
              <a:srgbClr val="FFF4DD"/>
            </a:solidFill>
            <a:prstDash val="solid"/>
          </a:ln>
        </p:spPr>
      </p:sp>
      <p:sp>
        <p:nvSpPr>
          <p:cNvPr id="21" name="Text 18"/>
          <p:cNvSpPr/>
          <p:nvPr/>
        </p:nvSpPr>
        <p:spPr>
          <a:xfrm>
            <a:off x="667512" y="5952744"/>
            <a:ext cx="10826496" cy="310896"/>
          </a:xfrm>
          <a:prstGeom prst="rect">
            <a:avLst/>
          </a:prstGeom>
          <a:noFill/>
          <a:ln/>
        </p:spPr>
        <p:txBody>
          <a:bodyPr wrap="square" lIns="0" tIns="0" rIns="0" bIns="0" rtlCol="0" anchor="ctr">
            <a:normAutofit/>
          </a:bodyPr>
          <a:lstStyle/>
          <a:p>
            <a:pPr indent="0" marL="0">
              <a:buNone/>
            </a:pPr>
            <a:r>
              <a:rPr lang="en-US" sz="1200" dirty="0">
                <a:solidFill>
                  <a:srgbClr val="B17A12"/>
                </a:solidFill>
                <a:latin typeface="Microsoft YaHei" pitchFamily="34" charset="0"/>
                <a:ea typeface="Microsoft YaHei" pitchFamily="34" charset="-122"/>
                <a:cs typeface="Microsoft YaHei" pitchFamily="34" charset="-120"/>
              </a:rPr>
              <a:t>边界：完整交叉过敏、产品级 eGFR 剂量与 Beers 尚未补齐；Major 不自动等于绝对禁忌。</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sp>
      <p:sp>
        <p:nvSpPr>
          <p:cNvPr id="3" name="Text 1"/>
          <p:cNvSpPr/>
          <p:nvPr/>
        </p:nvSpPr>
        <p:spPr>
          <a:xfrm>
            <a:off x="502920" y="301752"/>
            <a:ext cx="11155680" cy="274320"/>
          </a:xfrm>
          <a:prstGeom prst="rect">
            <a:avLst/>
          </a:prstGeom>
          <a:noFill/>
          <a:ln/>
        </p:spPr>
        <p:txBody>
          <a:bodyPr wrap="square" lIns="0" tIns="0" rIns="0" bIns="0" rtlCol="0" anchor="ctr">
            <a:normAutofit/>
          </a:bodyPr>
          <a:lstStyle/>
          <a:p>
            <a:pPr indent="0" marL="0">
              <a:buNone/>
            </a:pPr>
            <a:r>
              <a:rPr lang="en-US" sz="1100" b="1" dirty="0">
                <a:solidFill>
                  <a:srgbClr val="087E80"/>
                </a:solidFill>
                <a:latin typeface="Microsoft YaHei" pitchFamily="34" charset="0"/>
                <a:ea typeface="Microsoft YaHei" pitchFamily="34" charset="-122"/>
                <a:cs typeface="Microsoft YaHei" pitchFamily="34" charset="-120"/>
              </a:rPr>
              <a:t>05 / 检索评测与总结</a:t>
            </a:r>
            <a:endParaRPr lang="en-US" sz="1100" dirty="0"/>
          </a:p>
        </p:txBody>
      </p:sp>
      <p:sp>
        <p:nvSpPr>
          <p:cNvPr id="4" name="Text 2"/>
          <p:cNvSpPr/>
          <p:nvPr/>
        </p:nvSpPr>
        <p:spPr>
          <a:xfrm>
            <a:off x="502920" y="777240"/>
            <a:ext cx="11155680" cy="548640"/>
          </a:xfrm>
          <a:prstGeom prst="rect">
            <a:avLst/>
          </a:prstGeom>
          <a:noFill/>
          <a:ln/>
        </p:spPr>
        <p:txBody>
          <a:bodyPr wrap="square" lIns="0" tIns="0" rIns="0" bIns="0" rtlCol="0" anchor="ctr">
            <a:normAutofit/>
          </a:bodyPr>
          <a:lstStyle/>
          <a:p>
            <a:pPr indent="0" marL="0">
              <a:buNone/>
            </a:pPr>
            <a:r>
              <a:rPr lang="en-US" sz="2900" b="1" dirty="0">
                <a:solidFill>
                  <a:srgbClr val="203038"/>
                </a:solidFill>
                <a:latin typeface="Microsoft YaHei" pitchFamily="34" charset="0"/>
                <a:ea typeface="Microsoft YaHei" pitchFamily="34" charset="-122"/>
                <a:cs typeface="Microsoft YaHei" pitchFamily="34" charset="-120"/>
              </a:rPr>
              <a:t>检索召回和排序改善，结果可追溯</a:t>
            </a:r>
            <a:endParaRPr lang="en-US" sz="2900" dirty="0"/>
          </a:p>
        </p:txBody>
      </p:sp>
      <p:sp>
        <p:nvSpPr>
          <p:cNvPr id="5" name="Text 3"/>
          <p:cNvSpPr/>
          <p:nvPr/>
        </p:nvSpPr>
        <p:spPr>
          <a:xfrm>
            <a:off x="512064" y="1408176"/>
            <a:ext cx="11064240" cy="365760"/>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历史评测：2026.09.27 | 29 个检索问题 + 1 个范围外问题 | 人工标注来源，模型不自评</a:t>
            </a:r>
            <a:endParaRPr lang="en-US" sz="1400" dirty="0"/>
          </a:p>
        </p:txBody>
      </p:sp>
      <p:sp>
        <p:nvSpPr>
          <p:cNvPr id="6" name="Shape 4"/>
          <p:cNvSpPr/>
          <p:nvPr/>
        </p:nvSpPr>
        <p:spPr>
          <a:xfrm>
            <a:off x="502920" y="6419088"/>
            <a:ext cx="11155680" cy="0"/>
          </a:xfrm>
          <a:prstGeom prst="line">
            <a:avLst/>
          </a:prstGeom>
          <a:noFill/>
          <a:ln w="12700">
            <a:solidFill>
              <a:srgbClr val="DDE5E8"/>
            </a:solidFill>
            <a:prstDash val="solid"/>
          </a:ln>
        </p:spPr>
      </p:sp>
      <p:sp>
        <p:nvSpPr>
          <p:cNvPr id="7" name="Text 5"/>
          <p:cNvSpPr/>
          <p:nvPr/>
        </p:nvSpPr>
        <p:spPr>
          <a:xfrm>
            <a:off x="502920" y="6510528"/>
            <a:ext cx="9875520" cy="182880"/>
          </a:xfrm>
          <a:prstGeom prst="rect">
            <a:avLst/>
          </a:prstGeom>
          <a:noFill/>
          <a:ln/>
        </p:spPr>
        <p:txBody>
          <a:bodyPr wrap="square" lIns="0" tIns="0" rIns="0" bIns="0" rtlCol="0" anchor="ctr">
            <a:normAutofit/>
          </a:bodyPr>
          <a:lstStyle/>
          <a:p>
            <a:pPr indent="0" marL="0">
              <a:buNone/>
            </a:pPr>
            <a:r>
              <a:rPr lang="en-US" sz="900" dirty="0">
                <a:solidFill>
                  <a:srgbClr val="62727A"/>
                </a:solidFill>
                <a:latin typeface="Microsoft YaHei" pitchFamily="34" charset="0"/>
                <a:ea typeface="Microsoft YaHei" pitchFamily="34" charset="-122"/>
                <a:cs typeface="Microsoft YaHei" pitchFamily="34" charset="-120"/>
              </a:rPr>
              <a:t>个人工作汇报  /  临床 AI 与知识工程  /  非商业课程设计</a:t>
            </a:r>
            <a:endParaRPr lang="en-US" sz="900" dirty="0"/>
          </a:p>
        </p:txBody>
      </p:sp>
      <p:sp>
        <p:nvSpPr>
          <p:cNvPr id="8" name="Text 6"/>
          <p:cNvSpPr/>
          <p:nvPr/>
        </p:nvSpPr>
        <p:spPr>
          <a:xfrm>
            <a:off x="10652760" y="6483096"/>
            <a:ext cx="1005840" cy="228600"/>
          </a:xfrm>
          <a:prstGeom prst="rect">
            <a:avLst/>
          </a:prstGeom>
          <a:noFill/>
          <a:ln/>
        </p:spPr>
        <p:txBody>
          <a:bodyPr wrap="square" lIns="0" tIns="0" rIns="0" bIns="0" rtlCol="0" anchor="ctr">
            <a:normAutofit/>
          </a:bodyPr>
          <a:lstStyle/>
          <a:p>
            <a:pPr algn="r" indent="0" marL="0">
              <a:buNone/>
            </a:pPr>
            <a:r>
              <a:rPr lang="en-US" sz="1000" dirty="0">
                <a:solidFill>
                  <a:srgbClr val="62727A"/>
                </a:solidFill>
                <a:latin typeface="Microsoft YaHei" pitchFamily="34" charset="0"/>
                <a:ea typeface="Microsoft YaHei" pitchFamily="34" charset="-122"/>
                <a:cs typeface="Microsoft YaHei" pitchFamily="34" charset="-120"/>
              </a:rPr>
              <a:t>06 / 06</a:t>
            </a:r>
            <a:endParaRPr lang="en-US" sz="1000" dirty="0"/>
          </a:p>
        </p:txBody>
      </p:sp>
      <p:graphicFrame>
        <p:nvGraphicFramePr>
          <p:cNvPr id="9" name="Chart 0" descr=""/>
          <p:cNvGraphicFramePr/>
          <p:nvPr/>
        </p:nvGraphicFramePr>
        <p:xfrm>
          <a:off x="502920" y="2011680"/>
          <a:ext cx="6949440" cy="3227832"/>
        </p:xfrm>
        <a:graphic xmlns:a="http://schemas.openxmlformats.org/drawingml/2006/main">
          <a:graphicData uri="http://schemas.openxmlformats.org/drawingml/2006/chart">
            <c:chart xmlns:c="http://schemas.openxmlformats.org/drawingml/2006/chart" r:id="rId1"/>
          </a:graphicData>
        </a:graphic>
      </p:graphicFrame>
      <p:sp>
        <p:nvSpPr>
          <p:cNvPr id="10" name="Text 7"/>
          <p:cNvSpPr/>
          <p:nvPr/>
        </p:nvSpPr>
        <p:spPr>
          <a:xfrm>
            <a:off x="7964424" y="2267712"/>
            <a:ext cx="3291840" cy="566928"/>
          </a:xfrm>
          <a:prstGeom prst="rect">
            <a:avLst/>
          </a:prstGeom>
          <a:noFill/>
          <a:ln/>
        </p:spPr>
        <p:txBody>
          <a:bodyPr wrap="square" lIns="0" tIns="0" rIns="0" bIns="0" rtlCol="0" anchor="ctr">
            <a:normAutofit/>
          </a:bodyPr>
          <a:lstStyle/>
          <a:p>
            <a:pPr indent="0" marL="0">
              <a:buNone/>
            </a:pPr>
            <a:r>
              <a:rPr lang="en-US" sz="3300" b="1" dirty="0">
                <a:solidFill>
                  <a:srgbClr val="087E80"/>
                </a:solidFill>
                <a:latin typeface="Microsoft YaHei" pitchFamily="34" charset="0"/>
                <a:ea typeface="Microsoft YaHei" pitchFamily="34" charset="-122"/>
                <a:cs typeface="Microsoft YaHei" pitchFamily="34" charset="-120"/>
              </a:rPr>
              <a:t>650ms</a:t>
            </a:r>
            <a:endParaRPr lang="en-US" sz="3300" dirty="0"/>
          </a:p>
        </p:txBody>
      </p:sp>
      <p:sp>
        <p:nvSpPr>
          <p:cNvPr id="11" name="Text 8"/>
          <p:cNvSpPr/>
          <p:nvPr/>
        </p:nvSpPr>
        <p:spPr>
          <a:xfrm>
            <a:off x="7964424" y="2907792"/>
            <a:ext cx="3291840" cy="384048"/>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检索延迟 P50</a:t>
            </a:r>
            <a:endParaRPr lang="en-US" sz="1400" dirty="0"/>
          </a:p>
        </p:txBody>
      </p:sp>
      <p:sp>
        <p:nvSpPr>
          <p:cNvPr id="12" name="Text 9"/>
          <p:cNvSpPr/>
          <p:nvPr/>
        </p:nvSpPr>
        <p:spPr>
          <a:xfrm>
            <a:off x="7964424" y="3657600"/>
            <a:ext cx="3291840" cy="566928"/>
          </a:xfrm>
          <a:prstGeom prst="rect">
            <a:avLst/>
          </a:prstGeom>
          <a:noFill/>
          <a:ln/>
        </p:spPr>
        <p:txBody>
          <a:bodyPr wrap="square" lIns="0" tIns="0" rIns="0" bIns="0" rtlCol="0" anchor="ctr">
            <a:normAutofit/>
          </a:bodyPr>
          <a:lstStyle/>
          <a:p>
            <a:pPr indent="0" marL="0">
              <a:buNone/>
            </a:pPr>
            <a:r>
              <a:rPr lang="en-US" sz="3300" b="1" dirty="0">
                <a:solidFill>
                  <a:srgbClr val="487B9C"/>
                </a:solidFill>
                <a:latin typeface="Microsoft YaHei" pitchFamily="34" charset="0"/>
                <a:ea typeface="Microsoft YaHei" pitchFamily="34" charset="-122"/>
                <a:cs typeface="Microsoft YaHei" pitchFamily="34" charset="-120"/>
              </a:rPr>
              <a:t>1532ms</a:t>
            </a:r>
            <a:endParaRPr lang="en-US" sz="3300" dirty="0"/>
          </a:p>
        </p:txBody>
      </p:sp>
      <p:sp>
        <p:nvSpPr>
          <p:cNvPr id="13" name="Text 10"/>
          <p:cNvSpPr/>
          <p:nvPr/>
        </p:nvSpPr>
        <p:spPr>
          <a:xfrm>
            <a:off x="7964424" y="4297680"/>
            <a:ext cx="3291840" cy="384048"/>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检索延迟 P95</a:t>
            </a:r>
            <a:endParaRPr lang="en-US" sz="1400" dirty="0"/>
          </a:p>
        </p:txBody>
      </p:sp>
      <p:sp>
        <p:nvSpPr>
          <p:cNvPr id="14" name="Shape 11"/>
          <p:cNvSpPr/>
          <p:nvPr/>
        </p:nvSpPr>
        <p:spPr>
          <a:xfrm>
            <a:off x="502920" y="5404104"/>
            <a:ext cx="11155680" cy="0"/>
          </a:xfrm>
          <a:prstGeom prst="line">
            <a:avLst/>
          </a:prstGeom>
          <a:noFill/>
          <a:ln w="12700">
            <a:solidFill>
              <a:srgbClr val="DDE5E8"/>
            </a:solidFill>
            <a:prstDash val="solid"/>
          </a:ln>
        </p:spPr>
      </p:sp>
      <p:sp>
        <p:nvSpPr>
          <p:cNvPr id="15" name="Text 12"/>
          <p:cNvSpPr/>
          <p:nvPr/>
        </p:nvSpPr>
        <p:spPr>
          <a:xfrm>
            <a:off x="539496" y="5596128"/>
            <a:ext cx="1371600" cy="274320"/>
          </a:xfrm>
          <a:prstGeom prst="rect">
            <a:avLst/>
          </a:prstGeom>
          <a:noFill/>
          <a:ln/>
        </p:spPr>
        <p:txBody>
          <a:bodyPr wrap="square" lIns="0" tIns="0" rIns="0" bIns="0" rtlCol="0" anchor="ctr">
            <a:normAutofit/>
          </a:bodyPr>
          <a:lstStyle/>
          <a:p>
            <a:pPr indent="0" marL="0">
              <a:buNone/>
            </a:pPr>
            <a:r>
              <a:rPr lang="en-US" sz="1700" b="1" dirty="0">
                <a:solidFill>
                  <a:srgbClr val="087E80"/>
                </a:solidFill>
                <a:latin typeface="Microsoft YaHei" pitchFamily="34" charset="0"/>
                <a:ea typeface="Microsoft YaHei" pitchFamily="34" charset="-122"/>
                <a:cs typeface="Microsoft YaHei" pitchFamily="34" charset="-120"/>
              </a:rPr>
              <a:t>个人成果</a:t>
            </a:r>
            <a:endParaRPr lang="en-US" sz="1700" dirty="0"/>
          </a:p>
        </p:txBody>
      </p:sp>
      <p:sp>
        <p:nvSpPr>
          <p:cNvPr id="16" name="Text 13"/>
          <p:cNvSpPr/>
          <p:nvPr/>
        </p:nvSpPr>
        <p:spPr>
          <a:xfrm>
            <a:off x="2066544" y="5559552"/>
            <a:ext cx="9235440" cy="347472"/>
          </a:xfrm>
          <a:prstGeom prst="rect">
            <a:avLst/>
          </a:prstGeom>
          <a:noFill/>
          <a:ln/>
        </p:spPr>
        <p:txBody>
          <a:bodyPr wrap="square" lIns="0" tIns="0" rIns="0" bIns="0" rtlCol="0" anchor="ctr">
            <a:normAutofit/>
          </a:bodyPr>
          <a:lstStyle/>
          <a:p>
            <a:pPr indent="0" marL="0">
              <a:buNone/>
            </a:pPr>
            <a:r>
              <a:rPr lang="en-US" sz="1700" dirty="0">
                <a:solidFill>
                  <a:srgbClr val="203038"/>
                </a:solidFill>
                <a:latin typeface="Microsoft YaHei" pitchFamily="34" charset="0"/>
                <a:ea typeface="Microsoft YaHei" pitchFamily="34" charset="-122"/>
                <a:cs typeface="Microsoft YaHei" pitchFamily="34" charset="-120"/>
              </a:rPr>
              <a:t>四项 AI 功能 + 可追溯 RAG + DDInter 本地风险查询</a:t>
            </a:r>
            <a:endParaRPr lang="en-US" sz="1700" dirty="0"/>
          </a:p>
        </p:txBody>
      </p:sp>
      <p:sp>
        <p:nvSpPr>
          <p:cNvPr id="17" name="Text 14"/>
          <p:cNvSpPr/>
          <p:nvPr/>
        </p:nvSpPr>
        <p:spPr>
          <a:xfrm>
            <a:off x="539496" y="6062472"/>
            <a:ext cx="1371600" cy="274320"/>
          </a:xfrm>
          <a:prstGeom prst="rect">
            <a:avLst/>
          </a:prstGeom>
          <a:noFill/>
          <a:ln/>
        </p:spPr>
        <p:txBody>
          <a:bodyPr wrap="square" lIns="0" tIns="0" rIns="0" bIns="0" rtlCol="0" anchor="ctr">
            <a:normAutofit/>
          </a:bodyPr>
          <a:lstStyle/>
          <a:p>
            <a:pPr indent="0" marL="0">
              <a:buNone/>
            </a:pPr>
            <a:r>
              <a:rPr lang="en-US" sz="1700" b="1" dirty="0">
                <a:solidFill>
                  <a:srgbClr val="487B9C"/>
                </a:solidFill>
                <a:latin typeface="Microsoft YaHei" pitchFamily="34" charset="0"/>
                <a:ea typeface="Microsoft YaHei" pitchFamily="34" charset="-122"/>
                <a:cs typeface="Microsoft YaHei" pitchFamily="34" charset="-120"/>
              </a:rPr>
              <a:t>下一步</a:t>
            </a:r>
            <a:endParaRPr lang="en-US" sz="1700" dirty="0"/>
          </a:p>
        </p:txBody>
      </p:sp>
      <p:sp>
        <p:nvSpPr>
          <p:cNvPr id="18" name="Text 15"/>
          <p:cNvSpPr/>
          <p:nvPr/>
        </p:nvSpPr>
        <p:spPr>
          <a:xfrm>
            <a:off x="2066544" y="6007608"/>
            <a:ext cx="9235440" cy="384048"/>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扩大病例与问答验证，完善药学规则；以上检索指标不等同于临床准确率。</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EnterpriseTeamEngineering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临床 AI 助手个人工作汇报（6页精简版）</dc:title>
  <dc:subject>个人职责、技术架构、RAG、DDInter 与检索评测</dc:subject>
  <dc:creator>Project contributor</dc:creator>
  <cp:lastModifiedBy>Project contributor</cp:lastModifiedBy>
  <cp:revision>1</cp:revision>
  <dcterms:created xsi:type="dcterms:W3CDTF">2026-09-28T09:34:10Z</dcterms:created>
  <dcterms:modified xsi:type="dcterms:W3CDTF">2026-09-28T09:34:10Z</dcterms:modified>
</cp:coreProperties>
</file>