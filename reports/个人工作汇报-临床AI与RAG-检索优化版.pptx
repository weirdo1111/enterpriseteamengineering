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8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药物对数量</c:v>
                </c:pt>
              </c:strCache>
            </c:strRef>
          </c:tx>
          <c:spPr>
            <a:solidFill>
              <a:srgbClr val="087E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03038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Moderate</c:v>
                </c:pt>
                <c:pt idx="1">
                  <c:v>Major</c:v>
                </c:pt>
                <c:pt idx="2">
                  <c:v>Unknown</c:v>
                </c:pt>
                <c:pt idx="3">
                  <c:v>Minor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189439</c:v>
                </c:pt>
                <c:pt idx="1">
                  <c:v>50983</c:v>
                </c:pt>
                <c:pt idx="2">
                  <c:v>42415</c:v>
                </c:pt>
                <c:pt idx="3">
                  <c:v>12347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2-4386-BF2E-371093F2BE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000"/>
          <c:min val="0"/>
        </c:scaling>
        <c:delete val="0"/>
        <c:axPos val="b"/>
        <c:majorGridlines>
          <c:spPr>
            <a:ln w="12700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片段基线</c:v>
                </c:pt>
              </c:strCache>
            </c:strRef>
          </c:tx>
          <c:spPr>
            <a:solidFill>
              <a:srgbClr val="A8B5B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03038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Precision@8</c:v>
                </c:pt>
                <c:pt idx="1">
                  <c:v>Recall@8</c:v>
                </c:pt>
                <c:pt idx="2">
                  <c:v>MRR@8</c:v>
                </c:pt>
                <c:pt idx="3">
                  <c:v>nDCG@8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23.7</c:v>
                </c:pt>
                <c:pt idx="1">
                  <c:v>92.5</c:v>
                </c:pt>
                <c:pt idx="2">
                  <c:v>92.2</c:v>
                </c:pt>
                <c:pt idx="3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FF-4333-9C0F-2B459FDA53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范围过滤与来源聚合</c:v>
                </c:pt>
              </c:strCache>
            </c:strRef>
          </c:tx>
          <c:spPr>
            <a:solidFill>
              <a:srgbClr val="087E8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03038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Precision@8</c:v>
                </c:pt>
                <c:pt idx="1">
                  <c:v>Recall@8</c:v>
                </c:pt>
                <c:pt idx="2">
                  <c:v>MRR@8</c:v>
                </c:pt>
                <c:pt idx="3">
                  <c:v>nDCG@8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25.4</c:v>
                </c:pt>
                <c:pt idx="1">
                  <c:v>98.3</c:v>
                </c:pt>
                <c:pt idx="2">
                  <c:v>96</c:v>
                </c:pt>
                <c:pt idx="3">
                  <c:v>92.2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FF-4333-9C0F-2B459FDA53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945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开场：我的主要工作是临床 AI 助手、RAG 知识库和 DDInter 医嘱核查的后端与算法集成。四个工作流包括病历草稿、问诊摘要、相似病例和医嘱核查。295184 是当前本地数据快照规模；48 是本轮优化后核心测试项数，总后端测试为61。未代填汇报人姓名。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个人贡献边界是本报告的前提。现有身份系统与患者管理由团队协作完成，本报告不把组员成果全部归为个人开发。我的核心工作是服务、知识数据、算法流程及工程验证。对应 backend/src/ai、backend/src/rag 和相关 routes。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并不承担自由推断所有用药风险的任务。医嘱核查使用结构化数据和固定知识源，便于重复验证。向量存储在 MariaDB，应用层执行余弦相似度扫描，没有部署专用向量数据库。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backend/src/routes/ai.ts。病历草稿和摘要不是开放式任意真实患者模型生成：仅三份服务器模拟问诊允许模型路径。相似病例只返回标记为 synthetic 的病例，且每个文档保留最佳片段。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份文档和416片段来自2026-09-27保存的评测记录，本次未重新查库。Synthea为模拟患者数据，不是医院真实病例。FHIR解析排除姓名、联系方式、地址、标识符和精确出生日期。文档元数据保留来源URL、许可、发布者、分类和synthetic标记。依据 backend/src/rag/ingest.ts、fhir.ts、docs/rag-evaluation.md。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检索代码位于 backend/src/rag/service.ts。语义分数为余弦相似度，词项覆盖不是BM25。按documentId与location聚合，组内取最佳语义匹配并组合文本。应用层扫描适合当前小规模语料，尚未验证大规模ANN或生产吞吐量。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历模型仅接收服务器自己的模拟问诊文本，医生自由文本笔记不能进入该生成路径。RAG对引用编号进行校验，但不是逐句语义蕴含检验。仅生成模型429会在RAG中降级，其他异常或embedding失败不是全部离线兜底。代码见synthetic-narrative.ts、rag/service.ts、rag/ingest.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统计来自当前本地backend/data/ddinter/interactions.json，共2283药物、295184唯一药物对和8234机制。Moderate189439、Major50983、Unknown42415、Minor12347。这是固定快照规模，不是自主医学标注，也不是官网最新总量。参考OpenMRS打包项目https://github.com/pbiondich/openmrs-ddi-knowledge-base，固定提交7e2bd2c245bd33550ca1b14951d6955767026775。DDInter数据非商业许可：https://ddinter.scbdd.com/terms/。本项目没有接入疾病表或推断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规则引擎返回Alerts、Documented Allergies、Checked和Not Checked。不能为了展示绿色安全状态隐藏数据缺口。Metoprolol与Verapamil例子已通过本地索引查询核实。Major是数据库风险等级，不意味着任何情况下均绝对禁用。eGFR、途径、日剂量和年龄匹配的规则契约已经建立，但没有药师审核的大陆产品目录，Beers也未完整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backend/docs/rag-evaluation.md。Precision@8上限为60/(29*8)=25.86%，因为每题仅标注1到3个来源，即使返回不足8也按8计算。25.4%不表示回答准确率，也不能独立证明检索差。Recall@8是标注相关来源被找回比例，MRR是首个相关来源倒数排序，nDCG是排名质量。本轮新增MiniSearch全文重排、排名融合和动态证据选择候选，以及P@1/P@3/实际返回精度/空结果率。数据库阻塞，未取得新全量结果；默认策略未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历史生成数据来自rag-evaluation.md。概念覆盖是确定性词组匹配，不是语义正确率。仅一个拒答案例，无统计意义上的临床安全结论。本轮构建成功、61项测试通过。其中核心48项：原35项，加重排6项、指标5项、服务2项。61包含团队其他依赖模块，不全归为个人独立开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强调工程成果而非临床部署。当前前端已恢复，但数据库拒绝本机连接，因此报告不能称已通过全部现场演示。后续应修复数据库权限后实际验证登录、问答、模拟草稿、相似病例和DDInter核查。资料依据backend/README.md以及本次服务启动日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：我不把未实现的Beers和全覆盖交叉过敏包装为已完成，也不把检索率写成诊断准确率。目前形成课程设计技术实现，不是获验证的临床处方系统。完整报告位于reports/personal-work-report.md，历史指标位于backend/docs/rag-evaluation.md，DDInter使用说明位于backend/docs/medication-knowledge.md。非商业数据条款https://ddinter.scbdd.com/terms/；打包项目https://github.com/pbiondich/openmrs-ddi-knowledge-base；Synthea项目https://github.com/synthetichealth/synthe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CONTRIBUTION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9144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智慧医养大数据公共服务平台医生服务系统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682496"/>
            <a:ext cx="10881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 AI 助手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21792" y="354787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知识库  /  DDInter 医嘱核查  /  后端与算法集成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4360" y="4343400"/>
            <a:ext cx="109270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21792" y="4663440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1792" y="53309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 AI 工作流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4663440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383280" y="53309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检索范围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4663440"/>
            <a:ext cx="2834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295,184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26480" y="5330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DDInter 相互作用对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35440" y="4663440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235440" y="53309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RAG 核心测试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" y="594360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2026.09.28  |  仅统计个人负责范围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工作范围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我的职责：后端服务、知识工程与评测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定位：减少重复整理与资料检索，让医生保留最终判断和复核。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356616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02920" y="1938528"/>
            <a:ext cx="45720" cy="233172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04088" y="21031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独立负责方向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4088" y="2633472"/>
            <a:ext cx="316382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 AI 四项业务能力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导入、检索与回答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DDInter 数据接入与查询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安全校验与量化评测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79392" y="1938528"/>
            <a:ext cx="356616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279392" y="1938528"/>
            <a:ext cx="45720" cy="2331720"/>
          </a:xfrm>
          <a:prstGeom prst="rect">
            <a:avLst/>
          </a:prstGeom>
          <a:solidFill>
            <a:srgbClr val="487B9C"/>
          </a:solidFill>
          <a:ln w="7620">
            <a:solidFill>
              <a:srgbClr val="487B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480560" y="21031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接口与协作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480560" y="2633472"/>
            <a:ext cx="316382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医生工作台接口对接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病历草稿编辑与提交衔接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权限校验、审计记录衔接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提交与合并联调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55864" y="1938528"/>
            <a:ext cx="3611880" cy="23317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055864" y="1938528"/>
            <a:ext cx="45720" cy="2331720"/>
          </a:xfrm>
          <a:prstGeom prst="rect">
            <a:avLst/>
          </a:prstGeom>
          <a:solidFill>
            <a:srgbClr val="B17A12"/>
          </a:solidFill>
          <a:ln w="7620">
            <a:solidFill>
              <a:srgbClr val="B17A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57032" y="210312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不计为个人独立成果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57032" y="2633472"/>
            <a:ext cx="320954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组员负责的登录注册界面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患者管理业务模块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图文问诊业务界面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整体前端设计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" y="45902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2064" y="50749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+ TypeScript + Express 5  |  MySQL / MariaDB  |  火山方舟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Doubao Seed 2.0 Lite + 1024 维 Embedding  |  Vue 3 接口适配  |  Node Test Runner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技术架构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 AI 与确定性核查分开设计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文本生成依托原始记录和检索证据；相互作用查询依托药物知识索引。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56816"/>
            <a:ext cx="11155680" cy="594360"/>
          </a:xfrm>
          <a:prstGeom prst="rect">
            <a:avLst/>
          </a:prstGeom>
          <a:solidFill>
            <a:srgbClr val="203038"/>
          </a:solidFill>
          <a:ln w="7620">
            <a:solidFill>
              <a:srgbClr val="2030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04088" y="1956816"/>
            <a:ext cx="10762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医生工作台  →  JWT / 医生角色校验  →  临床 AI 服务  →  审计与医生复核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2569464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45720" cy="224028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04088" y="304495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病历草稿 / 摘要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4088" y="3575304"/>
            <a:ext cx="21671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服务器模拟问诊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模型整理 + 内容校验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异常回退原始记录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64992" y="2880360"/>
            <a:ext cx="2569464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364992" y="2880360"/>
            <a:ext cx="45720" cy="2240280"/>
          </a:xfrm>
          <a:prstGeom prst="rect">
            <a:avLst/>
          </a:prstGeom>
          <a:solidFill>
            <a:srgbClr val="487B9C"/>
          </a:solidFill>
          <a:ln w="7620">
            <a:solidFill>
              <a:srgbClr val="487B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566160" y="304495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知识问答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566160" y="3575304"/>
            <a:ext cx="21671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文档与向量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范围过滤 + 混合检索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来源聚合 + 引用回答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27064" y="2880360"/>
            <a:ext cx="2569464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227064" y="2880360"/>
            <a:ext cx="45720" cy="224028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28232" y="304495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相似病历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28232" y="3575304"/>
            <a:ext cx="21671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Synthea 模拟病例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病例文档聚合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关联指南独立展示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89136" y="2880360"/>
            <a:ext cx="2569464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9089136" y="2880360"/>
            <a:ext cx="45720" cy="2240280"/>
          </a:xfrm>
          <a:prstGeom prst="rect">
            <a:avLst/>
          </a:prstGeom>
          <a:solidFill>
            <a:srgbClr val="B17A12"/>
          </a:solidFill>
          <a:ln w="7620">
            <a:solidFill>
              <a:srgbClr val="B17A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290304" y="304495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医嘱安全核查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290304" y="3575304"/>
            <a:ext cx="21671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成分解析与过敏规则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DDInter 药物对索引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可替换产品规则接口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2920" y="5431536"/>
            <a:ext cx="11155680" cy="576072"/>
          </a:xfrm>
          <a:prstGeom prst="rect">
            <a:avLst/>
          </a:prstGeom>
          <a:solidFill>
            <a:srgbClr val="E6F2F1"/>
          </a:solidFill>
          <a:ln w="7620">
            <a:solidFill>
              <a:srgbClr val="E6F2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94944" y="5431536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MariaDB：知识文档 / 文本片段 / 向量 / 导入检查点 / 审计记录    +    本地 DDInter 索引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业务交付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四项医生工作流与四个临床 AI 接口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输出可编辑、可追溯的辅助结果，不自动形成诊断或处方。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47672"/>
            <a:ext cx="5458968" cy="1901952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02920" y="1947672"/>
            <a:ext cx="45720" cy="1901952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04088" y="2112264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病历草稿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4088" y="2642616"/>
            <a:ext cx="5056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将问诊记录整理为可编辑草稿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保留来源，待医生诊断与复核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34472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/api/ai/record-draft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1947672"/>
            <a:ext cx="5458968" cy="1901952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199632" y="1947672"/>
            <a:ext cx="45720" cy="1901952"/>
          </a:xfrm>
          <a:prstGeom prst="rect">
            <a:avLst/>
          </a:prstGeom>
          <a:solidFill>
            <a:srgbClr val="487B9C"/>
          </a:solidFill>
          <a:ln w="7620">
            <a:solidFill>
              <a:srgbClr val="487B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0" y="2112264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问诊摘要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0800" y="2642616"/>
            <a:ext cx="5056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归纳已记录内容和后续重点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区分患者陈述与诊断结论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9944" y="34472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/api/ai/consultation-summary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050792"/>
            <a:ext cx="5458968" cy="1901952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02920" y="4050792"/>
            <a:ext cx="45720" cy="1901952"/>
          </a:xfrm>
          <a:prstGeom prst="rect">
            <a:avLst/>
          </a:prstGeom>
          <a:solidFill>
            <a:srgbClr val="487B9C"/>
          </a:solidFill>
          <a:ln w="7620">
            <a:solidFill>
              <a:srgbClr val="487B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04088" y="4215384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相似病历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04088" y="4745736"/>
            <a:ext cx="5056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5 个模拟病例 + 2 条指南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相似度用于排序，不是诊断概率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" y="55504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/api/ai/similar-cases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632" y="4050792"/>
            <a:ext cx="5458968" cy="1901952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199632" y="4050792"/>
            <a:ext cx="45720" cy="1901952"/>
          </a:xfrm>
          <a:prstGeom prst="rect">
            <a:avLst/>
          </a:prstGeom>
          <a:solidFill>
            <a:srgbClr val="B17A12"/>
          </a:solidFill>
          <a:ln w="7620">
            <a:solidFill>
              <a:srgbClr val="B17A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00800" y="4215384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医嘱核查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400800" y="4745736"/>
            <a:ext cx="5056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过敏警告与药物相互作用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呈现已核查项和剩余信息缺口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9944" y="55504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/api/ai/order-check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RAG 建设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从资料导入到带来源的回答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完成解析、分块、向量化、持久化、检索和引用输出的完整链路。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02920" y="2706624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25877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 / PDF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 / FHIR JSON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44952" y="2651760"/>
            <a:ext cx="283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A8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64992" y="20116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3364992" y="2706624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结构化分块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64992" y="3246120"/>
            <a:ext cx="25877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按页、幻灯片、临床结构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配置上限 1400 字符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07024" y="2651760"/>
            <a:ext cx="283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A8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27064" y="20116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6227064" y="2706624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向量与存储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27064" y="3246120"/>
            <a:ext cx="25877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1024 维 Embedding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文本及元数据进入 MariaDB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69096" y="2651760"/>
            <a:ext cx="283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A8B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89136" y="201168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9089136" y="2706624"/>
            <a:ext cx="2587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检索与生成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89136" y="3246120"/>
            <a:ext cx="25877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范围过滤 + 混合排序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8 来源 + 引用回答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4343400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0080" y="4645152"/>
            <a:ext cx="2468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40080" y="53126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历史评测文档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19856" y="4645152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416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3419856" y="5312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历史评测文本片段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45994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数据组成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263640" y="5120640"/>
            <a:ext cx="5257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项目需求资料 + 1 份 CDC STEADI 指南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份 Synthea 老年模拟病例（年龄 ≥ 65 岁）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检索优化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混合排序、来源聚合与范围隔离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优化排序质量，并避免项目文档、指南和不同病例互相混入。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1155680" cy="640080"/>
          </a:xfrm>
          <a:prstGeom prst="rect">
            <a:avLst/>
          </a:prstGeom>
          <a:solidFill>
            <a:srgbClr val="203038"/>
          </a:solidFill>
          <a:ln w="7620">
            <a:solidFill>
              <a:srgbClr val="2030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 = 0.85 × 语义相似度 + 0.15 × 词项覆盖 + 编号匹配加分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11155680" cy="420624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21792" y="2907792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检索范围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2907792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过滤逻辑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79792" y="2907792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328416"/>
            <a:ext cx="1115568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1792" y="3374136"/>
            <a:ext cx="2505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64992" y="3374136"/>
            <a:ext cx="3877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只检索项目要求与设计资料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79792" y="3374136"/>
            <a:ext cx="4059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避免把需求文档当临床证据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3904488"/>
            <a:ext cx="11155680" cy="576072"/>
          </a:xfrm>
          <a:prstGeom prst="rect">
            <a:avLst/>
          </a:prstGeom>
          <a:solidFill>
            <a:srgbClr val="EEF3F5"/>
          </a:solidFill>
          <a:ln w="7620">
            <a:solidFill>
              <a:srgbClr val="EEF3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21792" y="3950208"/>
            <a:ext cx="2505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clinical-guideline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64992" y="3950208"/>
            <a:ext cx="3877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只检索已纳入指南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79792" y="3950208"/>
            <a:ext cx="4059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限定回答证据来源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4480560"/>
            <a:ext cx="1115568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21792" y="4526280"/>
            <a:ext cx="2505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synthetic-patient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64992" y="4526280"/>
            <a:ext cx="3877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指定一份病例 + 相关指南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79792" y="4526280"/>
            <a:ext cx="4059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避免混入其他患者记录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" y="52852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来源位置聚合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715768" y="5175504"/>
            <a:ext cx="8915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同页多个片段  →  合并为一个来源结果  →  减少重复占用 Top 8 名额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12064" y="593445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说明：评分是人工设定的排序策略，不是模型置信度；编号匹配加分为 0.2。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模型工程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模型接入、输出校验与限流降级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当前：Doubao Seed 2.0 Lite + Doubao Embedding Vision（1024 维）。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3566160" cy="2980944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45720" cy="2980944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04088" y="21305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模拟数据准入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4088" y="2660904"/>
            <a:ext cx="316382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仅3 </a:t>
            </a: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份服务器模拟问诊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逐项比对问诊文本与标识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任意真实患者文本不开放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自由文本改变则走本地路径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79392" y="1965960"/>
            <a:ext cx="3566160" cy="2980944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279392" y="1965960"/>
            <a:ext cx="45720" cy="2980944"/>
          </a:xfrm>
          <a:prstGeom prst="rect">
            <a:avLst/>
          </a:prstGeom>
          <a:solidFill>
            <a:srgbClr val="487B9C"/>
          </a:solidFill>
          <a:ln w="7620">
            <a:solidFill>
              <a:srgbClr val="487B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480560" y="21305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有证据才输出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480560" y="2660904"/>
            <a:ext cx="316382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校验来源引用和数值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模型异常回退记录整理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无效引用降级为证据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临床诊断 / 剂量请求拒答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55864" y="1965960"/>
            <a:ext cx="3611880" cy="2980944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055864" y="1965960"/>
            <a:ext cx="45720" cy="2980944"/>
          </a:xfrm>
          <a:prstGeom prst="rect">
            <a:avLst/>
          </a:prstGeom>
          <a:solidFill>
            <a:srgbClr val="B17A12"/>
          </a:solidFill>
          <a:ln w="7620">
            <a:solidFill>
              <a:srgbClr val="B17A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57032" y="213055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RPM 与导入恢复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57032" y="2660904"/>
            <a:ext cx="320954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嵌入请求默认间隔 1200ms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保存导入检查点，支持恢复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新版本完成前保留旧文档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429 → retrieval-only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5330952"/>
            <a:ext cx="11155680" cy="694944"/>
          </a:xfrm>
          <a:prstGeom prst="rect">
            <a:avLst/>
          </a:prstGeom>
          <a:solidFill>
            <a:srgbClr val="FFF4DD"/>
          </a:solidFill>
          <a:ln w="7620">
            <a:solidFill>
              <a:srgbClr val="FFF4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31520" y="5330952"/>
            <a:ext cx="10698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已缓解生成限流对展示的影响，但没有消除云服务配额；查询向量仍依赖嵌入服务。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DDINTER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将相互作用数据变成可查询的本地索引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固定上游提交 + SHA-256 校验；记录通用药名、风险等级和机制。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2,283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6426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药物记录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1975104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295,184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297680" y="26426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唯一相互作用药物对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66176" y="1975104"/>
            <a:ext cx="3108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8,234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66176" y="26426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机制条目</a:t>
            </a:r>
            <a:endParaRPr lang="en-US" sz="14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502920" y="3346704"/>
          <a:ext cx="6510528" cy="2615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/>
          <p:nvPr/>
        </p:nvSpPr>
        <p:spPr>
          <a:xfrm>
            <a:off x="7342632" y="3511296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标准化药名 → 唯一 ID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无方向药物对键 → Map 查询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342632" y="4645152"/>
            <a:ext cx="4242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+ B 与 B + A 结果一致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歧义名称不猜测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Unknown 与缺失记录不判安全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医嘱核查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分层检查风险，同时保留未完成项目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“没有找到匹配风险”不等于“处方安全”；DDInter Major 不自动等于绝对禁忌。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11155680" cy="420624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21792" y="1938528"/>
            <a:ext cx="2734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核查环节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93592" y="1938528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实现状态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96712" y="1938528"/>
            <a:ext cx="5843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359152"/>
            <a:ext cx="11155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1792" y="2404872"/>
            <a:ext cx="2734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成分解析与直接过敏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93592" y="2404872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96712" y="2404872"/>
            <a:ext cx="5843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中英文已知别名；不猜测复方与歧义药名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2944368"/>
            <a:ext cx="11155680" cy="585216"/>
          </a:xfrm>
          <a:prstGeom prst="rect">
            <a:avLst/>
          </a:prstGeom>
          <a:solidFill>
            <a:srgbClr val="EEF3F5"/>
          </a:solidFill>
          <a:ln w="7620">
            <a:solidFill>
              <a:srgbClr val="EEF3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21792" y="2990088"/>
            <a:ext cx="2734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 / 青霉素提示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93592" y="2990088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有限规则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96712" y="2990088"/>
            <a:ext cx="5843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有来源的初步类别提示，非全药物交叉过敏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3529584"/>
            <a:ext cx="111556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21792" y="3575304"/>
            <a:ext cx="2734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药物相互作用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93592" y="3575304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已接入 DDInter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96712" y="3575304"/>
            <a:ext cx="5843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须确认在用药清单；未收录仍提示缺口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4114800"/>
            <a:ext cx="11155680" cy="585216"/>
          </a:xfrm>
          <a:prstGeom prst="rect">
            <a:avLst/>
          </a:prstGeom>
          <a:solidFill>
            <a:srgbClr val="EEF3F5"/>
          </a:solidFill>
          <a:ln w="7620">
            <a:solidFill>
              <a:srgbClr val="EEF3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21792" y="4160520"/>
            <a:ext cx="2734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剂量 / eGFR / 老年标准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593592" y="4160520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接口与扩展点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96712" y="4160520"/>
            <a:ext cx="5843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缺审核产品规则；完整 Beers 校验未实现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2920" y="4828032"/>
            <a:ext cx="5458968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02920" y="4828032"/>
            <a:ext cx="45720" cy="1325880"/>
          </a:xfrm>
          <a:prstGeom prst="rect">
            <a:avLst/>
          </a:prstGeom>
          <a:solidFill>
            <a:srgbClr val="B64457"/>
          </a:solidFill>
          <a:ln w="7620">
            <a:solidFill>
              <a:srgbClr val="B644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04088" y="4992624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B64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A：过敏警告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04088" y="5522976"/>
            <a:ext cx="5056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Penicillin 过敏 + Amoxicillin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触发初步青霉素类过敏警告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9632" y="4828032"/>
            <a:ext cx="5458968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199632" y="4828032"/>
            <a:ext cx="45720" cy="1325880"/>
          </a:xfrm>
          <a:prstGeom prst="rect">
            <a:avLst/>
          </a:prstGeom>
          <a:solidFill>
            <a:srgbClr val="B17A12"/>
          </a:solidFill>
          <a:ln w="7620">
            <a:solidFill>
              <a:srgbClr val="B17A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400800" y="4992624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B：相互作用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6400800" y="5522976"/>
            <a:ext cx="5056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Metoprolol + 已确认在用 Verapamil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DDInter 返回 Major 等级及机制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客观评测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历史检索结果：精度接近当前固定标注上限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2026.09.27 | 12 份文档 / 416 片段 | 29 个检索问题 + 1 个范围外问题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13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02920" y="2048256"/>
          <a:ext cx="7351776" cy="3593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8257032" y="2157984"/>
            <a:ext cx="3017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+5.8 pp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257032" y="28254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Recall@8 提升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66176" y="3621024"/>
            <a:ext cx="31363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检索延迟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P50 650ms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 1532ms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266176" y="4992624"/>
            <a:ext cx="31546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Precision@8 25.4%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标注下理论上限 25.9%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2920" y="606247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题共 60 个相关来源，固定分母为 29 × 8。新增 P@1 / P@3 与实际返回精度，待全量评测。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验证口径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生成评测与软件测试分别报告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区分小样本历史模型评测、当前代码回归和真实临床验证。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历史生成评测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02920" y="2478024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2026.09.24，8 个检索问题 + 1 个范围外问题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990088"/>
            <a:ext cx="6647688" cy="420624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21792" y="2990088"/>
            <a:ext cx="4169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990088"/>
            <a:ext cx="2002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历史结果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410712"/>
            <a:ext cx="664768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21792" y="3456432"/>
            <a:ext cx="4169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预定义概念覆盖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345643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92.2%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913632"/>
            <a:ext cx="6647688" cy="502920"/>
          </a:xfrm>
          <a:prstGeom prst="rect">
            <a:avLst/>
          </a:prstGeom>
          <a:solidFill>
            <a:srgbClr val="EEF3F5"/>
          </a:solidFill>
          <a:ln w="7620">
            <a:solidFill>
              <a:srgbClr val="EEF3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21792" y="3959352"/>
            <a:ext cx="4169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引用编号有效 / 有引用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95935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/ 100%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4416552"/>
            <a:ext cx="664768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21792" y="4462272"/>
            <a:ext cx="4169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回答与拒答决策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446227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9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4919472"/>
            <a:ext cx="6647688" cy="502920"/>
          </a:xfrm>
          <a:prstGeom prst="rect">
            <a:avLst/>
          </a:prstGeom>
          <a:solidFill>
            <a:srgbClr val="EEF3F5"/>
          </a:solidFill>
          <a:ln w="7620">
            <a:solidFill>
              <a:srgbClr val="EEF3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21792" y="4965192"/>
            <a:ext cx="4169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生成延迟 P50 / P95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0" y="496519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8.2s / 12.1s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88936" y="1984248"/>
            <a:ext cx="4169664" cy="3374136"/>
          </a:xfrm>
          <a:prstGeom prst="rect">
            <a:avLst/>
          </a:prstGeom>
          <a:solidFill>
            <a:srgbClr val="E6F2F1"/>
          </a:solidFill>
          <a:ln w="7620">
            <a:solidFill>
              <a:srgbClr val="E6F2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799832" y="2359152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 / 61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7799832" y="30266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本轮后端回归通过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99832" y="3803904"/>
            <a:ext cx="3566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799832" y="44714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 AI / RAG 核心测试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2064" y="5596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引用编号有效不证明每句医学内容正确。扩展语料未重新做生成评测。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单元测试不等于数据库端到端验证，也不等于临床安全验证。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工程交付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不只调用模型 API，还完成可验证的服务链路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交付代码、数据脚本、测试和文档，支持组内联调与持续改进。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84248"/>
            <a:ext cx="11155680" cy="420624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21792" y="198424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6432" y="1984248"/>
            <a:ext cx="8083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完成内容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404872"/>
            <a:ext cx="111556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1792" y="2450592"/>
            <a:ext cx="25968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个接口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56432" y="2450592"/>
            <a:ext cx="8083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个临床 AI 接口 + 文档列表 / 导入状态 / RAG 问答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2962656"/>
            <a:ext cx="11155680" cy="557784"/>
          </a:xfrm>
          <a:prstGeom prst="rect">
            <a:avLst/>
          </a:prstGeom>
          <a:solidFill>
            <a:srgbClr val="EEF3F5"/>
          </a:solidFill>
          <a:ln w="7620">
            <a:solidFill>
              <a:srgbClr val="EEF3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1792" y="3008376"/>
            <a:ext cx="25968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数据与模型链路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56432" y="3008376"/>
            <a:ext cx="8083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类导入格式、1024 维向量、3 类范围、固定 DDInter 快照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3520440"/>
            <a:ext cx="111556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21792" y="3566160"/>
            <a:ext cx="25968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可靠性措施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56432" y="3566160"/>
            <a:ext cx="8083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导入检查点、旧版本保留、生成限流降级、无效引用回退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4078224"/>
            <a:ext cx="11155680" cy="557784"/>
          </a:xfrm>
          <a:prstGeom prst="rect">
            <a:avLst/>
          </a:prstGeom>
          <a:solidFill>
            <a:srgbClr val="EEF3F5"/>
          </a:solidFill>
          <a:ln w="7620">
            <a:solidFill>
              <a:srgbClr val="EEF3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21792" y="4123944"/>
            <a:ext cx="25968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审计与版本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56432" y="4123944"/>
            <a:ext cx="8083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操作来源 / 生成方式 / 风险类别记录；GitHub 提交与合并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4636008"/>
            <a:ext cx="111556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21792" y="4681728"/>
            <a:ext cx="25968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交付文档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56432" y="4681728"/>
            <a:ext cx="8083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评测定义、数据来源目录、药品规则契约、临床能力边界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2920" y="5486400"/>
            <a:ext cx="11155680" cy="621792"/>
          </a:xfrm>
          <a:prstGeom prst="rect">
            <a:avLst/>
          </a:prstGeom>
          <a:solidFill>
            <a:srgbClr val="FFF4DD"/>
          </a:solidFill>
          <a:ln w="7620">
            <a:solidFill>
              <a:srgbClr val="FFF4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13232" y="5486400"/>
            <a:ext cx="10725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当前演示阻塞：本机 MariaDB 拒绝 localhost 连接；后端启动与端到端演示仍待恢复。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总结与下一步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109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形成有来源、有测试、有明确边界的课程设计实现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12064" y="138988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个人贡献集中于临床 AI、RAG、DDInter 和后端算法集成。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个人工作汇报  /  临床 AI 与知识工程  /  非商业课程设计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52760" y="64830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11155680" cy="886968"/>
          </a:xfrm>
          <a:prstGeom prst="rect">
            <a:avLst/>
          </a:prstGeom>
          <a:solidFill>
            <a:srgbClr val="203038"/>
          </a:solidFill>
          <a:ln w="7620">
            <a:solidFill>
              <a:srgbClr val="2030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86384" y="1993392"/>
            <a:ext cx="105978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结构化辅助工作流  +  可追溯知识检索  +  可重复医嘱风险查询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02920" y="3310128"/>
            <a:ext cx="356616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02920" y="3310128"/>
            <a:ext cx="45720" cy="2148840"/>
          </a:xfrm>
          <a:prstGeom prst="rect">
            <a:avLst/>
          </a:prstGeom>
          <a:solidFill>
            <a:srgbClr val="087E80"/>
          </a:solidFill>
          <a:ln w="7620">
            <a:solidFill>
              <a:srgbClr val="087E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04088" y="34747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87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优先：恢复演示链路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4088" y="4005072"/>
            <a:ext cx="316382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修复数据库本机连接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完成登录与 AI 端到端检查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确认现场演示流程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79392" y="3310128"/>
            <a:ext cx="356616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279392" y="3310128"/>
            <a:ext cx="45720" cy="2148840"/>
          </a:xfrm>
          <a:prstGeom prst="rect">
            <a:avLst/>
          </a:prstGeom>
          <a:solidFill>
            <a:srgbClr val="487B9C"/>
          </a:solidFill>
          <a:ln w="7620">
            <a:solidFill>
              <a:srgbClr val="487B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480560" y="34747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487B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继续：验证检索优化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480560" y="4005072"/>
            <a:ext cx="316382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候选全文重排与动态证据选择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全量对照 P@1 / P@3 与召回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通过人工复核后再切换默认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3310128"/>
            <a:ext cx="361188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DDE5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055864" y="3310128"/>
            <a:ext cx="45720" cy="2148840"/>
          </a:xfrm>
          <a:prstGeom prst="rect">
            <a:avLst/>
          </a:prstGeom>
          <a:solidFill>
            <a:srgbClr val="B17A12"/>
          </a:solidFill>
          <a:ln w="7620">
            <a:solidFill>
              <a:srgbClr val="B17A1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257032" y="347472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B17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深化：补齐药学知识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57032" y="4005072"/>
            <a:ext cx="320954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接入审核过的产品规则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补齐交叉过敏、eGFR 与 Beers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030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保留医生复核和知识缺口提示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" y="5797296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核验依据：项目代码与测试 / rag-evaluation.md / 本地 DDInter 索引统计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2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数据来源：github.com/synthetichealth/synthea  |  ddinter.scbdd.com/terms/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1466</Words>
  <Application>Microsoft Office PowerPoint</Application>
  <PresentationFormat>宽屏</PresentationFormat>
  <Paragraphs>298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EnterpriseTeamEngineering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临床 AI 与 RAG：个人工作汇报</dc:title>
  <dc:subject>课程设计个人工作汇报：临床 AI、RAG 与 DDInter</dc:subject>
  <dc:creator>Project contributor</dc:creator>
  <cp:lastModifiedBy>HA158916@365mak.com</cp:lastModifiedBy>
  <cp:revision>2</cp:revision>
  <dcterms:created xsi:type="dcterms:W3CDTF">2026-09-28T09:22:50Z</dcterms:created>
  <dcterms:modified xsi:type="dcterms:W3CDTF">2026-09-28T09:27:24Z</dcterms:modified>
</cp:coreProperties>
</file>