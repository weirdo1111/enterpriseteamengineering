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Interaction pair count</c:v>
                </c:pt>
              </c:strCache>
            </c:strRef>
          </c:tx>
          <c:spPr>
            <a:solidFill>
              <a:srgbClr val="087E80"/>
            </a:solidFill>
            <a:effectLst/>
          </c:spPr>
          <c:invertIfNegative val="0"/>
          <c:dLbls>
            <c:numFmt formatCode="#,##0"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cat>
            <c:multiLvlStrRef>
              <c:f>Sheet1!$A$2:$A$5</c:f>
              <c:multiLvlStrCache>
                <c:ptCount val="4"/>
                <c:lvl>
                  <c:pt idx="0">
                    <c:v>Moderate</c:v>
                  </c:pt>
                  <c:pt idx="1">
                    <c:v>Major</c:v>
                  </c:pt>
                  <c:pt idx="2">
                    <c:v>Unknown</c:v>
                  </c:pt>
                  <c:pt idx="3">
                    <c:v>Minor</c:v>
                  </c:pt>
                </c:lvl>
              </c:multiLvlStrCache>
            </c:multiLvlStrRef>
          </c:cat>
          <c:val>
            <c:numRef>
              <c:f>Sheet1!$B$2:$B$5</c:f>
              <c:numCache>
                <c:formatCode>General</c:formatCode>
                <c:ptCount val="4"/>
                <c:pt idx="0">
                  <c:v>189439</c:v>
                </c:pt>
                <c:pt idx="1">
                  <c:v>50983</c:v>
                </c:pt>
                <c:pt idx="2">
                  <c:v>42415</c:v>
                </c:pt>
                <c:pt idx="3">
                  <c:v>12347</c:v>
                </c:pt>
              </c:numCache>
            </c:numRef>
          </c:val>
        </c:ser>
        <c:dLbls>
          <c:numFmt formatCode="#,##0"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5000"/>
          <c:min val="0"/>
        </c:scaling>
        <c:delete val="0"/>
        <c:axPos val="b"/>
        <c:majorGridlines>
          <c:spPr>
            <a:ln w="12700" cap="flat">
              <a:solidFill>
                <a:srgbClr val="DDE5E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100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Deployed source-group retrieval</c:v>
                </c:pt>
              </c:strCache>
            </c:strRef>
          </c:tx>
          <c:spPr>
            <a:solidFill>
              <a:srgbClr val="087E80"/>
            </a:solidFill>
            <a:effectLst/>
          </c:spPr>
          <c:invertIfNegative val="0"/>
          <c:dLbls>
            <c:numFmt formatCode="0.00&quot;%&quot;"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cat>
            <c:multiLvlStrRef>
              <c:f>Sheet1!$A$2:$A$4</c:f>
              <c:multiLvlStrCache>
                <c:ptCount val="3"/>
                <c:lvl>
                  <c:pt idx="0">
                    <c:v>Recall@8</c:v>
                  </c:pt>
                  <c:pt idx="1">
                    <c:v>MRR@8</c:v>
                  </c:pt>
                  <c:pt idx="2">
                    <c:v>nDCG@8</c:v>
                  </c:pt>
                </c:lvl>
              </c:multiLvlStrCache>
            </c:multiLvlStrRef>
          </c:cat>
          <c:val>
            <c:numRef>
              <c:f>Sheet1!$B$2:$B$4</c:f>
              <c:numCache>
                <c:formatCode>General</c:formatCode>
                <c:ptCount val="3"/>
                <c:pt idx="0">
                  <c:v>98.28</c:v>
                </c:pt>
                <c:pt idx="1">
                  <c:v>95.69</c:v>
                </c:pt>
                <c:pt idx="2">
                  <c:v>91.45</c:v>
                </c:pt>
              </c:numCache>
            </c:numRef>
          </c:val>
        </c:ser>
        <c:dLbls>
          <c:numFmt formatCode="0.00&quot;%&quot;"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12700" cap="flat">
              <a:solidFill>
                <a:srgbClr val="DDE5E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contribution focuses on backend and algorithm integration for the clinical AI assistant, knowledge retrieval, and DDInter order checks. The four workflows are Record Draft, Consultation Summary, Similar Records, and Order Safety Check. The current website has no standalone knowledge-base Q&amp;A page; this report does not present reserved backend capabilities as delivered physician-facing features. The recorded local verification on 28 September 2026 reports 17 documents, 848 chunks, and 1024-dimensional embeddings. The 295,184 interaction pairs belong to the fixed local DDInter snapshot, not a clinical accuracy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separates narrative generation, knowledge retrieval, and medication risk screening. Drafts and summaries use eligible original synthetic consultation records; guideline-augmented generation is not claimed. Similar Records calls the embedding model and returns synthetic cases and guidance excerpts without a chat model generating clinical comparisons. Order checks use explicit rules and DDInter, not language-model guesses about interactions. Embeddings are stored in MariaDB and similarity is computed in the application; there is no dedicated vector database. Current model IDs are doubao-seed-2-0-lite-260428 and doubao-embedding-vision-251215. Authentication, patient management, and the text/image consultation interface are team contributions, not wholly my individual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Model-generated drafts and summaries are allowed only for three synthetic consultations that match the fixed server-side records field by field. Arbitrary real-patient text submitted from the browser must not be sent to the cloud model. Failed source or numeric validation, or a service error, triggers structured extraction from existing records instead. Physicians must add a diagnosis and review a draft before submission. Similar Records searches only Synthea records explicitly marked synthetic and retains the highest-scoring excerpt for each document. These are not real hospital cases or independently validated clinical recommendations. Endpoints are defined in backend/src/routes/ai.ts.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the existing physician-facing retrieval workflow, not a complete retrieval-augmented generation Q&amp;A feature. rankSimilarCases uses cosine similarity, keeps the highest-scoring excerpt per synthetic case, and returns at most five cases. relatedGuidance filters guidance by Chinese/English query terms, ranks matches by cosine similarity, deduplicates by document, and returns at most two excerpts. Query embedding calls use the embedding service; the results are not generated by a chat model. Recorded local totals on 28 September 2026 are: 3 project documents / 272 chunks, 6 guidance documents / 497 chunks, and 8 synthetic records / 79 chunks, totaling 17 documents / 848 chunks. The five new sources are China NHC dietary guidance for hypertension and diabetes (2023), the COPD health-service specification (2024), WHO hypertension pharmacological treatment guidance (2021), and ICOPE second edition. CDC STEADI was already indexed. Not every guidance document is a comprehensive treatment guideline, and these references do not complete medication-rule coverage. New PDFs are chunked by physical page, preserve short headings, and use a 3200-character chunk limit. Insufficient text from scanned documents is rejected. WHO materials have non-commercial licensing restrictions; no unrestricted redistribution license is claimed for NHC materials. Source records are in backend/docs/clinical-guidance-sources.md and dataset-catalog.json.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come from the local DDInter index, not the latest website totals or independently annotated clinical data: 2,283 drugs, 295,184 unique drug pairs, and 8,234 mechanisms. Severity counts are Moderate 189,439; Major 50,983; Unknown 42,415; Minor 12,347. Normalized names map to unique drug IDs. An undirected pair Map ensures that A+B and B+A give the same lookup. Ambiguous names are not guessed. Only drug pairs and mechanisms are integrated; the bundled disease tables and inference chains are not used. The penicillin/amoxicillin check is a limited source-based rule, not a comprehensive drug-class classifier. A dose-rule interface exists, but reviewed mainland-China product-specific rules are missing and complete Beers criteria are not implemented. No matched interaction is not proof of safety. DDInter terms: https://ddinter.scbdd.com/terms/. Packaging source: https://github.com/pbiondich/openmrs-ddi-knowledge-base. Use is restricted to the non-commercial course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local verification from 28 September 2026 is documented in backend/docs/clinical-guidance-sources.md. The unchanged legacy benchmark contains 30 cases, including 29 with labeled relevant sources. Deployed source-group Recall@8 is 98.275862%, MRR@8 is 95.689655%, and nDCG@8 is 91.447512%. Observed P50/P95 retrieval latency is 429/815 ms, with no failed cases and no scope contamination. Recall measures relevant-source coverage, MRR measures the first relevant result position, and nDCG measures ranking quality. These measure the general backend retrieval engine, not all Similar Records UI behavior or clinical outcomes. The legacy benchmark mostly covers project requirements, falls, and synthetic cases; results cannot be generalized to every new guideline topic. Five of five new-topic smoke tests verify expected documents in the top five and Related Guidance hits, not answer correctness. The recorded backend suite has 69 passing automated tests. Latency is a single local observation, not a deployment guarantee. No cross-corpus improvement or clinical accuracy claim is made. Personal deliverables include four support workflows, knowledge ingestion and retrieval provenance, and structured DDInter risk lookup. Complete cross-allergy rules, product-specific renal dosing, and Beers coverage remain incomplete.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altLang="en-US" sz="1100" b="1" dirty="0">
                <a:solidFill>
                  <a:srgbClr val="087E80"/>
                </a:solidFill>
                <a:latin typeface="Arial" pitchFamily="34" charset="0"/>
                <a:ea typeface="Arial" pitchFamily="34" charset="-122"/>
                <a:cs typeface="Arial" pitchFamily="34" charset="-120"/>
              </a:rPr>
              <a:t>PERSONAL CONTRIBUTION</a:t>
            </a:r>
            <a:endParaRPr lang="en-US" sz="1100" dirty="0"/>
          </a:p>
        </p:txBody>
      </p:sp>
      <p:sp>
        <p:nvSpPr>
          <p:cNvPr id="4" name="Shape 2"/>
          <p:cNvSpPr/>
          <p:nvPr/>
        </p:nvSpPr>
        <p:spPr>
          <a:xfrm>
            <a:off x="502920" y="6419088"/>
            <a:ext cx="11155680" cy="0"/>
          </a:xfrm>
          <a:prstGeom prst="line">
            <a:avLst/>
          </a:prstGeom>
          <a:noFill/>
          <a:ln w="12700">
            <a:solidFill>
              <a:srgbClr val="DDE5E8"/>
            </a:solidFill>
            <a:prstDash val="solid"/>
          </a:ln>
        </p:spPr>
      </p:sp>
      <p:sp>
        <p:nvSpPr>
          <p:cNvPr id="5" name="Text 3"/>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6" name="Text 4"/>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altLang="en-US" sz="1000" dirty="0">
                <a:solidFill>
                  <a:srgbClr val="62727A"/>
                </a:solidFill>
                <a:latin typeface="Arial" pitchFamily="34" charset="0"/>
                <a:ea typeface="Arial" pitchFamily="34" charset="-122"/>
                <a:cs typeface="Arial" pitchFamily="34" charset="-120"/>
              </a:rPr>
              <a:t>01 / 06</a:t>
            </a:r>
            <a:endParaRPr lang="en-US" sz="1000" dirty="0"/>
          </a:p>
        </p:txBody>
      </p:sp>
      <p:sp>
        <p:nvSpPr>
          <p:cNvPr id="7" name="Text 5"/>
          <p:cNvSpPr/>
          <p:nvPr/>
        </p:nvSpPr>
        <p:spPr>
          <a:xfrm>
            <a:off x="594360" y="941832"/>
            <a:ext cx="10881360" cy="420624"/>
          </a:xfrm>
          <a:prstGeom prst="rect">
            <a:avLst/>
          </a:prstGeom>
          <a:noFill/>
          <a:ln/>
        </p:spPr>
        <p:txBody>
          <a:bodyPr wrap="square" lIns="0" tIns="0" rIns="0" bIns="0" rtlCol="0" anchor="ctr">
            <a:normAutofit/>
          </a:bodyPr>
          <a:lstStyle/>
          <a:p>
            <a:pPr indent="0" marL="0">
              <a:buNone/>
            </a:pPr>
            <a:r>
              <a:rPr lang="en-US" altLang="en-US" sz="1800" dirty="0">
                <a:solidFill>
                  <a:srgbClr val="62727A"/>
                </a:solidFill>
                <a:latin typeface="Arial" pitchFamily="34" charset="0"/>
                <a:ea typeface="Arial" pitchFamily="34" charset="-122"/>
                <a:cs typeface="Arial" pitchFamily="34" charset="-120"/>
              </a:rPr>
              <a:t>Physician Services System | Smart Healthcare &amp; Elderly Care Platform</a:t>
            </a:r>
            <a:endParaRPr lang="en-US" sz="1800" dirty="0"/>
          </a:p>
        </p:txBody>
      </p:sp>
      <p:sp>
        <p:nvSpPr>
          <p:cNvPr id="8" name="Text 6"/>
          <p:cNvSpPr/>
          <p:nvPr/>
        </p:nvSpPr>
        <p:spPr>
          <a:xfrm>
            <a:off x="594360" y="1746504"/>
            <a:ext cx="10881360" cy="1554480"/>
          </a:xfrm>
          <a:prstGeom prst="rect">
            <a:avLst/>
          </a:prstGeom>
          <a:noFill/>
          <a:ln/>
        </p:spPr>
        <p:txBody>
          <a:bodyPr wrap="square" lIns="0" tIns="0" rIns="0" bIns="0" rtlCol="0" anchor="ctr">
            <a:normAutofit/>
          </a:bodyPr>
          <a:lstStyle/>
          <a:p>
            <a:pPr indent="0" marL="0">
              <a:buNone/>
            </a:pPr>
            <a:r>
              <a:rPr lang="en-US" altLang="en-US" sz="3900" b="1" dirty="0">
                <a:solidFill>
                  <a:srgbClr val="203038"/>
                </a:solidFill>
                <a:latin typeface="Arial" pitchFamily="34" charset="0"/>
                <a:ea typeface="Arial" pitchFamily="34" charset="-122"/>
                <a:cs typeface="Arial" pitchFamily="34" charset="-120"/>
              </a:rPr>
              <a:t>Clinical AI Assistant</a:t>
            </a:r>
            <a:endParaRPr lang="en-US" sz="3900" dirty="0"/>
          </a:p>
          <a:p>
            <a:pPr indent="0" marL="0">
              <a:buNone/>
            </a:pPr>
            <a:r>
              <a:rPr lang="en-US" altLang="en-US" sz="3900" b="1" dirty="0">
                <a:solidFill>
                  <a:srgbClr val="203038"/>
                </a:solidFill>
                <a:latin typeface="Arial" pitchFamily="34" charset="0"/>
                <a:ea typeface="Arial" pitchFamily="34" charset="-122"/>
                <a:cs typeface="Arial" pitchFamily="34" charset="-120"/>
              </a:rPr>
              <a:t>Personal Work Report</a:t>
            </a:r>
            <a:endParaRPr lang="en-US" sz="3900" dirty="0"/>
          </a:p>
        </p:txBody>
      </p:sp>
      <p:sp>
        <p:nvSpPr>
          <p:cNvPr id="9" name="Text 7"/>
          <p:cNvSpPr/>
          <p:nvPr/>
        </p:nvSpPr>
        <p:spPr>
          <a:xfrm>
            <a:off x="621792" y="3575304"/>
            <a:ext cx="10789920" cy="402336"/>
          </a:xfrm>
          <a:prstGeom prst="rect">
            <a:avLst/>
          </a:prstGeom>
          <a:noFill/>
          <a:ln/>
        </p:spPr>
        <p:txBody>
          <a:bodyPr wrap="square" lIns="0" tIns="0" rIns="0" bIns="0" rtlCol="0" anchor="ctr">
            <a:normAutofit/>
          </a:bodyPr>
          <a:lstStyle/>
          <a:p>
            <a:pPr indent="0" marL="0">
              <a:buNone/>
            </a:pPr>
            <a:r>
              <a:rPr lang="en-US" altLang="en-US" sz="2000" dirty="0">
                <a:solidFill>
                  <a:srgbClr val="087E80"/>
                </a:solidFill>
                <a:latin typeface="Arial" pitchFamily="34" charset="0"/>
                <a:ea typeface="Arial" pitchFamily="34" charset="-122"/>
                <a:cs typeface="Arial" pitchFamily="34" charset="-120"/>
              </a:rPr>
              <a:t>Knowledge Retrieval  /  DDInter Safety Checks  /  Backend &amp; Model Integration</a:t>
            </a:r>
            <a:endParaRPr lang="en-US" sz="2000" dirty="0"/>
          </a:p>
        </p:txBody>
      </p:sp>
      <p:sp>
        <p:nvSpPr>
          <p:cNvPr id="10" name="Shape 8"/>
          <p:cNvSpPr/>
          <p:nvPr/>
        </p:nvSpPr>
        <p:spPr>
          <a:xfrm>
            <a:off x="594360" y="4379976"/>
            <a:ext cx="10927080" cy="0"/>
          </a:xfrm>
          <a:prstGeom prst="line">
            <a:avLst/>
          </a:prstGeom>
          <a:noFill/>
          <a:ln w="12700">
            <a:solidFill>
              <a:srgbClr val="DDE5E8"/>
            </a:solidFill>
            <a:prstDash val="solid"/>
          </a:ln>
        </p:spPr>
      </p:sp>
      <p:sp>
        <p:nvSpPr>
          <p:cNvPr id="11" name="Text 9"/>
          <p:cNvSpPr/>
          <p:nvPr/>
        </p:nvSpPr>
        <p:spPr>
          <a:xfrm>
            <a:off x="621792" y="4672584"/>
            <a:ext cx="2651760" cy="566928"/>
          </a:xfrm>
          <a:prstGeom prst="rect">
            <a:avLst/>
          </a:prstGeom>
          <a:noFill/>
          <a:ln/>
        </p:spPr>
        <p:txBody>
          <a:bodyPr wrap="square" lIns="0" tIns="0" rIns="0" bIns="0" rtlCol="0" anchor="ctr">
            <a:normAutofit/>
          </a:bodyPr>
          <a:lstStyle/>
          <a:p>
            <a:pPr indent="0" marL="0">
              <a:buNone/>
            </a:pPr>
            <a:r>
              <a:rPr lang="en-US" altLang="en-US" sz="3300" b="1" dirty="0">
                <a:solidFill>
                  <a:srgbClr val="087E80"/>
                </a:solidFill>
                <a:latin typeface="Arial" pitchFamily="34" charset="0"/>
                <a:ea typeface="Arial" pitchFamily="34" charset="-122"/>
                <a:cs typeface="Arial" pitchFamily="34" charset="-120"/>
              </a:rPr>
              <a:t>4</a:t>
            </a:r>
            <a:endParaRPr lang="en-US" sz="3300" dirty="0"/>
          </a:p>
        </p:txBody>
      </p:sp>
      <p:sp>
        <p:nvSpPr>
          <p:cNvPr id="12" name="Text 10"/>
          <p:cNvSpPr/>
          <p:nvPr/>
        </p:nvSpPr>
        <p:spPr>
          <a:xfrm>
            <a:off x="621792" y="5312664"/>
            <a:ext cx="265176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Clinical support workflows</a:t>
            </a:r>
            <a:endParaRPr lang="en-US" sz="1400" dirty="0"/>
          </a:p>
        </p:txBody>
      </p:sp>
      <p:sp>
        <p:nvSpPr>
          <p:cNvPr id="13" name="Text 11"/>
          <p:cNvSpPr/>
          <p:nvPr/>
        </p:nvSpPr>
        <p:spPr>
          <a:xfrm>
            <a:off x="3383280" y="4672584"/>
            <a:ext cx="2651760" cy="566928"/>
          </a:xfrm>
          <a:prstGeom prst="rect">
            <a:avLst/>
          </a:prstGeom>
          <a:noFill/>
          <a:ln/>
        </p:spPr>
        <p:txBody>
          <a:bodyPr wrap="square" lIns="0" tIns="0" rIns="0" bIns="0" rtlCol="0" anchor="ctr">
            <a:normAutofit/>
          </a:bodyPr>
          <a:lstStyle/>
          <a:p>
            <a:pPr indent="0" marL="0">
              <a:buNone/>
            </a:pPr>
            <a:r>
              <a:rPr lang="en-US" altLang="en-US" sz="3300" b="1" dirty="0">
                <a:solidFill>
                  <a:srgbClr val="487B9C"/>
                </a:solidFill>
                <a:latin typeface="Arial" pitchFamily="34" charset="0"/>
                <a:ea typeface="Arial" pitchFamily="34" charset="-122"/>
                <a:cs typeface="Arial" pitchFamily="34" charset="-120"/>
              </a:rPr>
              <a:t>17</a:t>
            </a:r>
            <a:endParaRPr lang="en-US" sz="3300" dirty="0"/>
          </a:p>
        </p:txBody>
      </p:sp>
      <p:sp>
        <p:nvSpPr>
          <p:cNvPr id="14" name="Text 12"/>
          <p:cNvSpPr/>
          <p:nvPr/>
        </p:nvSpPr>
        <p:spPr>
          <a:xfrm>
            <a:off x="3383280" y="5312664"/>
            <a:ext cx="265176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Indexed knowledge documents</a:t>
            </a:r>
            <a:endParaRPr lang="en-US" sz="1400" dirty="0"/>
          </a:p>
        </p:txBody>
      </p:sp>
      <p:sp>
        <p:nvSpPr>
          <p:cNvPr id="15" name="Text 13"/>
          <p:cNvSpPr/>
          <p:nvPr/>
        </p:nvSpPr>
        <p:spPr>
          <a:xfrm>
            <a:off x="6153912" y="4672584"/>
            <a:ext cx="2651760" cy="566928"/>
          </a:xfrm>
          <a:prstGeom prst="rect">
            <a:avLst/>
          </a:prstGeom>
          <a:noFill/>
          <a:ln/>
        </p:spPr>
        <p:txBody>
          <a:bodyPr wrap="square" lIns="0" tIns="0" rIns="0" bIns="0" rtlCol="0" anchor="ctr">
            <a:normAutofit/>
          </a:bodyPr>
          <a:lstStyle/>
          <a:p>
            <a:pPr indent="0" marL="0">
              <a:buNone/>
            </a:pPr>
            <a:r>
              <a:rPr lang="en-US" altLang="en-US" sz="3300" b="1" dirty="0">
                <a:solidFill>
                  <a:srgbClr val="B17A12"/>
                </a:solidFill>
                <a:latin typeface="Arial" pitchFamily="34" charset="0"/>
                <a:ea typeface="Arial" pitchFamily="34" charset="-122"/>
                <a:cs typeface="Arial" pitchFamily="34" charset="-120"/>
              </a:rPr>
              <a:t>1024</a:t>
            </a:r>
            <a:endParaRPr lang="en-US" sz="3300" dirty="0"/>
          </a:p>
        </p:txBody>
      </p:sp>
      <p:sp>
        <p:nvSpPr>
          <p:cNvPr id="16" name="Text 14"/>
          <p:cNvSpPr/>
          <p:nvPr/>
        </p:nvSpPr>
        <p:spPr>
          <a:xfrm>
            <a:off x="6153912" y="5312664"/>
            <a:ext cx="265176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Embedding dimensions</a:t>
            </a:r>
            <a:endParaRPr lang="en-US" sz="1400" dirty="0"/>
          </a:p>
        </p:txBody>
      </p:sp>
      <p:sp>
        <p:nvSpPr>
          <p:cNvPr id="17" name="Text 15"/>
          <p:cNvSpPr/>
          <p:nvPr/>
        </p:nvSpPr>
        <p:spPr>
          <a:xfrm>
            <a:off x="8915400" y="4672584"/>
            <a:ext cx="2743200" cy="566928"/>
          </a:xfrm>
          <a:prstGeom prst="rect">
            <a:avLst/>
          </a:prstGeom>
          <a:noFill/>
          <a:ln/>
        </p:spPr>
        <p:txBody>
          <a:bodyPr wrap="square" lIns="0" tIns="0" rIns="0" bIns="0" rtlCol="0" anchor="ctr">
            <a:normAutofit/>
          </a:bodyPr>
          <a:lstStyle/>
          <a:p>
            <a:pPr indent="0" marL="0">
              <a:buNone/>
            </a:pPr>
            <a:r>
              <a:rPr lang="en-US" altLang="en-US" sz="3300" b="1" dirty="0">
                <a:solidFill>
                  <a:srgbClr val="087E80"/>
                </a:solidFill>
                <a:latin typeface="Arial" pitchFamily="34" charset="0"/>
                <a:ea typeface="Arial" pitchFamily="34" charset="-122"/>
                <a:cs typeface="Arial" pitchFamily="34" charset="-120"/>
              </a:rPr>
              <a:t>295,184</a:t>
            </a:r>
            <a:endParaRPr lang="en-US" sz="3300" dirty="0"/>
          </a:p>
        </p:txBody>
      </p:sp>
      <p:sp>
        <p:nvSpPr>
          <p:cNvPr id="18" name="Text 16"/>
          <p:cNvSpPr/>
          <p:nvPr/>
        </p:nvSpPr>
        <p:spPr>
          <a:xfrm>
            <a:off x="8915400" y="5312664"/>
            <a:ext cx="274320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DDInter interaction pairs</a:t>
            </a:r>
            <a:endParaRPr lang="en-US" sz="1400" dirty="0"/>
          </a:p>
        </p:txBody>
      </p:sp>
      <p:sp>
        <p:nvSpPr>
          <p:cNvPr id="19" name="Text 17"/>
          <p:cNvSpPr/>
          <p:nvPr/>
        </p:nvSpPr>
        <p:spPr>
          <a:xfrm>
            <a:off x="621792" y="5980176"/>
            <a:ext cx="10789920" cy="237744"/>
          </a:xfrm>
          <a:prstGeom prst="rect">
            <a:avLst/>
          </a:prstGeom>
          <a:noFill/>
          <a:ln/>
        </p:spPr>
        <p:txBody>
          <a:bodyPr wrap="square" lIns="0" tIns="0" rIns="0" bIns="0" rtlCol="0" anchor="ctr">
            <a:normAutofit/>
          </a:bodyPr>
          <a:lstStyle/>
          <a:p>
            <a:pPr indent="0" marL="0">
              <a:buNone/>
            </a:pPr>
            <a:r>
              <a:rPr lang="en-US" altLang="en-US" sz="1200" dirty="0">
                <a:solidFill>
                  <a:srgbClr val="62727A"/>
                </a:solidFill>
                <a:latin typeface="Arial" pitchFamily="34" charset="0"/>
                <a:ea typeface="Arial" pitchFamily="34" charset="-122"/>
                <a:cs typeface="Arial" pitchFamily="34" charset="-120"/>
              </a:rPr>
              <a:t>28 Sep 2026  |  Individual responsibilities only; team-owned modules are not claimed as personal deliverables.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altLang="en-US" sz="1100" b="1" dirty="0">
                <a:solidFill>
                  <a:srgbClr val="087E80"/>
                </a:solidFill>
                <a:latin typeface="Arial" pitchFamily="34" charset="0"/>
                <a:ea typeface="Arial" pitchFamily="34" charset="-122"/>
                <a:cs typeface="Arial" pitchFamily="34" charset="-120"/>
              </a:rPr>
              <a:t>01 / SCOPE &amp; ARCHITECTURE</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altLang="en-US" sz="2800" b="1" dirty="0">
                <a:solidFill>
                  <a:srgbClr val="203038"/>
                </a:solidFill>
                <a:latin typeface="Arial" pitchFamily="34" charset="0"/>
                <a:ea typeface="Arial" pitchFamily="34" charset="-122"/>
                <a:cs typeface="Arial" pitchFamily="34" charset="-120"/>
              </a:rPr>
              <a:t>Connecting Models and Knowledge to Physician Workflows</a:t>
            </a:r>
            <a:endParaRPr lang="en-US" sz="28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Clinical AI services, source data, retrieval algorithms and API integration; reuse of team-owned identity and patient modules.</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altLang="en-US" sz="1000" dirty="0">
                <a:solidFill>
                  <a:srgbClr val="62727A"/>
                </a:solidFill>
                <a:latin typeface="Arial" pitchFamily="34" charset="0"/>
                <a:ea typeface="Arial" pitchFamily="34" charset="-122"/>
                <a:cs typeface="Arial" pitchFamily="34" charset="-120"/>
              </a:rPr>
              <a:t>02 / 06</a:t>
            </a:r>
            <a:endParaRPr lang="en-US" sz="1000" dirty="0"/>
          </a:p>
        </p:txBody>
      </p:sp>
      <p:sp>
        <p:nvSpPr>
          <p:cNvPr id="9" name="Shape 7"/>
          <p:cNvSpPr/>
          <p:nvPr/>
        </p:nvSpPr>
        <p:spPr>
          <a:xfrm>
            <a:off x="502920" y="1938528"/>
            <a:ext cx="3685032" cy="2267712"/>
          </a:xfrm>
          <a:prstGeom prst="rect">
            <a:avLst/>
          </a:prstGeom>
          <a:solidFill>
            <a:srgbClr val="FFFFFF"/>
          </a:solidFill>
          <a:ln w="7620">
            <a:solidFill>
              <a:srgbClr val="DDE5E8"/>
            </a:solidFill>
            <a:prstDash val="solid"/>
          </a:ln>
        </p:spPr>
      </p:sp>
      <p:sp>
        <p:nvSpPr>
          <p:cNvPr id="10" name="Shape 8"/>
          <p:cNvSpPr/>
          <p:nvPr/>
        </p:nvSpPr>
        <p:spPr>
          <a:xfrm>
            <a:off x="502920" y="1938528"/>
            <a:ext cx="45720" cy="2267712"/>
          </a:xfrm>
          <a:prstGeom prst="rect">
            <a:avLst/>
          </a:prstGeom>
          <a:solidFill>
            <a:srgbClr val="087E80"/>
          </a:solidFill>
          <a:ln w="7620">
            <a:solidFill>
              <a:srgbClr val="087E80"/>
            </a:solidFill>
            <a:prstDash val="solid"/>
          </a:ln>
        </p:spPr>
      </p:sp>
      <p:sp>
        <p:nvSpPr>
          <p:cNvPr id="11" name="Text 9"/>
          <p:cNvSpPr/>
          <p:nvPr/>
        </p:nvSpPr>
        <p:spPr>
          <a:xfrm>
            <a:off x="704088" y="2103120"/>
            <a:ext cx="3282696" cy="365760"/>
          </a:xfrm>
          <a:prstGeom prst="rect">
            <a:avLst/>
          </a:prstGeom>
          <a:noFill/>
          <a:ln/>
        </p:spPr>
        <p:txBody>
          <a:bodyPr wrap="square" lIns="0" tIns="0" rIns="0" bIns="0" rtlCol="0" anchor="ctr">
            <a:normAutofit/>
          </a:bodyPr>
          <a:lstStyle/>
          <a:p>
            <a:pPr indent="0" marL="0">
              <a:buNone/>
            </a:pPr>
            <a:r>
              <a:rPr lang="en-US" altLang="en-US" sz="1900" b="1" dirty="0">
                <a:solidFill>
                  <a:srgbClr val="087E80"/>
                </a:solidFill>
                <a:latin typeface="Arial" pitchFamily="34" charset="0"/>
                <a:ea typeface="Arial" pitchFamily="34" charset="-122"/>
                <a:cs typeface="Arial" pitchFamily="34" charset="-120"/>
              </a:rPr>
              <a:t>My Responsibilities</a:t>
            </a:r>
            <a:endParaRPr lang="en-US" sz="1900" dirty="0"/>
          </a:p>
        </p:txBody>
      </p:sp>
      <p:sp>
        <p:nvSpPr>
          <p:cNvPr id="12" name="Text 10"/>
          <p:cNvSpPr/>
          <p:nvPr/>
        </p:nvSpPr>
        <p:spPr>
          <a:xfrm>
            <a:off x="704088" y="2651760"/>
            <a:ext cx="3282696" cy="1389888"/>
          </a:xfrm>
          <a:prstGeom prst="rect">
            <a:avLst/>
          </a:prstGeom>
          <a:noFill/>
          <a:ln/>
        </p:spPr>
        <p:txBody>
          <a:bodyPr wrap="square" lIns="0" tIns="0" rIns="0" bIns="0" rtlCol="0" anchor="t">
            <a:normAutofit/>
          </a:bodyPr>
          <a:lstStyle/>
          <a:p>
            <a:pPr indent="0" marL="0">
              <a:buNone/>
            </a:pPr>
            <a:r>
              <a:rPr lang="en-US" altLang="en-US" sz="1600" dirty="0">
                <a:solidFill>
                  <a:srgbClr val="203038"/>
                </a:solidFill>
                <a:latin typeface="Arial" pitchFamily="34" charset="0"/>
                <a:ea typeface="Arial" pitchFamily="34" charset="-122"/>
                <a:cs typeface="Arial" pitchFamily="34" charset="-120"/>
              </a:rPr>
              <a:t>Four clinical support APIs</a:t>
            </a:r>
            <a:endParaRPr lang="en-US" sz="1600" dirty="0"/>
          </a:p>
          <a:p>
            <a:pPr indent="0" marL="0">
              <a:buNone/>
            </a:pPr>
            <a:r>
              <a:rPr lang="en-US" altLang="en-US" sz="1600" dirty="0">
                <a:solidFill>
                  <a:srgbClr val="203038"/>
                </a:solidFill>
                <a:latin typeface="Arial" pitchFamily="34" charset="0"/>
                <a:ea typeface="Arial" pitchFamily="34" charset="-122"/>
                <a:cs typeface="Arial" pitchFamily="34" charset="-120"/>
              </a:rPr>
              <a:t>Document ingestion and retrieval</a:t>
            </a:r>
            <a:endParaRPr lang="en-US" sz="1600" dirty="0"/>
          </a:p>
          <a:p>
            <a:pPr indent="0" marL="0">
              <a:buNone/>
            </a:pPr>
            <a:r>
              <a:rPr lang="en-US" altLang="en-US" sz="1600" dirty="0">
                <a:solidFill>
                  <a:srgbClr val="203038"/>
                </a:solidFill>
                <a:latin typeface="Arial" pitchFamily="34" charset="0"/>
                <a:ea typeface="Arial" pitchFamily="34" charset="-122"/>
                <a:cs typeface="Arial" pitchFamily="34" charset="-120"/>
              </a:rPr>
              <a:t>DDInter parsing and indexing</a:t>
            </a:r>
            <a:endParaRPr lang="en-US" sz="1600" dirty="0"/>
          </a:p>
          <a:p>
            <a:pPr indent="0" marL="0">
              <a:buNone/>
            </a:pPr>
            <a:r>
              <a:rPr lang="en-US" altLang="en-US" sz="1600" dirty="0">
                <a:solidFill>
                  <a:srgbClr val="203038"/>
                </a:solidFill>
                <a:latin typeface="Arial" pitchFamily="34" charset="0"/>
                <a:ea typeface="Arial" pitchFamily="34" charset="-122"/>
                <a:cs typeface="Arial" pitchFamily="34" charset="-120"/>
              </a:rPr>
              <a:t>Workbench integration and testing</a:t>
            </a:r>
            <a:endParaRPr lang="en-US" sz="1600" dirty="0"/>
          </a:p>
        </p:txBody>
      </p:sp>
      <p:sp>
        <p:nvSpPr>
          <p:cNvPr id="13" name="Shape 11"/>
          <p:cNvSpPr/>
          <p:nvPr/>
        </p:nvSpPr>
        <p:spPr>
          <a:xfrm>
            <a:off x="4407408" y="1938528"/>
            <a:ext cx="7251192" cy="2267712"/>
          </a:xfrm>
          <a:prstGeom prst="rect">
            <a:avLst/>
          </a:prstGeom>
          <a:solidFill>
            <a:srgbClr val="FFFFFF"/>
          </a:solidFill>
          <a:ln w="7620">
            <a:solidFill>
              <a:srgbClr val="DDE5E8"/>
            </a:solidFill>
            <a:prstDash val="solid"/>
          </a:ln>
        </p:spPr>
      </p:sp>
      <p:sp>
        <p:nvSpPr>
          <p:cNvPr id="14" name="Shape 12"/>
          <p:cNvSpPr/>
          <p:nvPr/>
        </p:nvSpPr>
        <p:spPr>
          <a:xfrm>
            <a:off x="4407408" y="1938528"/>
            <a:ext cx="45720" cy="2267712"/>
          </a:xfrm>
          <a:prstGeom prst="rect">
            <a:avLst/>
          </a:prstGeom>
          <a:solidFill>
            <a:srgbClr val="487B9C"/>
          </a:solidFill>
          <a:ln w="7620">
            <a:solidFill>
              <a:srgbClr val="487B9C"/>
            </a:solidFill>
            <a:prstDash val="solid"/>
          </a:ln>
        </p:spPr>
      </p:sp>
      <p:sp>
        <p:nvSpPr>
          <p:cNvPr id="15" name="Text 13"/>
          <p:cNvSpPr/>
          <p:nvPr/>
        </p:nvSpPr>
        <p:spPr>
          <a:xfrm>
            <a:off x="4608576" y="2103120"/>
            <a:ext cx="6848856" cy="365760"/>
          </a:xfrm>
          <a:prstGeom prst="rect">
            <a:avLst/>
          </a:prstGeom>
          <a:noFill/>
          <a:ln/>
        </p:spPr>
        <p:txBody>
          <a:bodyPr wrap="square" lIns="0" tIns="0" rIns="0" bIns="0" rtlCol="0" anchor="ctr">
            <a:normAutofit/>
          </a:bodyPr>
          <a:lstStyle/>
          <a:p>
            <a:pPr indent="0" marL="0">
              <a:buNone/>
            </a:pPr>
            <a:r>
              <a:rPr lang="en-US" altLang="en-US" sz="1900" b="1" dirty="0">
                <a:solidFill>
                  <a:srgbClr val="487B9C"/>
                </a:solidFill>
                <a:latin typeface="Arial" pitchFamily="34" charset="0"/>
                <a:ea typeface="Arial" pitchFamily="34" charset="-122"/>
                <a:cs typeface="Arial" pitchFamily="34" charset="-120"/>
              </a:rPr>
              <a:t>Core Technology Stack</a:t>
            </a:r>
            <a:endParaRPr lang="en-US" sz="1900" dirty="0"/>
          </a:p>
        </p:txBody>
      </p:sp>
      <p:sp>
        <p:nvSpPr>
          <p:cNvPr id="16" name="Text 14"/>
          <p:cNvSpPr/>
          <p:nvPr/>
        </p:nvSpPr>
        <p:spPr>
          <a:xfrm>
            <a:off x="4608576" y="2651760"/>
            <a:ext cx="6848856" cy="1389888"/>
          </a:xfrm>
          <a:prstGeom prst="rect">
            <a:avLst/>
          </a:prstGeom>
          <a:noFill/>
          <a:ln/>
        </p:spPr>
        <p:txBody>
          <a:bodyPr wrap="square" lIns="0" tIns="0" rIns="0" bIns="0" rtlCol="0" anchor="t">
            <a:normAutofit/>
          </a:bodyPr>
          <a:lstStyle/>
          <a:p>
            <a:pPr indent="0" marL="0">
              <a:buNone/>
            </a:pPr>
            <a:r>
              <a:rPr lang="en-US" altLang="en-US" sz="1700" dirty="0">
                <a:solidFill>
                  <a:srgbClr val="203038"/>
                </a:solidFill>
                <a:latin typeface="Arial" pitchFamily="34" charset="0"/>
                <a:ea typeface="Arial" pitchFamily="34" charset="-122"/>
                <a:cs typeface="Arial" pitchFamily="34" charset="-120"/>
              </a:rPr>
              <a:t>Node.js + TypeScript + Express 5</a:t>
            </a:r>
            <a:endParaRPr lang="en-US" sz="1700" dirty="0"/>
          </a:p>
          <a:p>
            <a:pPr indent="0" marL="0">
              <a:buNone/>
            </a:pPr>
            <a:r>
              <a:rPr lang="en-US" altLang="en-US" sz="1700" dirty="0">
                <a:solidFill>
                  <a:srgbClr val="203038"/>
                </a:solidFill>
                <a:latin typeface="Arial" pitchFamily="34" charset="0"/>
                <a:ea typeface="Arial" pitchFamily="34" charset="-122"/>
                <a:cs typeface="Arial" pitchFamily="34" charset="-120"/>
              </a:rPr>
              <a:t>MySQL / MariaDB + mysql2</a:t>
            </a:r>
            <a:endParaRPr lang="en-US" sz="1700" dirty="0"/>
          </a:p>
          <a:p>
            <a:pPr indent="0" marL="0">
              <a:buNone/>
            </a:pPr>
            <a:r>
              <a:rPr lang="en-US" altLang="en-US" sz="1700" dirty="0">
                <a:solidFill>
                  <a:srgbClr val="203038"/>
                </a:solidFill>
                <a:latin typeface="Arial" pitchFamily="34" charset="0"/>
                <a:ea typeface="Arial" pitchFamily="34" charset="-122"/>
                <a:cs typeface="Arial" pitchFamily="34" charset="-120"/>
              </a:rPr>
              <a:t>Volcengine Ark: Seed 2.0 Lite + Embedding</a:t>
            </a:r>
            <a:endParaRPr lang="en-US" sz="1700" dirty="0"/>
          </a:p>
          <a:p>
            <a:pPr indent="0" marL="0">
              <a:buNone/>
            </a:pPr>
            <a:r>
              <a:rPr lang="en-US" altLang="en-US" sz="1700" dirty="0">
                <a:solidFill>
                  <a:srgbClr val="203038"/>
                </a:solidFill>
                <a:latin typeface="Arial" pitchFamily="34" charset="0"/>
                <a:ea typeface="Arial" pitchFamily="34" charset="-122"/>
                <a:cs typeface="Arial" pitchFamily="34" charset="-120"/>
              </a:rPr>
              <a:t>Vue 3 / Element Plus integration</a:t>
            </a:r>
            <a:endParaRPr lang="en-US" sz="1700" dirty="0"/>
          </a:p>
        </p:txBody>
      </p:sp>
      <p:sp>
        <p:nvSpPr>
          <p:cNvPr id="17" name="Shape 15"/>
          <p:cNvSpPr/>
          <p:nvPr/>
        </p:nvSpPr>
        <p:spPr>
          <a:xfrm>
            <a:off x="502920" y="4489704"/>
            <a:ext cx="11155680" cy="594360"/>
          </a:xfrm>
          <a:prstGeom prst="rect">
            <a:avLst/>
          </a:prstGeom>
          <a:solidFill>
            <a:srgbClr val="203038"/>
          </a:solidFill>
          <a:ln w="7620">
            <a:solidFill>
              <a:srgbClr val="203038"/>
            </a:solidFill>
            <a:prstDash val="solid"/>
          </a:ln>
        </p:spPr>
      </p:sp>
      <p:sp>
        <p:nvSpPr>
          <p:cNvPr id="18" name="Text 16"/>
          <p:cNvSpPr/>
          <p:nvPr/>
        </p:nvSpPr>
        <p:spPr>
          <a:xfrm>
            <a:off x="694944" y="4489704"/>
            <a:ext cx="10771632" cy="594360"/>
          </a:xfrm>
          <a:prstGeom prst="rect">
            <a:avLst/>
          </a:prstGeom>
          <a:noFill/>
          <a:ln/>
        </p:spPr>
        <p:txBody>
          <a:bodyPr wrap="square" lIns="0" tIns="0" rIns="0" bIns="0" rtlCol="0" anchor="ctr">
            <a:normAutofit/>
          </a:bodyPr>
          <a:lstStyle/>
          <a:p>
            <a:pPr algn="ctr" indent="0" marL="0">
              <a:buNone/>
            </a:pPr>
            <a:r>
              <a:rPr lang="en-US" altLang="en-US" sz="1800" b="1" dirty="0">
                <a:solidFill>
                  <a:srgbClr val="FFFFFF"/>
                </a:solidFill>
                <a:latin typeface="Arial" pitchFamily="34" charset="0"/>
                <a:ea typeface="Arial" pitchFamily="34" charset="-122"/>
                <a:cs typeface="Arial" pitchFamily="34" charset="-120"/>
              </a:rPr>
              <a:t>Physician Workbench  &gt;  Authentication &amp; Roles  &gt;  Clinical AI Services  &gt;  Sources &amp; Review</a:t>
            </a:r>
            <a:endParaRPr lang="en-US" sz="1800" dirty="0"/>
          </a:p>
        </p:txBody>
      </p:sp>
      <p:sp>
        <p:nvSpPr>
          <p:cNvPr id="19" name="Text 17"/>
          <p:cNvSpPr/>
          <p:nvPr/>
        </p:nvSpPr>
        <p:spPr>
          <a:xfrm>
            <a:off x="612648" y="5440680"/>
            <a:ext cx="1828800" cy="301752"/>
          </a:xfrm>
          <a:prstGeom prst="rect">
            <a:avLst/>
          </a:prstGeom>
          <a:noFill/>
          <a:ln/>
        </p:spPr>
        <p:txBody>
          <a:bodyPr wrap="square" lIns="0" tIns="0" rIns="0" bIns="0" rtlCol="0" anchor="ctr">
            <a:normAutofit/>
          </a:bodyPr>
          <a:lstStyle/>
          <a:p>
            <a:pPr indent="0" marL="0">
              <a:buNone/>
            </a:pPr>
            <a:r>
              <a:rPr lang="en-US" altLang="en-US" sz="1600" b="1" dirty="0">
                <a:solidFill>
                  <a:srgbClr val="087E80"/>
                </a:solidFill>
                <a:latin typeface="Arial" pitchFamily="34" charset="0"/>
                <a:ea typeface="Arial" pitchFamily="34" charset="-122"/>
                <a:cs typeface="Arial" pitchFamily="34" charset="-120"/>
              </a:rPr>
              <a:t>Generative Path</a:t>
            </a:r>
            <a:endParaRPr lang="en-US" sz="1600" dirty="0"/>
          </a:p>
        </p:txBody>
      </p:sp>
      <p:sp>
        <p:nvSpPr>
          <p:cNvPr id="20" name="Text 18"/>
          <p:cNvSpPr/>
          <p:nvPr/>
        </p:nvSpPr>
        <p:spPr>
          <a:xfrm>
            <a:off x="2560320" y="5367528"/>
            <a:ext cx="8823960" cy="457200"/>
          </a:xfrm>
          <a:prstGeom prst="rect">
            <a:avLst/>
          </a:prstGeom>
          <a:noFill/>
          <a:ln/>
        </p:spPr>
        <p:txBody>
          <a:bodyPr wrap="square" lIns="0" tIns="0" rIns="0" bIns="0" rtlCol="0" anchor="ctr">
            <a:normAutofit/>
          </a:bodyPr>
          <a:lstStyle/>
          <a:p>
            <a:pPr indent="0" marL="0">
              <a:buNone/>
            </a:pPr>
            <a:r>
              <a:rPr lang="en-US" altLang="en-US" sz="1700" dirty="0">
                <a:solidFill>
                  <a:srgbClr val="203038"/>
                </a:solidFill>
                <a:latin typeface="Arial" pitchFamily="34" charset="0"/>
                <a:ea typeface="Arial" pitchFamily="34" charset="-122"/>
                <a:cs typeface="Arial" pitchFamily="34" charset="-120"/>
              </a:rPr>
              <a:t>Synthetic consultation records &gt; Model drafting &gt; Source and numeric validation</a:t>
            </a:r>
            <a:endParaRPr lang="en-US" sz="1700" dirty="0"/>
          </a:p>
        </p:txBody>
      </p:sp>
      <p:sp>
        <p:nvSpPr>
          <p:cNvPr id="21" name="Text 19"/>
          <p:cNvSpPr/>
          <p:nvPr/>
        </p:nvSpPr>
        <p:spPr>
          <a:xfrm>
            <a:off x="612648" y="5925312"/>
            <a:ext cx="1828800" cy="301752"/>
          </a:xfrm>
          <a:prstGeom prst="rect">
            <a:avLst/>
          </a:prstGeom>
          <a:noFill/>
          <a:ln/>
        </p:spPr>
        <p:txBody>
          <a:bodyPr wrap="square" lIns="0" tIns="0" rIns="0" bIns="0" rtlCol="0" anchor="ctr">
            <a:normAutofit/>
          </a:bodyPr>
          <a:lstStyle/>
          <a:p>
            <a:pPr indent="0" marL="0">
              <a:buNone/>
            </a:pPr>
            <a:r>
              <a:rPr lang="en-US" altLang="en-US" sz="1600" b="1" dirty="0">
                <a:solidFill>
                  <a:srgbClr val="B17A12"/>
                </a:solidFill>
                <a:latin typeface="Arial" pitchFamily="34" charset="0"/>
                <a:ea typeface="Arial" pitchFamily="34" charset="-122"/>
                <a:cs typeface="Arial" pitchFamily="34" charset="-120"/>
              </a:rPr>
              <a:t>Rule-based Path</a:t>
            </a:r>
            <a:endParaRPr lang="en-US" sz="1600" dirty="0"/>
          </a:p>
        </p:txBody>
      </p:sp>
      <p:sp>
        <p:nvSpPr>
          <p:cNvPr id="22" name="Text 20"/>
          <p:cNvSpPr/>
          <p:nvPr/>
        </p:nvSpPr>
        <p:spPr>
          <a:xfrm>
            <a:off x="2560320" y="5852160"/>
            <a:ext cx="8823960" cy="457200"/>
          </a:xfrm>
          <a:prstGeom prst="rect">
            <a:avLst/>
          </a:prstGeom>
          <a:noFill/>
          <a:ln/>
        </p:spPr>
        <p:txBody>
          <a:bodyPr wrap="square" lIns="0" tIns="0" rIns="0" bIns="0" rtlCol="0" anchor="ctr">
            <a:normAutofit/>
          </a:bodyPr>
          <a:lstStyle/>
          <a:p>
            <a:pPr indent="0" marL="0">
              <a:buNone/>
            </a:pPr>
            <a:r>
              <a:rPr lang="en-US" altLang="en-US" sz="1700" dirty="0">
                <a:solidFill>
                  <a:srgbClr val="203038"/>
                </a:solidFill>
                <a:latin typeface="Arial" pitchFamily="34" charset="0"/>
                <a:ea typeface="Arial" pitchFamily="34" charset="-122"/>
                <a:cs typeface="Arial" pitchFamily="34" charset="-120"/>
              </a:rPr>
              <a:t>Ingredient parsing / Allergy rules / DDInter &gt; Structured risk alerts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altLang="en-US" sz="1100" b="1" dirty="0">
                <a:solidFill>
                  <a:srgbClr val="087E80"/>
                </a:solidFill>
                <a:latin typeface="Arial" pitchFamily="34" charset="0"/>
                <a:ea typeface="Arial" pitchFamily="34" charset="-122"/>
                <a:cs typeface="Arial" pitchFamily="34" charset="-120"/>
              </a:rPr>
              <a:t>02 / CLINICAL AI FEATURES</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altLang="en-US" sz="2800" b="1" dirty="0">
                <a:solidFill>
                  <a:srgbClr val="203038"/>
                </a:solidFill>
                <a:latin typeface="Arial" pitchFamily="34" charset="0"/>
                <a:ea typeface="Arial" pitchFamily="34" charset="-122"/>
                <a:cs typeface="Arial" pitchFamily="34" charset="-120"/>
              </a:rPr>
              <a:t>Four Support Workflows, with Physicians in Control</a:t>
            </a:r>
            <a:endParaRPr lang="en-US" sz="28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Four POST endpoints return assistive output; they do not autonomously establish diagnoses or issue prescriptions.</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altLang="en-US" sz="1000" dirty="0">
                <a:solidFill>
                  <a:srgbClr val="62727A"/>
                </a:solidFill>
                <a:latin typeface="Arial" pitchFamily="34" charset="0"/>
                <a:ea typeface="Arial" pitchFamily="34" charset="-122"/>
                <a:cs typeface="Arial" pitchFamily="34" charset="-120"/>
              </a:rPr>
              <a:t>03 / 06</a:t>
            </a:r>
            <a:endParaRPr lang="en-US" sz="1000" dirty="0"/>
          </a:p>
        </p:txBody>
      </p:sp>
      <p:sp>
        <p:nvSpPr>
          <p:cNvPr id="9" name="Shape 7"/>
          <p:cNvSpPr/>
          <p:nvPr/>
        </p:nvSpPr>
        <p:spPr>
          <a:xfrm>
            <a:off x="502920" y="1938528"/>
            <a:ext cx="5458968" cy="1719072"/>
          </a:xfrm>
          <a:prstGeom prst="rect">
            <a:avLst/>
          </a:prstGeom>
          <a:solidFill>
            <a:srgbClr val="FFFFFF"/>
          </a:solidFill>
          <a:ln w="7620">
            <a:solidFill>
              <a:srgbClr val="DDE5E8"/>
            </a:solidFill>
            <a:prstDash val="solid"/>
          </a:ln>
        </p:spPr>
      </p:sp>
      <p:sp>
        <p:nvSpPr>
          <p:cNvPr id="10" name="Shape 8"/>
          <p:cNvSpPr/>
          <p:nvPr/>
        </p:nvSpPr>
        <p:spPr>
          <a:xfrm>
            <a:off x="502920" y="1938528"/>
            <a:ext cx="45720" cy="1719072"/>
          </a:xfrm>
          <a:prstGeom prst="rect">
            <a:avLst/>
          </a:prstGeom>
          <a:solidFill>
            <a:srgbClr val="087E80"/>
          </a:solidFill>
          <a:ln w="7620">
            <a:solidFill>
              <a:srgbClr val="087E80"/>
            </a:solidFill>
            <a:prstDash val="solid"/>
          </a:ln>
        </p:spPr>
      </p:sp>
      <p:sp>
        <p:nvSpPr>
          <p:cNvPr id="11" name="Text 9"/>
          <p:cNvSpPr/>
          <p:nvPr/>
        </p:nvSpPr>
        <p:spPr>
          <a:xfrm>
            <a:off x="704088" y="2103120"/>
            <a:ext cx="5056632" cy="365760"/>
          </a:xfrm>
          <a:prstGeom prst="rect">
            <a:avLst/>
          </a:prstGeom>
          <a:noFill/>
          <a:ln/>
        </p:spPr>
        <p:txBody>
          <a:bodyPr wrap="square" lIns="0" tIns="0" rIns="0" bIns="0" rtlCol="0" anchor="ctr">
            <a:normAutofit/>
          </a:bodyPr>
          <a:lstStyle/>
          <a:p>
            <a:pPr indent="0" marL="0">
              <a:buNone/>
            </a:pPr>
            <a:r>
              <a:rPr lang="en-US" altLang="en-US" sz="1900" b="1" dirty="0">
                <a:solidFill>
                  <a:srgbClr val="087E80"/>
                </a:solidFill>
                <a:latin typeface="Arial" pitchFamily="34" charset="0"/>
                <a:ea typeface="Arial" pitchFamily="34" charset="-122"/>
                <a:cs typeface="Arial" pitchFamily="34" charset="-120"/>
              </a:rPr>
              <a:t>01  Record Draft</a:t>
            </a:r>
            <a:endParaRPr lang="en-US" sz="1900" dirty="0"/>
          </a:p>
        </p:txBody>
      </p:sp>
      <p:sp>
        <p:nvSpPr>
          <p:cNvPr id="12" name="Text 10"/>
          <p:cNvSpPr/>
          <p:nvPr/>
        </p:nvSpPr>
        <p:spPr>
          <a:xfrm>
            <a:off x="704088" y="2651760"/>
            <a:ext cx="5056632" cy="841248"/>
          </a:xfrm>
          <a:prstGeom prst="rect">
            <a:avLst/>
          </a:prstGeom>
          <a:noFill/>
          <a:ln/>
        </p:spPr>
        <p:txBody>
          <a:bodyPr wrap="square" lIns="0" tIns="0" rIns="0" bIns="0" rtlCol="0" anchor="t">
            <a:normAutofit/>
          </a:bodyPr>
          <a:lstStyle/>
          <a:p>
            <a:pPr indent="0" marL="0">
              <a:buNone/>
            </a:pPr>
            <a:r>
              <a:rPr lang="en-US" altLang="en-US" sz="1500" dirty="0">
                <a:solidFill>
                  <a:srgbClr val="203038"/>
                </a:solidFill>
                <a:latin typeface="Arial" pitchFamily="34" charset="0"/>
                <a:ea typeface="Arial" pitchFamily="34" charset="-122"/>
                <a:cs typeface="Arial" pitchFamily="34" charset="-120"/>
              </a:rPr>
              <a:t>Turn existing consultations into editable drafts</a:t>
            </a:r>
            <a:endParaRPr lang="en-US" sz="1500" dirty="0"/>
          </a:p>
          <a:p>
            <a:pPr indent="0" marL="0">
              <a:buNone/>
            </a:pPr>
            <a:r>
              <a:rPr lang="en-US" altLang="en-US" sz="1500" dirty="0">
                <a:solidFill>
                  <a:srgbClr val="203038"/>
                </a:solidFill>
                <a:latin typeface="Arial" pitchFamily="34" charset="0"/>
                <a:ea typeface="Arial" pitchFamily="34" charset="-122"/>
                <a:cs typeface="Arial" pitchFamily="34" charset="-120"/>
              </a:rPr>
              <a:t>Retain sources for physician diagnosis and review</a:t>
            </a:r>
            <a:endParaRPr lang="en-US" sz="1500" dirty="0"/>
          </a:p>
        </p:txBody>
      </p:sp>
      <p:sp>
        <p:nvSpPr>
          <p:cNvPr id="13" name="Text 11"/>
          <p:cNvSpPr/>
          <p:nvPr/>
        </p:nvSpPr>
        <p:spPr>
          <a:xfrm>
            <a:off x="704088" y="3346704"/>
            <a:ext cx="5047488" cy="219456"/>
          </a:xfrm>
          <a:prstGeom prst="rect">
            <a:avLst/>
          </a:prstGeom>
          <a:noFill/>
          <a:ln/>
        </p:spPr>
        <p:txBody>
          <a:bodyPr wrap="square" lIns="0" tIns="0" rIns="0" bIns="0" rtlCol="0" anchor="ctr">
            <a:normAutofit/>
          </a:bodyPr>
          <a:lstStyle/>
          <a:p>
            <a:pPr indent="0" marL="0">
              <a:buNone/>
            </a:pPr>
            <a:r>
              <a:rPr lang="en-US" altLang="en-US" sz="1100" dirty="0">
                <a:solidFill>
                  <a:srgbClr val="62727A"/>
                </a:solidFill>
                <a:latin typeface="Arial" pitchFamily="34" charset="0"/>
                <a:ea typeface="Arial" pitchFamily="34" charset="-122"/>
                <a:cs typeface="Arial" pitchFamily="34" charset="-120"/>
              </a:rPr>
              <a:t>POST /api/ai/record-draft</a:t>
            </a:r>
            <a:endParaRPr lang="en-US" sz="1100" dirty="0"/>
          </a:p>
        </p:txBody>
      </p:sp>
      <p:sp>
        <p:nvSpPr>
          <p:cNvPr id="14" name="Shape 12"/>
          <p:cNvSpPr/>
          <p:nvPr/>
        </p:nvSpPr>
        <p:spPr>
          <a:xfrm>
            <a:off x="6199632" y="1938528"/>
            <a:ext cx="5458968" cy="1719072"/>
          </a:xfrm>
          <a:prstGeom prst="rect">
            <a:avLst/>
          </a:prstGeom>
          <a:solidFill>
            <a:srgbClr val="FFFFFF"/>
          </a:solidFill>
          <a:ln w="7620">
            <a:solidFill>
              <a:srgbClr val="DDE5E8"/>
            </a:solidFill>
            <a:prstDash val="solid"/>
          </a:ln>
        </p:spPr>
      </p:sp>
      <p:sp>
        <p:nvSpPr>
          <p:cNvPr id="15" name="Shape 13"/>
          <p:cNvSpPr/>
          <p:nvPr/>
        </p:nvSpPr>
        <p:spPr>
          <a:xfrm>
            <a:off x="6199632" y="1938528"/>
            <a:ext cx="45720" cy="1719072"/>
          </a:xfrm>
          <a:prstGeom prst="rect">
            <a:avLst/>
          </a:prstGeom>
          <a:solidFill>
            <a:srgbClr val="487B9C"/>
          </a:solidFill>
          <a:ln w="7620">
            <a:solidFill>
              <a:srgbClr val="487B9C"/>
            </a:solidFill>
            <a:prstDash val="solid"/>
          </a:ln>
        </p:spPr>
      </p:sp>
      <p:sp>
        <p:nvSpPr>
          <p:cNvPr id="16" name="Text 14"/>
          <p:cNvSpPr/>
          <p:nvPr/>
        </p:nvSpPr>
        <p:spPr>
          <a:xfrm>
            <a:off x="6400800" y="2103120"/>
            <a:ext cx="5056632" cy="365760"/>
          </a:xfrm>
          <a:prstGeom prst="rect">
            <a:avLst/>
          </a:prstGeom>
          <a:noFill/>
          <a:ln/>
        </p:spPr>
        <p:txBody>
          <a:bodyPr wrap="square" lIns="0" tIns="0" rIns="0" bIns="0" rtlCol="0" anchor="ctr">
            <a:normAutofit/>
          </a:bodyPr>
          <a:lstStyle/>
          <a:p>
            <a:pPr indent="0" marL="0">
              <a:buNone/>
            </a:pPr>
            <a:r>
              <a:rPr lang="en-US" altLang="en-US" sz="1900" b="1" dirty="0">
                <a:solidFill>
                  <a:srgbClr val="487B9C"/>
                </a:solidFill>
                <a:latin typeface="Arial" pitchFamily="34" charset="0"/>
                <a:ea typeface="Arial" pitchFamily="34" charset="-122"/>
                <a:cs typeface="Arial" pitchFamily="34" charset="-120"/>
              </a:rPr>
              <a:t>02  Consultation Summary</a:t>
            </a:r>
            <a:endParaRPr lang="en-US" sz="1900" dirty="0"/>
          </a:p>
        </p:txBody>
      </p:sp>
      <p:sp>
        <p:nvSpPr>
          <p:cNvPr id="17" name="Text 15"/>
          <p:cNvSpPr/>
          <p:nvPr/>
        </p:nvSpPr>
        <p:spPr>
          <a:xfrm>
            <a:off x="6400800" y="2651760"/>
            <a:ext cx="5056632" cy="841248"/>
          </a:xfrm>
          <a:prstGeom prst="rect">
            <a:avLst/>
          </a:prstGeom>
          <a:noFill/>
          <a:ln/>
        </p:spPr>
        <p:txBody>
          <a:bodyPr wrap="square" lIns="0" tIns="0" rIns="0" bIns="0" rtlCol="0" anchor="t">
            <a:normAutofit/>
          </a:bodyPr>
          <a:lstStyle/>
          <a:p>
            <a:pPr indent="0" marL="0">
              <a:buNone/>
            </a:pPr>
            <a:r>
              <a:rPr lang="en-US" altLang="en-US" sz="1500" dirty="0">
                <a:solidFill>
                  <a:srgbClr val="203038"/>
                </a:solidFill>
                <a:latin typeface="Arial" pitchFamily="34" charset="0"/>
                <a:ea typeface="Arial" pitchFamily="34" charset="-122"/>
                <a:cs typeface="Arial" pitchFamily="34" charset="-120"/>
              </a:rPr>
              <a:t>Summarize the record and follow-up priorities</a:t>
            </a:r>
            <a:endParaRPr lang="en-US" sz="1500" dirty="0"/>
          </a:p>
          <a:p>
            <a:pPr indent="0" marL="0">
              <a:buNone/>
            </a:pPr>
            <a:r>
              <a:rPr lang="en-US" altLang="en-US" sz="1500" dirty="0">
                <a:solidFill>
                  <a:srgbClr val="203038"/>
                </a:solidFill>
                <a:latin typeface="Arial" pitchFamily="34" charset="0"/>
                <a:ea typeface="Arial" pitchFamily="34" charset="-122"/>
                <a:cs typeface="Arial" pitchFamily="34" charset="-120"/>
              </a:rPr>
              <a:t>Separate reported symptoms from clinical conclusions</a:t>
            </a:r>
            <a:endParaRPr lang="en-US" sz="1500" dirty="0"/>
          </a:p>
        </p:txBody>
      </p:sp>
      <p:sp>
        <p:nvSpPr>
          <p:cNvPr id="18" name="Text 16"/>
          <p:cNvSpPr/>
          <p:nvPr/>
        </p:nvSpPr>
        <p:spPr>
          <a:xfrm>
            <a:off x="6400800" y="3346704"/>
            <a:ext cx="5047488" cy="219456"/>
          </a:xfrm>
          <a:prstGeom prst="rect">
            <a:avLst/>
          </a:prstGeom>
          <a:noFill/>
          <a:ln/>
        </p:spPr>
        <p:txBody>
          <a:bodyPr wrap="square" lIns="0" tIns="0" rIns="0" bIns="0" rtlCol="0" anchor="ctr">
            <a:normAutofit/>
          </a:bodyPr>
          <a:lstStyle/>
          <a:p>
            <a:pPr indent="0" marL="0">
              <a:buNone/>
            </a:pPr>
            <a:r>
              <a:rPr lang="en-US" altLang="en-US" sz="1100" dirty="0">
                <a:solidFill>
                  <a:srgbClr val="62727A"/>
                </a:solidFill>
                <a:latin typeface="Arial" pitchFamily="34" charset="0"/>
                <a:ea typeface="Arial" pitchFamily="34" charset="-122"/>
                <a:cs typeface="Arial" pitchFamily="34" charset="-120"/>
              </a:rPr>
              <a:t>POST /api/ai/consultation-summary</a:t>
            </a:r>
            <a:endParaRPr lang="en-US" sz="1100" dirty="0"/>
          </a:p>
        </p:txBody>
      </p:sp>
      <p:sp>
        <p:nvSpPr>
          <p:cNvPr id="19" name="Shape 17"/>
          <p:cNvSpPr/>
          <p:nvPr/>
        </p:nvSpPr>
        <p:spPr>
          <a:xfrm>
            <a:off x="502920" y="3822192"/>
            <a:ext cx="5458968" cy="1719072"/>
          </a:xfrm>
          <a:prstGeom prst="rect">
            <a:avLst/>
          </a:prstGeom>
          <a:solidFill>
            <a:srgbClr val="FFFFFF"/>
          </a:solidFill>
          <a:ln w="7620">
            <a:solidFill>
              <a:srgbClr val="DDE5E8"/>
            </a:solidFill>
            <a:prstDash val="solid"/>
          </a:ln>
        </p:spPr>
      </p:sp>
      <p:sp>
        <p:nvSpPr>
          <p:cNvPr id="20" name="Shape 18"/>
          <p:cNvSpPr/>
          <p:nvPr/>
        </p:nvSpPr>
        <p:spPr>
          <a:xfrm>
            <a:off x="502920" y="3822192"/>
            <a:ext cx="45720" cy="1719072"/>
          </a:xfrm>
          <a:prstGeom prst="rect">
            <a:avLst/>
          </a:prstGeom>
          <a:solidFill>
            <a:srgbClr val="487B9C"/>
          </a:solidFill>
          <a:ln w="7620">
            <a:solidFill>
              <a:srgbClr val="487B9C"/>
            </a:solidFill>
            <a:prstDash val="solid"/>
          </a:ln>
        </p:spPr>
      </p:sp>
      <p:sp>
        <p:nvSpPr>
          <p:cNvPr id="21" name="Text 19"/>
          <p:cNvSpPr/>
          <p:nvPr/>
        </p:nvSpPr>
        <p:spPr>
          <a:xfrm>
            <a:off x="704088" y="3986784"/>
            <a:ext cx="5056632" cy="365760"/>
          </a:xfrm>
          <a:prstGeom prst="rect">
            <a:avLst/>
          </a:prstGeom>
          <a:noFill/>
          <a:ln/>
        </p:spPr>
        <p:txBody>
          <a:bodyPr wrap="square" lIns="0" tIns="0" rIns="0" bIns="0" rtlCol="0" anchor="ctr">
            <a:normAutofit/>
          </a:bodyPr>
          <a:lstStyle/>
          <a:p>
            <a:pPr indent="0" marL="0">
              <a:buNone/>
            </a:pPr>
            <a:r>
              <a:rPr lang="en-US" altLang="en-US" sz="1900" b="1" dirty="0">
                <a:solidFill>
                  <a:srgbClr val="487B9C"/>
                </a:solidFill>
                <a:latin typeface="Arial" pitchFamily="34" charset="0"/>
                <a:ea typeface="Arial" pitchFamily="34" charset="-122"/>
                <a:cs typeface="Arial" pitchFamily="34" charset="-120"/>
              </a:rPr>
              <a:t>03  Similar Records</a:t>
            </a:r>
            <a:endParaRPr lang="en-US" sz="1900" dirty="0"/>
          </a:p>
        </p:txBody>
      </p:sp>
      <p:sp>
        <p:nvSpPr>
          <p:cNvPr id="22" name="Text 20"/>
          <p:cNvSpPr/>
          <p:nvPr/>
        </p:nvSpPr>
        <p:spPr>
          <a:xfrm>
            <a:off x="704088" y="4535424"/>
            <a:ext cx="5056632" cy="841248"/>
          </a:xfrm>
          <a:prstGeom prst="rect">
            <a:avLst/>
          </a:prstGeom>
          <a:noFill/>
          <a:ln/>
        </p:spPr>
        <p:txBody>
          <a:bodyPr wrap="square" lIns="0" tIns="0" rIns="0" bIns="0" rtlCol="0" anchor="t">
            <a:normAutofit/>
          </a:bodyPr>
          <a:lstStyle/>
          <a:p>
            <a:pPr indent="0" marL="0">
              <a:buNone/>
            </a:pPr>
            <a:r>
              <a:rPr lang="en-US" altLang="en-US" sz="1500" dirty="0">
                <a:solidFill>
                  <a:srgbClr val="203038"/>
                </a:solidFill>
                <a:latin typeface="Arial" pitchFamily="34" charset="0"/>
                <a:ea typeface="Arial" pitchFamily="34" charset="-122"/>
                <a:cs typeface="Arial" pitchFamily="34" charset="-120"/>
              </a:rPr>
              <a:t>Up to 5 synthetic cases + 2 guidance excerpts</a:t>
            </a:r>
            <a:endParaRPr lang="en-US" sz="1500" dirty="0"/>
          </a:p>
          <a:p>
            <a:pPr indent="0" marL="0">
              <a:buNone/>
            </a:pPr>
            <a:r>
              <a:rPr lang="en-US" altLang="en-US" sz="1500" dirty="0">
                <a:solidFill>
                  <a:srgbClr val="203038"/>
                </a:solidFill>
                <a:latin typeface="Arial" pitchFamily="34" charset="0"/>
                <a:ea typeface="Arial" pitchFamily="34" charset="-122"/>
                <a:cs typeface="Arial" pitchFamily="34" charset="-120"/>
              </a:rPr>
              <a:t>Similarity ranks results; it is not diagnostic probability</a:t>
            </a:r>
            <a:endParaRPr lang="en-US" sz="1500" dirty="0"/>
          </a:p>
        </p:txBody>
      </p:sp>
      <p:sp>
        <p:nvSpPr>
          <p:cNvPr id="23" name="Text 21"/>
          <p:cNvSpPr/>
          <p:nvPr/>
        </p:nvSpPr>
        <p:spPr>
          <a:xfrm>
            <a:off x="704088" y="5230368"/>
            <a:ext cx="5047488" cy="219456"/>
          </a:xfrm>
          <a:prstGeom prst="rect">
            <a:avLst/>
          </a:prstGeom>
          <a:noFill/>
          <a:ln/>
        </p:spPr>
        <p:txBody>
          <a:bodyPr wrap="square" lIns="0" tIns="0" rIns="0" bIns="0" rtlCol="0" anchor="ctr">
            <a:normAutofit/>
          </a:bodyPr>
          <a:lstStyle/>
          <a:p>
            <a:pPr indent="0" marL="0">
              <a:buNone/>
            </a:pPr>
            <a:r>
              <a:rPr lang="en-US" altLang="en-US" sz="1100" dirty="0">
                <a:solidFill>
                  <a:srgbClr val="62727A"/>
                </a:solidFill>
                <a:latin typeface="Arial" pitchFamily="34" charset="0"/>
                <a:ea typeface="Arial" pitchFamily="34" charset="-122"/>
                <a:cs typeface="Arial" pitchFamily="34" charset="-120"/>
              </a:rPr>
              <a:t>POST /api/ai/similar-cases</a:t>
            </a:r>
            <a:endParaRPr lang="en-US" sz="1100" dirty="0"/>
          </a:p>
        </p:txBody>
      </p:sp>
      <p:sp>
        <p:nvSpPr>
          <p:cNvPr id="24" name="Shape 22"/>
          <p:cNvSpPr/>
          <p:nvPr/>
        </p:nvSpPr>
        <p:spPr>
          <a:xfrm>
            <a:off x="6199632" y="3822192"/>
            <a:ext cx="5458968" cy="1719072"/>
          </a:xfrm>
          <a:prstGeom prst="rect">
            <a:avLst/>
          </a:prstGeom>
          <a:solidFill>
            <a:srgbClr val="FFFFFF"/>
          </a:solidFill>
          <a:ln w="7620">
            <a:solidFill>
              <a:srgbClr val="DDE5E8"/>
            </a:solidFill>
            <a:prstDash val="solid"/>
          </a:ln>
        </p:spPr>
      </p:sp>
      <p:sp>
        <p:nvSpPr>
          <p:cNvPr id="25" name="Shape 23"/>
          <p:cNvSpPr/>
          <p:nvPr/>
        </p:nvSpPr>
        <p:spPr>
          <a:xfrm>
            <a:off x="6199632" y="3822192"/>
            <a:ext cx="45720" cy="1719072"/>
          </a:xfrm>
          <a:prstGeom prst="rect">
            <a:avLst/>
          </a:prstGeom>
          <a:solidFill>
            <a:srgbClr val="B17A12"/>
          </a:solidFill>
          <a:ln w="7620">
            <a:solidFill>
              <a:srgbClr val="B17A12"/>
            </a:solidFill>
            <a:prstDash val="solid"/>
          </a:ln>
        </p:spPr>
      </p:sp>
      <p:sp>
        <p:nvSpPr>
          <p:cNvPr id="26" name="Text 24"/>
          <p:cNvSpPr/>
          <p:nvPr/>
        </p:nvSpPr>
        <p:spPr>
          <a:xfrm>
            <a:off x="6400800" y="3986784"/>
            <a:ext cx="5056632" cy="365760"/>
          </a:xfrm>
          <a:prstGeom prst="rect">
            <a:avLst/>
          </a:prstGeom>
          <a:noFill/>
          <a:ln/>
        </p:spPr>
        <p:txBody>
          <a:bodyPr wrap="square" lIns="0" tIns="0" rIns="0" bIns="0" rtlCol="0" anchor="ctr">
            <a:normAutofit/>
          </a:bodyPr>
          <a:lstStyle/>
          <a:p>
            <a:pPr indent="0" marL="0">
              <a:buNone/>
            </a:pPr>
            <a:r>
              <a:rPr lang="en-US" altLang="en-US" sz="1900" b="1" dirty="0">
                <a:solidFill>
                  <a:srgbClr val="B17A12"/>
                </a:solidFill>
                <a:latin typeface="Arial" pitchFamily="34" charset="0"/>
                <a:ea typeface="Arial" pitchFamily="34" charset="-122"/>
                <a:cs typeface="Arial" pitchFamily="34" charset="-120"/>
              </a:rPr>
              <a:t>04  Order Safety Check</a:t>
            </a:r>
            <a:endParaRPr lang="en-US" sz="1900" dirty="0"/>
          </a:p>
        </p:txBody>
      </p:sp>
      <p:sp>
        <p:nvSpPr>
          <p:cNvPr id="27" name="Text 25"/>
          <p:cNvSpPr/>
          <p:nvPr/>
        </p:nvSpPr>
        <p:spPr>
          <a:xfrm>
            <a:off x="6400800" y="4535424"/>
            <a:ext cx="5056632" cy="841248"/>
          </a:xfrm>
          <a:prstGeom prst="rect">
            <a:avLst/>
          </a:prstGeom>
          <a:noFill/>
          <a:ln/>
        </p:spPr>
        <p:txBody>
          <a:bodyPr wrap="square" lIns="0" tIns="0" rIns="0" bIns="0" rtlCol="0" anchor="t">
            <a:normAutofit/>
          </a:bodyPr>
          <a:lstStyle/>
          <a:p>
            <a:pPr indent="0" marL="0">
              <a:buNone/>
            </a:pPr>
            <a:r>
              <a:rPr lang="en-US" altLang="en-US" sz="1500" dirty="0">
                <a:solidFill>
                  <a:srgbClr val="203038"/>
                </a:solidFill>
                <a:latin typeface="Arial" pitchFamily="34" charset="0"/>
                <a:ea typeface="Arial" pitchFamily="34" charset="-122"/>
                <a:cs typeface="Arial" pitchFamily="34" charset="-120"/>
              </a:rPr>
              <a:t>Screen documented allergies and drug interactions</a:t>
            </a:r>
            <a:endParaRPr lang="en-US" sz="1500" dirty="0"/>
          </a:p>
          <a:p>
            <a:pPr indent="0" marL="0">
              <a:buNone/>
            </a:pPr>
            <a:r>
              <a:rPr lang="en-US" altLang="en-US" sz="1500" dirty="0">
                <a:solidFill>
                  <a:srgbClr val="203038"/>
                </a:solidFill>
                <a:latin typeface="Arial" pitchFamily="34" charset="0"/>
                <a:ea typeface="Arial" pitchFamily="34" charset="-122"/>
                <a:cs typeface="Arial" pitchFamily="34" charset="-120"/>
              </a:rPr>
              <a:t>Show completed checks and outstanding coverage gaps</a:t>
            </a:r>
            <a:endParaRPr lang="en-US" sz="1500" dirty="0"/>
          </a:p>
        </p:txBody>
      </p:sp>
      <p:sp>
        <p:nvSpPr>
          <p:cNvPr id="28" name="Text 26"/>
          <p:cNvSpPr/>
          <p:nvPr/>
        </p:nvSpPr>
        <p:spPr>
          <a:xfrm>
            <a:off x="6400800" y="5230368"/>
            <a:ext cx="5047488" cy="219456"/>
          </a:xfrm>
          <a:prstGeom prst="rect">
            <a:avLst/>
          </a:prstGeom>
          <a:noFill/>
          <a:ln/>
        </p:spPr>
        <p:txBody>
          <a:bodyPr wrap="square" lIns="0" tIns="0" rIns="0" bIns="0" rtlCol="0" anchor="ctr">
            <a:normAutofit/>
          </a:bodyPr>
          <a:lstStyle/>
          <a:p>
            <a:pPr indent="0" marL="0">
              <a:buNone/>
            </a:pPr>
            <a:r>
              <a:rPr lang="en-US" altLang="en-US" sz="1100" dirty="0">
                <a:solidFill>
                  <a:srgbClr val="62727A"/>
                </a:solidFill>
                <a:latin typeface="Arial" pitchFamily="34" charset="0"/>
                <a:ea typeface="Arial" pitchFamily="34" charset="-122"/>
                <a:cs typeface="Arial" pitchFamily="34" charset="-120"/>
              </a:rPr>
              <a:t>POST /api/ai/order-check</a:t>
            </a:r>
            <a:endParaRPr lang="en-US" sz="1100" dirty="0"/>
          </a:p>
        </p:txBody>
      </p:sp>
      <p:sp>
        <p:nvSpPr>
          <p:cNvPr id="29" name="Text 27"/>
          <p:cNvSpPr/>
          <p:nvPr/>
        </p:nvSpPr>
        <p:spPr>
          <a:xfrm>
            <a:off x="521208" y="5852160"/>
            <a:ext cx="11109960" cy="329184"/>
          </a:xfrm>
          <a:prstGeom prst="rect">
            <a:avLst/>
          </a:prstGeom>
          <a:noFill/>
          <a:ln/>
        </p:spPr>
        <p:txBody>
          <a:bodyPr wrap="square" lIns="0" tIns="0" rIns="0" bIns="0" rtlCol="0" anchor="ctr">
            <a:normAutofit/>
          </a:bodyPr>
          <a:lstStyle/>
          <a:p>
            <a:pPr indent="0" marL="0">
              <a:buNone/>
            </a:pPr>
            <a:r>
              <a:rPr lang="en-US" altLang="en-US" sz="1300" dirty="0">
                <a:solidFill>
                  <a:srgbClr val="62727A"/>
                </a:solidFill>
                <a:latin typeface="Arial" pitchFamily="34" charset="0"/>
                <a:ea typeface="Arial" pitchFamily="34" charset="-122"/>
                <a:cs typeface="Arial" pitchFamily="34" charset="-120"/>
              </a:rPr>
              <a:t>Model access: 3 fixed server-side synthetic consultations. Invalid citations, numbers or responses trigger a record-based fallback.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altLang="en-US" sz="1100" b="1" dirty="0">
                <a:solidFill>
                  <a:srgbClr val="087E80"/>
                </a:solidFill>
                <a:latin typeface="Arial" pitchFamily="34" charset="0"/>
                <a:ea typeface="Arial" pitchFamily="34" charset="-122"/>
                <a:cs typeface="Arial" pitchFamily="34" charset="-120"/>
              </a:rPr>
              <a:t>03 / KNOWLEDGE &amp; RETRIEVAL</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altLang="en-US" sz="2800" b="1" dirty="0">
                <a:solidFill>
                  <a:srgbClr val="203038"/>
                </a:solidFill>
                <a:latin typeface="Arial" pitchFamily="34" charset="0"/>
                <a:ea typeface="Arial" pitchFamily="34" charset="-122"/>
                <a:cs typeface="Arial" pitchFamily="34" charset="-120"/>
              </a:rPr>
              <a:t>Knowledge Retrieval for Similar Records and Guidance</a:t>
            </a:r>
            <a:endParaRPr lang="en-US" sz="28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RAG knowledge preparation and retrieval are implemented. The page returns source excerpts, not generated knowledge-base answers.</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altLang="en-US" sz="1000" dirty="0">
                <a:solidFill>
                  <a:srgbClr val="62727A"/>
                </a:solidFill>
                <a:latin typeface="Arial" pitchFamily="34" charset="0"/>
                <a:ea typeface="Arial" pitchFamily="34" charset="-122"/>
                <a:cs typeface="Arial" pitchFamily="34" charset="-120"/>
              </a:rPr>
              <a:t>04 / 06</a:t>
            </a:r>
            <a:endParaRPr lang="en-US" sz="1000" dirty="0"/>
          </a:p>
        </p:txBody>
      </p:sp>
      <p:sp>
        <p:nvSpPr>
          <p:cNvPr id="9" name="Shape 7"/>
          <p:cNvSpPr/>
          <p:nvPr/>
        </p:nvSpPr>
        <p:spPr>
          <a:xfrm>
            <a:off x="502920" y="1938528"/>
            <a:ext cx="3557016" cy="1709928"/>
          </a:xfrm>
          <a:prstGeom prst="rect">
            <a:avLst/>
          </a:prstGeom>
          <a:solidFill>
            <a:srgbClr val="FFFFFF"/>
          </a:solidFill>
          <a:ln w="7620">
            <a:solidFill>
              <a:srgbClr val="DDE5E8"/>
            </a:solidFill>
            <a:prstDash val="solid"/>
          </a:ln>
        </p:spPr>
      </p:sp>
      <p:sp>
        <p:nvSpPr>
          <p:cNvPr id="10" name="Shape 8"/>
          <p:cNvSpPr/>
          <p:nvPr/>
        </p:nvSpPr>
        <p:spPr>
          <a:xfrm>
            <a:off x="502920" y="1938528"/>
            <a:ext cx="45720" cy="1709928"/>
          </a:xfrm>
          <a:prstGeom prst="rect">
            <a:avLst/>
          </a:prstGeom>
          <a:solidFill>
            <a:srgbClr val="087E80"/>
          </a:solidFill>
          <a:ln w="7620">
            <a:solidFill>
              <a:srgbClr val="087E80"/>
            </a:solidFill>
            <a:prstDash val="solid"/>
          </a:ln>
        </p:spPr>
      </p:sp>
      <p:sp>
        <p:nvSpPr>
          <p:cNvPr id="11" name="Text 9"/>
          <p:cNvSpPr/>
          <p:nvPr/>
        </p:nvSpPr>
        <p:spPr>
          <a:xfrm>
            <a:off x="704088" y="2103120"/>
            <a:ext cx="3154680" cy="365760"/>
          </a:xfrm>
          <a:prstGeom prst="rect">
            <a:avLst/>
          </a:prstGeom>
          <a:noFill/>
          <a:ln/>
        </p:spPr>
        <p:txBody>
          <a:bodyPr wrap="square" lIns="0" tIns="0" rIns="0" bIns="0" rtlCol="0" anchor="ctr">
            <a:normAutofit/>
          </a:bodyPr>
          <a:lstStyle/>
          <a:p>
            <a:pPr indent="0" marL="0">
              <a:buNone/>
            </a:pPr>
            <a:r>
              <a:rPr lang="en-US" altLang="en-US" sz="1900" b="1" dirty="0">
                <a:solidFill>
                  <a:srgbClr val="087E80"/>
                </a:solidFill>
                <a:latin typeface="Arial" pitchFamily="34" charset="0"/>
                <a:ea typeface="Arial" pitchFamily="34" charset="-122"/>
                <a:cs typeface="Arial" pitchFamily="34" charset="-120"/>
              </a:rPr>
              <a:t>01  Parse &amp; Chunk</a:t>
            </a:r>
            <a:endParaRPr lang="en-US" sz="1900" dirty="0"/>
          </a:p>
        </p:txBody>
      </p:sp>
      <p:sp>
        <p:nvSpPr>
          <p:cNvPr id="12" name="Text 10"/>
          <p:cNvSpPr/>
          <p:nvPr/>
        </p:nvSpPr>
        <p:spPr>
          <a:xfrm>
            <a:off x="704088" y="2651760"/>
            <a:ext cx="3154680" cy="832104"/>
          </a:xfrm>
          <a:prstGeom prst="rect">
            <a:avLst/>
          </a:prstGeom>
          <a:noFill/>
          <a:ln/>
        </p:spPr>
        <p:txBody>
          <a:bodyPr wrap="square" lIns="0" tIns="0" rIns="0" bIns="0" rtlCol="0" anchor="t">
            <a:normAutofit/>
          </a:bodyPr>
          <a:lstStyle/>
          <a:p>
            <a:pPr indent="0" marL="0">
              <a:buNone/>
            </a:pPr>
            <a:r>
              <a:rPr lang="en-US" altLang="en-US" sz="1400" dirty="0">
                <a:solidFill>
                  <a:srgbClr val="203038"/>
                </a:solidFill>
                <a:latin typeface="Arial" pitchFamily="34" charset="0"/>
                <a:ea typeface="Arial" pitchFamily="34" charset="-122"/>
                <a:cs typeface="Arial" pitchFamily="34" charset="-120"/>
              </a:rPr>
              <a:t>PPTX / PDF / DOCX / FHIR JSON</a:t>
            </a:r>
            <a:endParaRPr lang="en-US" sz="1400" dirty="0"/>
          </a:p>
          <a:p>
            <a:pPr indent="0" marL="0">
              <a:buNone/>
            </a:pPr>
            <a:r>
              <a:rPr lang="en-US" altLang="en-US" sz="1400" dirty="0">
                <a:solidFill>
                  <a:srgbClr val="203038"/>
                </a:solidFill>
                <a:latin typeface="Arial" pitchFamily="34" charset="0"/>
                <a:ea typeface="Arial" pitchFamily="34" charset="-122"/>
                <a:cs typeface="Arial" pitchFamily="34" charset="-120"/>
              </a:rPr>
              <a:t>Page-based or clinical sections</a:t>
            </a:r>
            <a:endParaRPr lang="en-US" sz="1400" dirty="0"/>
          </a:p>
        </p:txBody>
      </p:sp>
      <p:sp>
        <p:nvSpPr>
          <p:cNvPr id="13" name="Text 11"/>
          <p:cNvSpPr/>
          <p:nvPr/>
        </p:nvSpPr>
        <p:spPr>
          <a:xfrm>
            <a:off x="4069080" y="2404872"/>
            <a:ext cx="210312" cy="402336"/>
          </a:xfrm>
          <a:prstGeom prst="rect">
            <a:avLst/>
          </a:prstGeom>
          <a:noFill/>
          <a:ln/>
        </p:spPr>
        <p:txBody>
          <a:bodyPr wrap="square" lIns="0" tIns="0" rIns="0" bIns="0" rtlCol="0" anchor="ctr">
            <a:normAutofit/>
          </a:bodyPr>
          <a:lstStyle/>
          <a:p>
            <a:pPr indent="0" marL="0">
              <a:buNone/>
            </a:pPr>
            <a:r>
              <a:rPr lang="en-US" altLang="en-US" sz="2000" dirty="0">
                <a:solidFill>
                  <a:srgbClr val="A8B5BD"/>
                </a:solidFill>
                <a:latin typeface="Arial" pitchFamily="34" charset="0"/>
                <a:ea typeface="Arial" pitchFamily="34" charset="-122"/>
                <a:cs typeface="Arial" pitchFamily="34" charset="-120"/>
              </a:rPr>
              <a:t>&gt;</a:t>
            </a:r>
            <a:endParaRPr lang="en-US" sz="2000" dirty="0"/>
          </a:p>
        </p:txBody>
      </p:sp>
      <p:sp>
        <p:nvSpPr>
          <p:cNvPr id="14" name="Shape 12"/>
          <p:cNvSpPr/>
          <p:nvPr/>
        </p:nvSpPr>
        <p:spPr>
          <a:xfrm>
            <a:off x="4297680" y="1938528"/>
            <a:ext cx="3557016" cy="1709928"/>
          </a:xfrm>
          <a:prstGeom prst="rect">
            <a:avLst/>
          </a:prstGeom>
          <a:solidFill>
            <a:srgbClr val="FFFFFF"/>
          </a:solidFill>
          <a:ln w="7620">
            <a:solidFill>
              <a:srgbClr val="DDE5E8"/>
            </a:solidFill>
            <a:prstDash val="solid"/>
          </a:ln>
        </p:spPr>
      </p:sp>
      <p:sp>
        <p:nvSpPr>
          <p:cNvPr id="15" name="Shape 13"/>
          <p:cNvSpPr/>
          <p:nvPr/>
        </p:nvSpPr>
        <p:spPr>
          <a:xfrm>
            <a:off x="4297680" y="1938528"/>
            <a:ext cx="45720" cy="1709928"/>
          </a:xfrm>
          <a:prstGeom prst="rect">
            <a:avLst/>
          </a:prstGeom>
          <a:solidFill>
            <a:srgbClr val="487B9C"/>
          </a:solidFill>
          <a:ln w="7620">
            <a:solidFill>
              <a:srgbClr val="487B9C"/>
            </a:solidFill>
            <a:prstDash val="solid"/>
          </a:ln>
        </p:spPr>
      </p:sp>
      <p:sp>
        <p:nvSpPr>
          <p:cNvPr id="16" name="Text 14"/>
          <p:cNvSpPr/>
          <p:nvPr/>
        </p:nvSpPr>
        <p:spPr>
          <a:xfrm>
            <a:off x="4498848" y="2103120"/>
            <a:ext cx="3154680" cy="365760"/>
          </a:xfrm>
          <a:prstGeom prst="rect">
            <a:avLst/>
          </a:prstGeom>
          <a:noFill/>
          <a:ln/>
        </p:spPr>
        <p:txBody>
          <a:bodyPr wrap="square" lIns="0" tIns="0" rIns="0" bIns="0" rtlCol="0" anchor="ctr">
            <a:normAutofit/>
          </a:bodyPr>
          <a:lstStyle/>
          <a:p>
            <a:pPr indent="0" marL="0">
              <a:buNone/>
            </a:pPr>
            <a:r>
              <a:rPr lang="en-US" altLang="en-US" sz="1900" b="1" dirty="0">
                <a:solidFill>
                  <a:srgbClr val="487B9C"/>
                </a:solidFill>
                <a:latin typeface="Arial" pitchFamily="34" charset="0"/>
                <a:ea typeface="Arial" pitchFamily="34" charset="-122"/>
                <a:cs typeface="Arial" pitchFamily="34" charset="-120"/>
              </a:rPr>
              <a:t>02  Embed &amp; Store</a:t>
            </a:r>
            <a:endParaRPr lang="en-US" sz="1900" dirty="0"/>
          </a:p>
        </p:txBody>
      </p:sp>
      <p:sp>
        <p:nvSpPr>
          <p:cNvPr id="17" name="Text 15"/>
          <p:cNvSpPr/>
          <p:nvPr/>
        </p:nvSpPr>
        <p:spPr>
          <a:xfrm>
            <a:off x="4498848" y="2651760"/>
            <a:ext cx="3154680" cy="832104"/>
          </a:xfrm>
          <a:prstGeom prst="rect">
            <a:avLst/>
          </a:prstGeom>
          <a:noFill/>
          <a:ln/>
        </p:spPr>
        <p:txBody>
          <a:bodyPr wrap="square" lIns="0" tIns="0" rIns="0" bIns="0" rtlCol="0" anchor="t">
            <a:normAutofit/>
          </a:bodyPr>
          <a:lstStyle/>
          <a:p>
            <a:pPr indent="0" marL="0">
              <a:buNone/>
            </a:pPr>
            <a:r>
              <a:rPr lang="en-US" altLang="en-US" sz="1400" dirty="0">
                <a:solidFill>
                  <a:srgbClr val="203038"/>
                </a:solidFill>
                <a:latin typeface="Arial" pitchFamily="34" charset="0"/>
                <a:ea typeface="Arial" pitchFamily="34" charset="-122"/>
                <a:cs typeface="Arial" pitchFamily="34" charset="-120"/>
              </a:rPr>
              <a:t>1024-dimensional vectors</a:t>
            </a:r>
            <a:endParaRPr lang="en-US" sz="1400" dirty="0"/>
          </a:p>
          <a:p>
            <a:pPr indent="0" marL="0">
              <a:buNone/>
            </a:pPr>
            <a:r>
              <a:rPr lang="en-US" altLang="en-US" sz="1400" dirty="0">
                <a:solidFill>
                  <a:srgbClr val="203038"/>
                </a:solidFill>
                <a:latin typeface="Arial" pitchFamily="34" charset="0"/>
                <a:ea typeface="Arial" pitchFamily="34" charset="-122"/>
                <a:cs typeface="Arial" pitchFamily="34" charset="-120"/>
              </a:rPr>
              <a:t>Chunks, sources and metadata</a:t>
            </a:r>
            <a:endParaRPr lang="en-US" sz="1400" dirty="0"/>
          </a:p>
          <a:p>
            <a:pPr indent="0" marL="0">
              <a:buNone/>
            </a:pPr>
            <a:r>
              <a:rPr lang="en-US" altLang="en-US" sz="1400" dirty="0">
                <a:solidFill>
                  <a:srgbClr val="203038"/>
                </a:solidFill>
                <a:latin typeface="Arial" pitchFamily="34" charset="0"/>
                <a:ea typeface="Arial" pitchFamily="34" charset="-122"/>
                <a:cs typeface="Arial" pitchFamily="34" charset="-120"/>
              </a:rPr>
              <a:t>stored in MariaDB</a:t>
            </a:r>
            <a:endParaRPr lang="en-US" sz="1400" dirty="0"/>
          </a:p>
        </p:txBody>
      </p:sp>
      <p:sp>
        <p:nvSpPr>
          <p:cNvPr id="18" name="Text 16"/>
          <p:cNvSpPr/>
          <p:nvPr/>
        </p:nvSpPr>
        <p:spPr>
          <a:xfrm>
            <a:off x="7863840" y="2404872"/>
            <a:ext cx="210312" cy="402336"/>
          </a:xfrm>
          <a:prstGeom prst="rect">
            <a:avLst/>
          </a:prstGeom>
          <a:noFill/>
          <a:ln/>
        </p:spPr>
        <p:txBody>
          <a:bodyPr wrap="square" lIns="0" tIns="0" rIns="0" bIns="0" rtlCol="0" anchor="ctr">
            <a:normAutofit/>
          </a:bodyPr>
          <a:lstStyle/>
          <a:p>
            <a:pPr indent="0" marL="0">
              <a:buNone/>
            </a:pPr>
            <a:r>
              <a:rPr lang="en-US" altLang="en-US" sz="2000" dirty="0">
                <a:solidFill>
                  <a:srgbClr val="A8B5BD"/>
                </a:solidFill>
                <a:latin typeface="Arial" pitchFamily="34" charset="0"/>
                <a:ea typeface="Arial" pitchFamily="34" charset="-122"/>
                <a:cs typeface="Arial" pitchFamily="34" charset="-120"/>
              </a:rPr>
              <a:t>&gt;</a:t>
            </a:r>
            <a:endParaRPr lang="en-US" sz="2000" dirty="0"/>
          </a:p>
        </p:txBody>
      </p:sp>
      <p:sp>
        <p:nvSpPr>
          <p:cNvPr id="19" name="Shape 17"/>
          <p:cNvSpPr/>
          <p:nvPr/>
        </p:nvSpPr>
        <p:spPr>
          <a:xfrm>
            <a:off x="8092440" y="1938528"/>
            <a:ext cx="3557016" cy="1709928"/>
          </a:xfrm>
          <a:prstGeom prst="rect">
            <a:avLst/>
          </a:prstGeom>
          <a:solidFill>
            <a:srgbClr val="FFFFFF"/>
          </a:solidFill>
          <a:ln w="7620">
            <a:solidFill>
              <a:srgbClr val="DDE5E8"/>
            </a:solidFill>
            <a:prstDash val="solid"/>
          </a:ln>
        </p:spPr>
      </p:sp>
      <p:sp>
        <p:nvSpPr>
          <p:cNvPr id="20" name="Shape 18"/>
          <p:cNvSpPr/>
          <p:nvPr/>
        </p:nvSpPr>
        <p:spPr>
          <a:xfrm>
            <a:off x="8092440" y="1938528"/>
            <a:ext cx="45720" cy="1709928"/>
          </a:xfrm>
          <a:prstGeom prst="rect">
            <a:avLst/>
          </a:prstGeom>
          <a:solidFill>
            <a:srgbClr val="087E80"/>
          </a:solidFill>
          <a:ln w="7620">
            <a:solidFill>
              <a:srgbClr val="087E80"/>
            </a:solidFill>
            <a:prstDash val="solid"/>
          </a:ln>
        </p:spPr>
      </p:sp>
      <p:sp>
        <p:nvSpPr>
          <p:cNvPr id="21" name="Text 19"/>
          <p:cNvSpPr/>
          <p:nvPr/>
        </p:nvSpPr>
        <p:spPr>
          <a:xfrm>
            <a:off x="8293608" y="2103120"/>
            <a:ext cx="3154680" cy="365760"/>
          </a:xfrm>
          <a:prstGeom prst="rect">
            <a:avLst/>
          </a:prstGeom>
          <a:noFill/>
          <a:ln/>
        </p:spPr>
        <p:txBody>
          <a:bodyPr wrap="square" lIns="0" tIns="0" rIns="0" bIns="0" rtlCol="0" anchor="ctr">
            <a:normAutofit/>
          </a:bodyPr>
          <a:lstStyle/>
          <a:p>
            <a:pPr indent="0" marL="0">
              <a:buNone/>
            </a:pPr>
            <a:r>
              <a:rPr lang="en-US" altLang="en-US" sz="1900" b="1" dirty="0">
                <a:solidFill>
                  <a:srgbClr val="087E80"/>
                </a:solidFill>
                <a:latin typeface="Arial" pitchFamily="34" charset="0"/>
                <a:ea typeface="Arial" pitchFamily="34" charset="-122"/>
                <a:cs typeface="Arial" pitchFamily="34" charset="-120"/>
              </a:rPr>
              <a:t>03  Retrieve &amp; Trace</a:t>
            </a:r>
            <a:endParaRPr lang="en-US" sz="1900" dirty="0"/>
          </a:p>
        </p:txBody>
      </p:sp>
      <p:sp>
        <p:nvSpPr>
          <p:cNvPr id="22" name="Text 20"/>
          <p:cNvSpPr/>
          <p:nvPr/>
        </p:nvSpPr>
        <p:spPr>
          <a:xfrm>
            <a:off x="8293608" y="2651760"/>
            <a:ext cx="3154680" cy="832104"/>
          </a:xfrm>
          <a:prstGeom prst="rect">
            <a:avLst/>
          </a:prstGeom>
          <a:noFill/>
          <a:ln/>
        </p:spPr>
        <p:txBody>
          <a:bodyPr wrap="square" lIns="0" tIns="0" rIns="0" bIns="0" rtlCol="0" anchor="t">
            <a:normAutofit/>
          </a:bodyPr>
          <a:lstStyle/>
          <a:p>
            <a:pPr indent="0" marL="0">
              <a:buNone/>
            </a:pPr>
            <a:r>
              <a:rPr lang="en-US" altLang="en-US" sz="1400" dirty="0">
                <a:solidFill>
                  <a:srgbClr val="203038"/>
                </a:solidFill>
                <a:latin typeface="Arial" pitchFamily="34" charset="0"/>
                <a:ea typeface="Arial" pitchFamily="34" charset="-122"/>
                <a:cs typeface="Arial" pitchFamily="34" charset="-120"/>
              </a:rPr>
              <a:t>Query embeddings + cosine ranking</a:t>
            </a:r>
            <a:endParaRPr lang="en-US" sz="1400" dirty="0"/>
          </a:p>
          <a:p>
            <a:pPr indent="0" marL="0">
              <a:buNone/>
            </a:pPr>
            <a:r>
              <a:rPr lang="en-US" altLang="en-US" sz="1400" dirty="0">
                <a:solidFill>
                  <a:srgbClr val="203038"/>
                </a:solidFill>
                <a:latin typeface="Arial" pitchFamily="34" charset="0"/>
                <a:ea typeface="Arial" pitchFamily="34" charset="-122"/>
                <a:cs typeface="Arial" pitchFamily="34" charset="-120"/>
              </a:rPr>
              <a:t>Document deduplication and term filters</a:t>
            </a:r>
            <a:endParaRPr lang="en-US" sz="1400" dirty="0"/>
          </a:p>
          <a:p>
            <a:pPr indent="0" marL="0">
              <a:buNone/>
            </a:pPr>
            <a:r>
              <a:rPr lang="en-US" altLang="en-US" sz="1400" dirty="0">
                <a:solidFill>
                  <a:srgbClr val="203038"/>
                </a:solidFill>
                <a:latin typeface="Arial" pitchFamily="34" charset="0"/>
                <a:ea typeface="Arial" pitchFamily="34" charset="-122"/>
                <a:cs typeface="Arial" pitchFamily="34" charset="-120"/>
              </a:rPr>
              <a:t>Page references and source links</a:t>
            </a:r>
            <a:endParaRPr lang="en-US" sz="1400" dirty="0"/>
          </a:p>
        </p:txBody>
      </p:sp>
      <p:sp>
        <p:nvSpPr>
          <p:cNvPr id="23" name="Shape 21"/>
          <p:cNvSpPr/>
          <p:nvPr/>
        </p:nvSpPr>
        <p:spPr>
          <a:xfrm>
            <a:off x="502920" y="3858768"/>
            <a:ext cx="11155680" cy="484632"/>
          </a:xfrm>
          <a:prstGeom prst="rect">
            <a:avLst/>
          </a:prstGeom>
          <a:solidFill>
            <a:srgbClr val="203038"/>
          </a:solidFill>
          <a:ln w="7620">
            <a:solidFill>
              <a:srgbClr val="203038"/>
            </a:solidFill>
            <a:prstDash val="solid"/>
          </a:ln>
        </p:spPr>
      </p:sp>
      <p:sp>
        <p:nvSpPr>
          <p:cNvPr id="24" name="Text 22"/>
          <p:cNvSpPr/>
          <p:nvPr/>
        </p:nvSpPr>
        <p:spPr>
          <a:xfrm>
            <a:off x="713232" y="3858768"/>
            <a:ext cx="10716768" cy="484632"/>
          </a:xfrm>
          <a:prstGeom prst="rect">
            <a:avLst/>
          </a:prstGeom>
          <a:noFill/>
          <a:ln/>
        </p:spPr>
        <p:txBody>
          <a:bodyPr wrap="square" lIns="0" tIns="0" rIns="0" bIns="0" rtlCol="0" anchor="ctr">
            <a:normAutofit/>
          </a:bodyPr>
          <a:lstStyle/>
          <a:p>
            <a:pPr algn="ctr" indent="0" marL="0">
              <a:buNone/>
            </a:pPr>
            <a:r>
              <a:rPr lang="en-US" altLang="en-US" sz="1800" b="1" dirty="0">
                <a:solidFill>
                  <a:srgbClr val="FFFFFF"/>
                </a:solidFill>
                <a:latin typeface="Arial" pitchFamily="34" charset="0"/>
                <a:ea typeface="Arial" pitchFamily="34" charset="-122"/>
                <a:cs typeface="Arial" pitchFamily="34" charset="-120"/>
              </a:rPr>
              <a:t>Similar Records  &gt;  Up to 5 synthetic cases  +  2 Related Guidance excerpts</a:t>
            </a:r>
            <a:endParaRPr lang="en-US" sz="1800" dirty="0"/>
          </a:p>
        </p:txBody>
      </p:sp>
      <p:sp>
        <p:nvSpPr>
          <p:cNvPr id="25" name="Text 23"/>
          <p:cNvSpPr/>
          <p:nvPr/>
        </p:nvSpPr>
        <p:spPr>
          <a:xfrm>
            <a:off x="548640" y="4590288"/>
            <a:ext cx="3383280" cy="566928"/>
          </a:xfrm>
          <a:prstGeom prst="rect">
            <a:avLst/>
          </a:prstGeom>
          <a:noFill/>
          <a:ln/>
        </p:spPr>
        <p:txBody>
          <a:bodyPr wrap="square" lIns="0" tIns="0" rIns="0" bIns="0" rtlCol="0" anchor="ctr">
            <a:normAutofit/>
          </a:bodyPr>
          <a:lstStyle/>
          <a:p>
            <a:pPr indent="0" marL="0">
              <a:buNone/>
            </a:pPr>
            <a:r>
              <a:rPr lang="en-US" altLang="en-US" sz="3300" b="1" dirty="0">
                <a:solidFill>
                  <a:srgbClr val="087E80"/>
                </a:solidFill>
                <a:latin typeface="Arial" pitchFamily="34" charset="0"/>
                <a:ea typeface="Arial" pitchFamily="34" charset="-122"/>
                <a:cs typeface="Arial" pitchFamily="34" charset="-120"/>
              </a:rPr>
              <a:t>17 / 848</a:t>
            </a:r>
            <a:endParaRPr lang="en-US" sz="3300" dirty="0"/>
          </a:p>
        </p:txBody>
      </p:sp>
      <p:sp>
        <p:nvSpPr>
          <p:cNvPr id="26" name="Text 24"/>
          <p:cNvSpPr/>
          <p:nvPr/>
        </p:nvSpPr>
        <p:spPr>
          <a:xfrm>
            <a:off x="548640" y="5230368"/>
            <a:ext cx="338328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Indexed documents / chunks</a:t>
            </a:r>
            <a:endParaRPr lang="en-US" sz="1400" dirty="0"/>
          </a:p>
        </p:txBody>
      </p:sp>
      <p:sp>
        <p:nvSpPr>
          <p:cNvPr id="27" name="Text 25"/>
          <p:cNvSpPr/>
          <p:nvPr/>
        </p:nvSpPr>
        <p:spPr>
          <a:xfrm>
            <a:off x="548640" y="5687568"/>
            <a:ext cx="3429000" cy="457200"/>
          </a:xfrm>
          <a:prstGeom prst="rect">
            <a:avLst/>
          </a:prstGeom>
          <a:noFill/>
          <a:ln/>
        </p:spPr>
        <p:txBody>
          <a:bodyPr wrap="square" lIns="0" tIns="0" rIns="0" bIns="0" rtlCol="0" anchor="t">
            <a:normAutofit/>
          </a:bodyPr>
          <a:lstStyle/>
          <a:p>
            <a:pPr indent="0" marL="0">
              <a:buNone/>
            </a:pPr>
            <a:r>
              <a:rPr lang="en-US" altLang="en-US" sz="1200" dirty="0">
                <a:solidFill>
                  <a:srgbClr val="62727A"/>
                </a:solidFill>
                <a:latin typeface="Arial" pitchFamily="34" charset="0"/>
                <a:ea typeface="Arial" pitchFamily="34" charset="-122"/>
                <a:cs typeface="Arial" pitchFamily="34" charset="-120"/>
              </a:rPr>
              <a:t>3 project documents + 6 guidance documents</a:t>
            </a:r>
            <a:endParaRPr lang="en-US" sz="1200" dirty="0"/>
          </a:p>
          <a:p>
            <a:pPr indent="0" marL="0">
              <a:buNone/>
            </a:pPr>
            <a:r>
              <a:rPr lang="en-US" altLang="en-US" sz="1200" dirty="0">
                <a:solidFill>
                  <a:srgbClr val="62727A"/>
                </a:solidFill>
                <a:latin typeface="Arial" pitchFamily="34" charset="0"/>
                <a:ea typeface="Arial" pitchFamily="34" charset="-122"/>
                <a:cs typeface="Arial" pitchFamily="34" charset="-120"/>
              </a:rPr>
              <a:t>8 Synthea older-adult synthetic records</a:t>
            </a:r>
            <a:endParaRPr lang="en-US" sz="1200" dirty="0"/>
          </a:p>
        </p:txBody>
      </p:sp>
      <p:sp>
        <p:nvSpPr>
          <p:cNvPr id="28" name="Text 26"/>
          <p:cNvSpPr/>
          <p:nvPr/>
        </p:nvSpPr>
        <p:spPr>
          <a:xfrm>
            <a:off x="4160520" y="4590288"/>
            <a:ext cx="3246120" cy="301752"/>
          </a:xfrm>
          <a:prstGeom prst="rect">
            <a:avLst/>
          </a:prstGeom>
          <a:noFill/>
          <a:ln/>
        </p:spPr>
        <p:txBody>
          <a:bodyPr wrap="square" lIns="0" tIns="0" rIns="0" bIns="0" rtlCol="0" anchor="ctr">
            <a:normAutofit/>
          </a:bodyPr>
          <a:lstStyle/>
          <a:p>
            <a:pPr indent="0" marL="0">
              <a:buNone/>
            </a:pPr>
            <a:r>
              <a:rPr lang="en-US" altLang="en-US" sz="1800" b="1" dirty="0">
                <a:solidFill>
                  <a:srgbClr val="087E80"/>
                </a:solidFill>
                <a:latin typeface="Arial" pitchFamily="34" charset="0"/>
                <a:ea typeface="Arial" pitchFamily="34" charset="-122"/>
                <a:cs typeface="Arial" pitchFamily="34" charset="-120"/>
              </a:rPr>
              <a:t>Source Coverage</a:t>
            </a:r>
            <a:endParaRPr lang="en-US" sz="1800" dirty="0"/>
          </a:p>
        </p:txBody>
      </p:sp>
      <p:sp>
        <p:nvSpPr>
          <p:cNvPr id="29" name="Text 27"/>
          <p:cNvSpPr/>
          <p:nvPr/>
        </p:nvSpPr>
        <p:spPr>
          <a:xfrm>
            <a:off x="4160520" y="5047488"/>
            <a:ext cx="3392424" cy="950976"/>
          </a:xfrm>
          <a:prstGeom prst="rect">
            <a:avLst/>
          </a:prstGeom>
          <a:noFill/>
          <a:ln/>
        </p:spPr>
        <p:txBody>
          <a:bodyPr wrap="square" lIns="0" tIns="0" rIns="0" bIns="0" rtlCol="0" anchor="t">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China NHC: diet and follow-up</a:t>
            </a:r>
            <a:endParaRPr lang="en-US" sz="1400" dirty="0"/>
          </a:p>
          <a:p>
            <a:pPr indent="0" marL="0">
              <a:buNone/>
            </a:pPr>
            <a:r>
              <a:rPr lang="en-US" altLang="en-US" sz="1400" dirty="0">
                <a:solidFill>
                  <a:srgbClr val="62727A"/>
                </a:solidFill>
                <a:latin typeface="Arial" pitchFamily="34" charset="0"/>
                <a:ea typeface="Arial" pitchFamily="34" charset="-122"/>
                <a:cs typeface="Arial" pitchFamily="34" charset="-120"/>
              </a:rPr>
              <a:t>WHO: hypertension and older-adult care</a:t>
            </a:r>
            <a:endParaRPr lang="en-US" sz="1400" dirty="0"/>
          </a:p>
          <a:p>
            <a:pPr indent="0" marL="0">
              <a:buNone/>
            </a:pPr>
            <a:r>
              <a:rPr lang="en-US" altLang="en-US" sz="1400" dirty="0">
                <a:solidFill>
                  <a:srgbClr val="62727A"/>
                </a:solidFill>
                <a:latin typeface="Arial" pitchFamily="34" charset="0"/>
                <a:ea typeface="Arial" pitchFamily="34" charset="-122"/>
                <a:cs typeface="Arial" pitchFamily="34" charset="-120"/>
              </a:rPr>
              <a:t>CDC STEADI: fall prevention</a:t>
            </a:r>
            <a:endParaRPr lang="en-US" sz="1400" dirty="0"/>
          </a:p>
        </p:txBody>
      </p:sp>
      <p:sp>
        <p:nvSpPr>
          <p:cNvPr id="30" name="Text 28"/>
          <p:cNvSpPr/>
          <p:nvPr/>
        </p:nvSpPr>
        <p:spPr>
          <a:xfrm>
            <a:off x="8028432" y="4590288"/>
            <a:ext cx="3291840" cy="301752"/>
          </a:xfrm>
          <a:prstGeom prst="rect">
            <a:avLst/>
          </a:prstGeom>
          <a:noFill/>
          <a:ln/>
        </p:spPr>
        <p:txBody>
          <a:bodyPr wrap="square" lIns="0" tIns="0" rIns="0" bIns="0" rtlCol="0" anchor="ctr">
            <a:normAutofit/>
          </a:bodyPr>
          <a:lstStyle/>
          <a:p>
            <a:pPr indent="0" marL="0">
              <a:buNone/>
            </a:pPr>
            <a:r>
              <a:rPr lang="en-US" altLang="en-US" sz="1800" b="1" dirty="0">
                <a:solidFill>
                  <a:srgbClr val="487B9C"/>
                </a:solidFill>
                <a:latin typeface="Arial" pitchFamily="34" charset="0"/>
                <a:ea typeface="Arial" pitchFamily="34" charset="-122"/>
                <a:cs typeface="Arial" pitchFamily="34" charset="-120"/>
              </a:rPr>
              <a:t>Reliability Controls</a:t>
            </a:r>
            <a:endParaRPr lang="en-US" sz="1800" dirty="0"/>
          </a:p>
        </p:txBody>
      </p:sp>
      <p:sp>
        <p:nvSpPr>
          <p:cNvPr id="31" name="Text 29"/>
          <p:cNvSpPr/>
          <p:nvPr/>
        </p:nvSpPr>
        <p:spPr>
          <a:xfrm>
            <a:off x="8028432" y="5047488"/>
            <a:ext cx="3429000" cy="950976"/>
          </a:xfrm>
          <a:prstGeom prst="rect">
            <a:avLst/>
          </a:prstGeom>
          <a:noFill/>
          <a:ln/>
        </p:spPr>
        <p:txBody>
          <a:bodyPr wrap="square" lIns="0" tIns="0" rIns="0" bIns="0" rtlCol="0" anchor="t">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Ingestion checkpoints and recovery</a:t>
            </a:r>
            <a:endParaRPr lang="en-US" sz="1400" dirty="0"/>
          </a:p>
          <a:p>
            <a:pPr indent="0" marL="0">
              <a:buNone/>
            </a:pPr>
            <a:r>
              <a:rPr lang="en-US" altLang="en-US" sz="1400" dirty="0">
                <a:solidFill>
                  <a:srgbClr val="62727A"/>
                </a:solidFill>
                <a:latin typeface="Arial" pitchFamily="34" charset="0"/>
                <a:ea typeface="Arial" pitchFamily="34" charset="-122"/>
                <a:cs typeface="Arial" pitchFamily="34" charset="-120"/>
              </a:rPr>
              <a:t>Chinese/English search; patient isolation</a:t>
            </a:r>
            <a:endParaRPr lang="en-US" sz="1400" dirty="0"/>
          </a:p>
          <a:p>
            <a:pPr indent="0" marL="0">
              <a:buNone/>
            </a:pPr>
            <a:r>
              <a:rPr lang="en-US" altLang="en-US" sz="1400" dirty="0">
                <a:solidFill>
                  <a:srgbClr val="62727A"/>
                </a:solidFill>
                <a:latin typeface="Arial" pitchFamily="34" charset="0"/>
                <a:ea typeface="Arial" pitchFamily="34" charset="-122"/>
                <a:cs typeface="Arial" pitchFamily="34" charset="-120"/>
              </a:rPr>
              <a:t>Publisher, page, version and license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altLang="en-US" sz="1100" b="1" dirty="0">
                <a:solidFill>
                  <a:srgbClr val="087E80"/>
                </a:solidFill>
                <a:latin typeface="Arial" pitchFamily="34" charset="0"/>
                <a:ea typeface="Arial" pitchFamily="34" charset="-122"/>
                <a:cs typeface="Arial" pitchFamily="34" charset="-120"/>
              </a:rPr>
              <a:t>04 / DDINTER &amp; ORDER SAFETY</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altLang="en-US" sz="2800" b="1" dirty="0">
                <a:solidFill>
                  <a:srgbClr val="203038"/>
                </a:solidFill>
                <a:latin typeface="Arial" pitchFamily="34" charset="0"/>
                <a:ea typeface="Arial" pitchFamily="34" charset="-122"/>
                <a:cs typeface="Arial" pitchFamily="34" charset="-120"/>
              </a:rPr>
              <a:t>Structured Drug Knowledge for Repeatable Risk Screening</a:t>
            </a:r>
            <a:endParaRPr lang="en-US" sz="28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Pinned upstream snapshot with SHA-256 checks; pair-level severity and mechanisms are retrieved, not invented by a model.</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altLang="en-US" sz="1000" dirty="0">
                <a:solidFill>
                  <a:srgbClr val="62727A"/>
                </a:solidFill>
                <a:latin typeface="Arial" pitchFamily="34" charset="0"/>
                <a:ea typeface="Arial" pitchFamily="34" charset="-122"/>
                <a:cs typeface="Arial" pitchFamily="34" charset="-120"/>
              </a:rPr>
              <a:t>05 / 06</a:t>
            </a:r>
            <a:endParaRPr lang="en-US" sz="1000" dirty="0"/>
          </a:p>
        </p:txBody>
      </p:sp>
      <p:sp>
        <p:nvSpPr>
          <p:cNvPr id="9" name="Text 7"/>
          <p:cNvSpPr/>
          <p:nvPr/>
        </p:nvSpPr>
        <p:spPr>
          <a:xfrm>
            <a:off x="502920" y="1938528"/>
            <a:ext cx="3291840" cy="566928"/>
          </a:xfrm>
          <a:prstGeom prst="rect">
            <a:avLst/>
          </a:prstGeom>
          <a:noFill/>
          <a:ln/>
        </p:spPr>
        <p:txBody>
          <a:bodyPr wrap="square" lIns="0" tIns="0" rIns="0" bIns="0" rtlCol="0" anchor="ctr">
            <a:normAutofit/>
          </a:bodyPr>
          <a:lstStyle/>
          <a:p>
            <a:pPr indent="0" marL="0">
              <a:buNone/>
            </a:pPr>
            <a:r>
              <a:rPr lang="en-US" altLang="en-US" sz="3300" b="1" dirty="0">
                <a:solidFill>
                  <a:srgbClr val="087E80"/>
                </a:solidFill>
                <a:latin typeface="Arial" pitchFamily="34" charset="0"/>
                <a:ea typeface="Arial" pitchFamily="34" charset="-122"/>
                <a:cs typeface="Arial" pitchFamily="34" charset="-120"/>
              </a:rPr>
              <a:t>2,283</a:t>
            </a:r>
            <a:endParaRPr lang="en-US" sz="3300" dirty="0"/>
          </a:p>
        </p:txBody>
      </p:sp>
      <p:sp>
        <p:nvSpPr>
          <p:cNvPr id="10" name="Text 8"/>
          <p:cNvSpPr/>
          <p:nvPr/>
        </p:nvSpPr>
        <p:spPr>
          <a:xfrm>
            <a:off x="502920" y="2578608"/>
            <a:ext cx="329184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Drug records</a:t>
            </a:r>
            <a:endParaRPr lang="en-US" sz="1400" dirty="0"/>
          </a:p>
        </p:txBody>
      </p:sp>
      <p:sp>
        <p:nvSpPr>
          <p:cNvPr id="11" name="Text 9"/>
          <p:cNvSpPr/>
          <p:nvPr/>
        </p:nvSpPr>
        <p:spPr>
          <a:xfrm>
            <a:off x="4251960" y="1938528"/>
            <a:ext cx="3429000" cy="566928"/>
          </a:xfrm>
          <a:prstGeom prst="rect">
            <a:avLst/>
          </a:prstGeom>
          <a:noFill/>
          <a:ln/>
        </p:spPr>
        <p:txBody>
          <a:bodyPr wrap="square" lIns="0" tIns="0" rIns="0" bIns="0" rtlCol="0" anchor="ctr">
            <a:normAutofit/>
          </a:bodyPr>
          <a:lstStyle/>
          <a:p>
            <a:pPr indent="0" marL="0">
              <a:buNone/>
            </a:pPr>
            <a:r>
              <a:rPr lang="en-US" altLang="en-US" sz="3300" b="1" dirty="0">
                <a:solidFill>
                  <a:srgbClr val="487B9C"/>
                </a:solidFill>
                <a:latin typeface="Arial" pitchFamily="34" charset="0"/>
                <a:ea typeface="Arial" pitchFamily="34" charset="-122"/>
                <a:cs typeface="Arial" pitchFamily="34" charset="-120"/>
              </a:rPr>
              <a:t>295,184</a:t>
            </a:r>
            <a:endParaRPr lang="en-US" sz="3300" dirty="0"/>
          </a:p>
        </p:txBody>
      </p:sp>
      <p:sp>
        <p:nvSpPr>
          <p:cNvPr id="12" name="Text 10"/>
          <p:cNvSpPr/>
          <p:nvPr/>
        </p:nvSpPr>
        <p:spPr>
          <a:xfrm>
            <a:off x="4251960" y="2578608"/>
            <a:ext cx="342900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Unique interaction pairs</a:t>
            </a:r>
            <a:endParaRPr lang="en-US" sz="1400" dirty="0"/>
          </a:p>
        </p:txBody>
      </p:sp>
      <p:sp>
        <p:nvSpPr>
          <p:cNvPr id="13" name="Text 11"/>
          <p:cNvSpPr/>
          <p:nvPr/>
        </p:nvSpPr>
        <p:spPr>
          <a:xfrm>
            <a:off x="8257032" y="1938528"/>
            <a:ext cx="3291840" cy="566928"/>
          </a:xfrm>
          <a:prstGeom prst="rect">
            <a:avLst/>
          </a:prstGeom>
          <a:noFill/>
          <a:ln/>
        </p:spPr>
        <p:txBody>
          <a:bodyPr wrap="square" lIns="0" tIns="0" rIns="0" bIns="0" rtlCol="0" anchor="ctr">
            <a:normAutofit/>
          </a:bodyPr>
          <a:lstStyle/>
          <a:p>
            <a:pPr indent="0" marL="0">
              <a:buNone/>
            </a:pPr>
            <a:r>
              <a:rPr lang="en-US" altLang="en-US" sz="3300" b="1" dirty="0">
                <a:solidFill>
                  <a:srgbClr val="B17A12"/>
                </a:solidFill>
                <a:latin typeface="Arial" pitchFamily="34" charset="0"/>
                <a:ea typeface="Arial" pitchFamily="34" charset="-122"/>
                <a:cs typeface="Arial" pitchFamily="34" charset="-120"/>
              </a:rPr>
              <a:t>8,234</a:t>
            </a:r>
            <a:endParaRPr lang="en-US" sz="3300" dirty="0"/>
          </a:p>
        </p:txBody>
      </p:sp>
      <p:sp>
        <p:nvSpPr>
          <p:cNvPr id="14" name="Text 12"/>
          <p:cNvSpPr/>
          <p:nvPr/>
        </p:nvSpPr>
        <p:spPr>
          <a:xfrm>
            <a:off x="8257032" y="2578608"/>
            <a:ext cx="329184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Mechanism entries</a:t>
            </a:r>
            <a:endParaRPr lang="en-US" sz="1400" dirty="0"/>
          </a:p>
        </p:txBody>
      </p:sp>
      <p:graphicFrame>
        <p:nvGraphicFramePr>
          <p:cNvPr id="15" name="Chart 0" descr=""/>
          <p:cNvGraphicFramePr/>
          <p:nvPr/>
        </p:nvGraphicFramePr>
        <p:xfrm>
          <a:off x="502920" y="3246120"/>
          <a:ext cx="5696712" cy="2249424"/>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6501384" y="3346704"/>
            <a:ext cx="4892040" cy="338328"/>
          </a:xfrm>
          <a:prstGeom prst="rect">
            <a:avLst/>
          </a:prstGeom>
          <a:noFill/>
          <a:ln/>
        </p:spPr>
        <p:txBody>
          <a:bodyPr wrap="square" lIns="0" tIns="0" rIns="0" bIns="0" rtlCol="0" anchor="ctr">
            <a:normAutofit/>
          </a:bodyPr>
          <a:lstStyle/>
          <a:p>
            <a:pPr indent="0" marL="0">
              <a:buNone/>
            </a:pPr>
            <a:r>
              <a:rPr lang="en-US" altLang="en-US" sz="1900" b="1" dirty="0">
                <a:solidFill>
                  <a:srgbClr val="087E80"/>
                </a:solidFill>
                <a:latin typeface="Arial" pitchFamily="34" charset="0"/>
                <a:ea typeface="Arial" pitchFamily="34" charset="-122"/>
                <a:cs typeface="Arial" pitchFamily="34" charset="-120"/>
              </a:rPr>
              <a:t>Implemented Checks</a:t>
            </a:r>
            <a:endParaRPr lang="en-US" sz="1900" dirty="0"/>
          </a:p>
        </p:txBody>
      </p:sp>
      <p:sp>
        <p:nvSpPr>
          <p:cNvPr id="17" name="Text 14"/>
          <p:cNvSpPr/>
          <p:nvPr/>
        </p:nvSpPr>
        <p:spPr>
          <a:xfrm>
            <a:off x="6501384" y="3867912"/>
            <a:ext cx="4892040" cy="722376"/>
          </a:xfrm>
          <a:prstGeom prst="rect">
            <a:avLst/>
          </a:prstGeom>
          <a:noFill/>
          <a:ln/>
        </p:spPr>
        <p:txBody>
          <a:bodyPr wrap="square" lIns="0" tIns="0" rIns="0" bIns="0" rtlCol="0" anchor="ctr">
            <a:normAutofit/>
          </a:bodyPr>
          <a:lstStyle/>
          <a:p>
            <a:pPr indent="0" marL="0">
              <a:buNone/>
            </a:pPr>
            <a:r>
              <a:rPr lang="en-US" altLang="en-US" sz="1500" dirty="0">
                <a:solidFill>
                  <a:srgbClr val="203038"/>
                </a:solidFill>
                <a:latin typeface="Arial" pitchFamily="34" charset="0"/>
                <a:ea typeface="Arial" pitchFamily="34" charset="-122"/>
                <a:cs typeface="Arial" pitchFamily="34" charset="-120"/>
              </a:rPr>
              <a:t>Ingredient parsing &gt; Allergy rules &gt; DDInter lookup</a:t>
            </a:r>
            <a:endParaRPr lang="en-US" sz="1500" dirty="0"/>
          </a:p>
          <a:p>
            <a:pPr indent="0" marL="0">
              <a:buNone/>
            </a:pPr>
            <a:r>
              <a:rPr lang="en-US" altLang="en-US" sz="1500" dirty="0">
                <a:solidFill>
                  <a:srgbClr val="203038"/>
                </a:solidFill>
                <a:latin typeface="Arial" pitchFamily="34" charset="0"/>
                <a:ea typeface="Arial" pitchFamily="34" charset="-122"/>
                <a:cs typeface="Arial" pitchFamily="34" charset="-120"/>
              </a:rPr>
              <a:t>Confirm current medications; retain unknowns as gaps</a:t>
            </a:r>
            <a:endParaRPr lang="en-US" sz="1500" dirty="0"/>
          </a:p>
        </p:txBody>
      </p:sp>
      <p:sp>
        <p:nvSpPr>
          <p:cNvPr id="18" name="Text 15"/>
          <p:cNvSpPr/>
          <p:nvPr/>
        </p:nvSpPr>
        <p:spPr>
          <a:xfrm>
            <a:off x="6501384" y="4764024"/>
            <a:ext cx="4892040" cy="301752"/>
          </a:xfrm>
          <a:prstGeom prst="rect">
            <a:avLst/>
          </a:prstGeom>
          <a:noFill/>
          <a:ln/>
        </p:spPr>
        <p:txBody>
          <a:bodyPr wrap="square" lIns="0" tIns="0" rIns="0" bIns="0" rtlCol="0" anchor="ctr">
            <a:normAutofit/>
          </a:bodyPr>
          <a:lstStyle/>
          <a:p>
            <a:pPr indent="0" marL="0">
              <a:buNone/>
            </a:pPr>
            <a:r>
              <a:rPr lang="en-US" altLang="en-US" sz="1800" b="1" dirty="0">
                <a:solidFill>
                  <a:srgbClr val="B17A12"/>
                </a:solidFill>
                <a:latin typeface="Arial" pitchFamily="34" charset="0"/>
                <a:ea typeface="Arial" pitchFamily="34" charset="-122"/>
                <a:cs typeface="Arial" pitchFamily="34" charset="-120"/>
              </a:rPr>
              <a:t>Example Alerts</a:t>
            </a:r>
            <a:endParaRPr lang="en-US" sz="1800" dirty="0"/>
          </a:p>
        </p:txBody>
      </p:sp>
      <p:sp>
        <p:nvSpPr>
          <p:cNvPr id="19" name="Text 16"/>
          <p:cNvSpPr/>
          <p:nvPr/>
        </p:nvSpPr>
        <p:spPr>
          <a:xfrm>
            <a:off x="6501384" y="5166360"/>
            <a:ext cx="4956048" cy="685800"/>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Penicillin allergy + Amoxicillin: preliminary allergy alert</a:t>
            </a:r>
            <a:endParaRPr lang="en-US" sz="1400" dirty="0"/>
          </a:p>
          <a:p>
            <a:pPr indent="0" marL="0">
              <a:buNone/>
            </a:pPr>
            <a:r>
              <a:rPr lang="en-US" altLang="en-US" sz="1400" dirty="0">
                <a:solidFill>
                  <a:srgbClr val="62727A"/>
                </a:solidFill>
                <a:latin typeface="Arial" pitchFamily="34" charset="0"/>
                <a:ea typeface="Arial" pitchFamily="34" charset="-122"/>
                <a:cs typeface="Arial" pitchFamily="34" charset="-120"/>
              </a:rPr>
              <a:t>Metoprolol + Verapamil: Major interaction</a:t>
            </a:r>
            <a:endParaRPr lang="en-US" sz="1400" dirty="0"/>
          </a:p>
        </p:txBody>
      </p:sp>
      <p:sp>
        <p:nvSpPr>
          <p:cNvPr id="20" name="Shape 17"/>
          <p:cNvSpPr/>
          <p:nvPr/>
        </p:nvSpPr>
        <p:spPr>
          <a:xfrm>
            <a:off x="502920" y="5952744"/>
            <a:ext cx="11155680" cy="310896"/>
          </a:xfrm>
          <a:prstGeom prst="rect">
            <a:avLst/>
          </a:prstGeom>
          <a:solidFill>
            <a:srgbClr val="FFF4DD"/>
          </a:solidFill>
          <a:ln w="7620">
            <a:solidFill>
              <a:srgbClr val="FFF4DD"/>
            </a:solidFill>
            <a:prstDash val="solid"/>
          </a:ln>
        </p:spPr>
      </p:sp>
      <p:sp>
        <p:nvSpPr>
          <p:cNvPr id="21" name="Text 18"/>
          <p:cNvSpPr/>
          <p:nvPr/>
        </p:nvSpPr>
        <p:spPr>
          <a:xfrm>
            <a:off x="667512" y="5952744"/>
            <a:ext cx="10826496" cy="310896"/>
          </a:xfrm>
          <a:prstGeom prst="rect">
            <a:avLst/>
          </a:prstGeom>
          <a:noFill/>
          <a:ln/>
        </p:spPr>
        <p:txBody>
          <a:bodyPr wrap="square" lIns="0" tIns="0" rIns="0" bIns="0" rtlCol="0" anchor="ctr">
            <a:normAutofit/>
          </a:bodyPr>
          <a:lstStyle/>
          <a:p>
            <a:pPr indent="0" marL="0">
              <a:buNone/>
            </a:pPr>
            <a:r>
              <a:rPr lang="en-US" altLang="en-US" sz="1200" dirty="0">
                <a:solidFill>
                  <a:srgbClr val="B17A12"/>
                </a:solidFill>
                <a:latin typeface="Arial" pitchFamily="34" charset="0"/>
                <a:ea typeface="Arial" pitchFamily="34" charset="-122"/>
                <a:cs typeface="Arial" pitchFamily="34" charset="-120"/>
              </a:rPr>
              <a:t>Gaps: full cross-allergy, product-specific eGFR dosing and Beers criteria. Major does not automatically mean contraindicated.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altLang="en-US" sz="1100" b="1" dirty="0">
                <a:solidFill>
                  <a:srgbClr val="087E80"/>
                </a:solidFill>
                <a:latin typeface="Arial" pitchFamily="34" charset="0"/>
                <a:ea typeface="Arial" pitchFamily="34" charset="-122"/>
                <a:cs typeface="Arial" pitchFamily="34" charset="-120"/>
              </a:rPr>
              <a:t>05 / EVALUATION &amp; SUMMARY</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altLang="en-US" sz="2800" b="1" dirty="0">
                <a:solidFill>
                  <a:srgbClr val="203038"/>
                </a:solidFill>
                <a:latin typeface="Arial" pitchFamily="34" charset="0"/>
                <a:ea typeface="Arial" pitchFamily="34" charset="-122"/>
                <a:cs typeface="Arial" pitchFamily="34" charset="-120"/>
              </a:rPr>
              <a:t>Measuring Retrieval Quality, Not Clinical Accuracy</a:t>
            </a:r>
            <a:endParaRPr lang="en-US" sz="28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Local run: 28 Sep 2026 | 29 labeled retrieval questions + 1 out-of-scope question | Existing benchmark, not model self-rating</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altLang="en-US" sz="900" dirty="0">
                <a:solidFill>
                  <a:srgbClr val="62727A"/>
                </a:solidFill>
                <a:latin typeface="Arial" pitchFamily="34" charset="0"/>
                <a:ea typeface="Arial" pitchFamily="34" charset="-122"/>
                <a:cs typeface="Arial" pitchFamily="34" charset="-120"/>
              </a:rPr>
              <a:t>Personal Work Report  /  Clinical AI &amp; Knowledge Engineering  /  Non-commercial Course Project</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altLang="en-US" sz="1000" dirty="0">
                <a:solidFill>
                  <a:srgbClr val="62727A"/>
                </a:solidFill>
                <a:latin typeface="Arial" pitchFamily="34" charset="0"/>
                <a:ea typeface="Arial" pitchFamily="34" charset="-122"/>
                <a:cs typeface="Arial" pitchFamily="34" charset="-120"/>
              </a:rPr>
              <a:t>06 / 06</a:t>
            </a:r>
            <a:endParaRPr lang="en-US" sz="1000" dirty="0"/>
          </a:p>
        </p:txBody>
      </p:sp>
      <p:graphicFrame>
        <p:nvGraphicFramePr>
          <p:cNvPr id="9" name="Chart 0" descr=""/>
          <p:cNvGraphicFramePr/>
          <p:nvPr/>
        </p:nvGraphicFramePr>
        <p:xfrm>
          <a:off x="502920" y="2011680"/>
          <a:ext cx="6949440" cy="2907792"/>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7964424" y="2267712"/>
            <a:ext cx="3291840" cy="566928"/>
          </a:xfrm>
          <a:prstGeom prst="rect">
            <a:avLst/>
          </a:prstGeom>
          <a:noFill/>
          <a:ln/>
        </p:spPr>
        <p:txBody>
          <a:bodyPr wrap="square" lIns="0" tIns="0" rIns="0" bIns="0" rtlCol="0" anchor="ctr">
            <a:normAutofit/>
          </a:bodyPr>
          <a:lstStyle/>
          <a:p>
            <a:pPr indent="0" marL="0">
              <a:buNone/>
            </a:pPr>
            <a:r>
              <a:rPr lang="en-US" altLang="en-US" sz="3300" b="1" dirty="0">
                <a:solidFill>
                  <a:srgbClr val="087E80"/>
                </a:solidFill>
                <a:latin typeface="Arial" pitchFamily="34" charset="0"/>
                <a:ea typeface="Arial" pitchFamily="34" charset="-122"/>
                <a:cs typeface="Arial" pitchFamily="34" charset="-120"/>
              </a:rPr>
              <a:t>429 / 815ms</a:t>
            </a:r>
            <a:endParaRPr lang="en-US" sz="3300" dirty="0"/>
          </a:p>
        </p:txBody>
      </p:sp>
      <p:sp>
        <p:nvSpPr>
          <p:cNvPr id="11" name="Text 8"/>
          <p:cNvSpPr/>
          <p:nvPr/>
        </p:nvSpPr>
        <p:spPr>
          <a:xfrm>
            <a:off x="7964424" y="2907792"/>
            <a:ext cx="329184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Observed retrieval P50 / P95</a:t>
            </a:r>
            <a:endParaRPr lang="en-US" sz="1400" dirty="0"/>
          </a:p>
        </p:txBody>
      </p:sp>
      <p:sp>
        <p:nvSpPr>
          <p:cNvPr id="12" name="Text 9"/>
          <p:cNvSpPr/>
          <p:nvPr/>
        </p:nvSpPr>
        <p:spPr>
          <a:xfrm>
            <a:off x="7964424" y="3657600"/>
            <a:ext cx="3291840" cy="566928"/>
          </a:xfrm>
          <a:prstGeom prst="rect">
            <a:avLst/>
          </a:prstGeom>
          <a:noFill/>
          <a:ln/>
        </p:spPr>
        <p:txBody>
          <a:bodyPr wrap="square" lIns="0" tIns="0" rIns="0" bIns="0" rtlCol="0" anchor="ctr">
            <a:normAutofit/>
          </a:bodyPr>
          <a:lstStyle/>
          <a:p>
            <a:pPr indent="0" marL="0">
              <a:buNone/>
            </a:pPr>
            <a:r>
              <a:rPr lang="en-US" altLang="en-US" sz="3300" b="1" dirty="0">
                <a:solidFill>
                  <a:srgbClr val="487B9C"/>
                </a:solidFill>
                <a:latin typeface="Arial" pitchFamily="34" charset="0"/>
                <a:ea typeface="Arial" pitchFamily="34" charset="-122"/>
                <a:cs typeface="Arial" pitchFamily="34" charset="-120"/>
              </a:rPr>
              <a:t>5 / 5</a:t>
            </a:r>
            <a:endParaRPr lang="en-US" sz="3300" dirty="0"/>
          </a:p>
        </p:txBody>
      </p:sp>
      <p:sp>
        <p:nvSpPr>
          <p:cNvPr id="13" name="Text 10"/>
          <p:cNvSpPr/>
          <p:nvPr/>
        </p:nvSpPr>
        <p:spPr>
          <a:xfrm>
            <a:off x="7964424" y="4297680"/>
            <a:ext cx="329184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New-guidance smoke tests passed</a:t>
            </a:r>
            <a:endParaRPr lang="en-US" sz="1400" dirty="0"/>
          </a:p>
        </p:txBody>
      </p:sp>
      <p:sp>
        <p:nvSpPr>
          <p:cNvPr id="14" name="Text 11"/>
          <p:cNvSpPr/>
          <p:nvPr/>
        </p:nvSpPr>
        <p:spPr>
          <a:xfrm>
            <a:off x="539496" y="5065776"/>
            <a:ext cx="11064240" cy="228600"/>
          </a:xfrm>
          <a:prstGeom prst="rect">
            <a:avLst/>
          </a:prstGeom>
          <a:noFill/>
          <a:ln/>
        </p:spPr>
        <p:txBody>
          <a:bodyPr wrap="square" lIns="0" tIns="0" rIns="0" bIns="0" rtlCol="0" anchor="ctr">
            <a:normAutofit/>
          </a:bodyPr>
          <a:lstStyle/>
          <a:p>
            <a:pPr indent="0" marL="0">
              <a:buNone/>
            </a:pPr>
            <a:r>
              <a:rPr lang="en-US" altLang="en-US" sz="1200" dirty="0">
                <a:solidFill>
                  <a:srgbClr val="62727A"/>
                </a:solidFill>
                <a:latin typeface="Arial" pitchFamily="34" charset="0"/>
                <a:ea typeface="Arial" pitchFamily="34" charset="-122"/>
                <a:cs typeface="Arial" pitchFamily="34" charset="-120"/>
              </a:rPr>
              <a:t>69 backend tests passed. New-topic tests verify source hits only, not clinical correctness.</a:t>
            </a:r>
            <a:endParaRPr lang="en-US" sz="1200" dirty="0"/>
          </a:p>
        </p:txBody>
      </p:sp>
      <p:sp>
        <p:nvSpPr>
          <p:cNvPr id="15" name="Shape 12"/>
          <p:cNvSpPr/>
          <p:nvPr/>
        </p:nvSpPr>
        <p:spPr>
          <a:xfrm>
            <a:off x="502920" y="5404104"/>
            <a:ext cx="11155680" cy="0"/>
          </a:xfrm>
          <a:prstGeom prst="line">
            <a:avLst/>
          </a:prstGeom>
          <a:noFill/>
          <a:ln w="12700">
            <a:solidFill>
              <a:srgbClr val="DDE5E8"/>
            </a:solidFill>
            <a:prstDash val="solid"/>
          </a:ln>
        </p:spPr>
      </p:sp>
      <p:sp>
        <p:nvSpPr>
          <p:cNvPr id="16" name="Text 13"/>
          <p:cNvSpPr/>
          <p:nvPr/>
        </p:nvSpPr>
        <p:spPr>
          <a:xfrm>
            <a:off x="539496" y="5596128"/>
            <a:ext cx="1371600" cy="274320"/>
          </a:xfrm>
          <a:prstGeom prst="rect">
            <a:avLst/>
          </a:prstGeom>
          <a:noFill/>
          <a:ln/>
        </p:spPr>
        <p:txBody>
          <a:bodyPr wrap="square" lIns="0" tIns="0" rIns="0" bIns="0" rtlCol="0" anchor="ctr">
            <a:normAutofit/>
          </a:bodyPr>
          <a:lstStyle/>
          <a:p>
            <a:pPr indent="0" marL="0">
              <a:buNone/>
            </a:pPr>
            <a:r>
              <a:rPr lang="en-US" altLang="en-US" sz="1700" b="1" dirty="0">
                <a:solidFill>
                  <a:srgbClr val="087E80"/>
                </a:solidFill>
                <a:latin typeface="Arial" pitchFamily="34" charset="0"/>
                <a:ea typeface="Arial" pitchFamily="34" charset="-122"/>
                <a:cs typeface="Arial" pitchFamily="34" charset="-120"/>
              </a:rPr>
              <a:t>Delivered</a:t>
            </a:r>
            <a:endParaRPr lang="en-US" sz="1700" dirty="0"/>
          </a:p>
        </p:txBody>
      </p:sp>
      <p:sp>
        <p:nvSpPr>
          <p:cNvPr id="17" name="Text 14"/>
          <p:cNvSpPr/>
          <p:nvPr/>
        </p:nvSpPr>
        <p:spPr>
          <a:xfrm>
            <a:off x="2066544" y="5559552"/>
            <a:ext cx="9235440" cy="347472"/>
          </a:xfrm>
          <a:prstGeom prst="rect">
            <a:avLst/>
          </a:prstGeom>
          <a:noFill/>
          <a:ln/>
        </p:spPr>
        <p:txBody>
          <a:bodyPr wrap="square" lIns="0" tIns="0" rIns="0" bIns="0" rtlCol="0" anchor="ctr">
            <a:normAutofit/>
          </a:bodyPr>
          <a:lstStyle/>
          <a:p>
            <a:pPr indent="0" marL="0">
              <a:buNone/>
            </a:pPr>
            <a:r>
              <a:rPr lang="en-US" altLang="en-US" sz="1700" dirty="0">
                <a:solidFill>
                  <a:srgbClr val="203038"/>
                </a:solidFill>
                <a:latin typeface="Arial" pitchFamily="34" charset="0"/>
                <a:ea typeface="Arial" pitchFamily="34" charset="-122"/>
                <a:cs typeface="Arial" pitchFamily="34" charset="-120"/>
              </a:rPr>
              <a:t>Four support workflows + Traceable retrieval + Local DDInter risk lookup</a:t>
            </a:r>
            <a:endParaRPr lang="en-US" sz="1700" dirty="0"/>
          </a:p>
        </p:txBody>
      </p:sp>
      <p:sp>
        <p:nvSpPr>
          <p:cNvPr id="18" name="Text 15"/>
          <p:cNvSpPr/>
          <p:nvPr/>
        </p:nvSpPr>
        <p:spPr>
          <a:xfrm>
            <a:off x="539496" y="6062472"/>
            <a:ext cx="1371600" cy="274320"/>
          </a:xfrm>
          <a:prstGeom prst="rect">
            <a:avLst/>
          </a:prstGeom>
          <a:noFill/>
          <a:ln/>
        </p:spPr>
        <p:txBody>
          <a:bodyPr wrap="square" lIns="0" tIns="0" rIns="0" bIns="0" rtlCol="0" anchor="ctr">
            <a:normAutofit/>
          </a:bodyPr>
          <a:lstStyle/>
          <a:p>
            <a:pPr indent="0" marL="0">
              <a:buNone/>
            </a:pPr>
            <a:r>
              <a:rPr lang="en-US" altLang="en-US" sz="1700" b="1" dirty="0">
                <a:solidFill>
                  <a:srgbClr val="487B9C"/>
                </a:solidFill>
                <a:latin typeface="Arial" pitchFamily="34" charset="0"/>
                <a:ea typeface="Arial" pitchFamily="34" charset="-122"/>
                <a:cs typeface="Arial" pitchFamily="34" charset="-120"/>
              </a:rPr>
              <a:t>Next Steps</a:t>
            </a:r>
            <a:endParaRPr lang="en-US" sz="1700" dirty="0"/>
          </a:p>
        </p:txBody>
      </p:sp>
      <p:sp>
        <p:nvSpPr>
          <p:cNvPr id="19" name="Text 16"/>
          <p:cNvSpPr/>
          <p:nvPr/>
        </p:nvSpPr>
        <p:spPr>
          <a:xfrm>
            <a:off x="2066544" y="6007608"/>
            <a:ext cx="9235440" cy="384048"/>
          </a:xfrm>
          <a:prstGeom prst="rect">
            <a:avLst/>
          </a:prstGeom>
          <a:noFill/>
          <a:ln/>
        </p:spPr>
        <p:txBody>
          <a:bodyPr wrap="square" lIns="0" tIns="0" rIns="0" bIns="0" rtlCol="0" anchor="ctr">
            <a:normAutofit/>
          </a:bodyPr>
          <a:lstStyle/>
          <a:p>
            <a:pPr indent="0" marL="0">
              <a:buNone/>
            </a:pPr>
            <a:r>
              <a:rPr lang="en-US" altLang="en-US" sz="1400" dirty="0">
                <a:solidFill>
                  <a:srgbClr val="62727A"/>
                </a:solidFill>
                <a:latin typeface="Arial" pitchFamily="34" charset="0"/>
                <a:ea typeface="Arial" pitchFamily="34" charset="-122"/>
                <a:cs typeface="Arial" pitchFamily="34" charset="-120"/>
              </a:rPr>
              <a:t>Expand guideline labels and medication rules. Retrieval scores do not establish prescribing safety.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EnterpriseTeamEngineering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AI Assistant - Personal Work Report</dc:title>
  <dc:subject>Individual contribution, architecture, knowledge retrieval, DDInter and evaluation</dc:subject>
  <dc:creator>Project contributor</dc:creator>
  <cp:lastModifiedBy>Project contributor</cp:lastModifiedBy>
  <cp:revision>1</cp:revision>
  <dcterms:created xsi:type="dcterms:W3CDTF">2026-09-28T11:56:27Z</dcterms:created>
  <dcterms:modified xsi:type="dcterms:W3CDTF">2026-09-28T11:56:27Z</dcterms:modified>
</cp:coreProperties>
</file>